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25" y="26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rgbClr val="0E0E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F0F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rgbClr val="0E0E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F0F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rgbClr val="0E0E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rgbClr val="0E0E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6776" y="268420"/>
            <a:ext cx="14399548" cy="18791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rgbClr val="0E0E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78014" y="4648667"/>
            <a:ext cx="12962890" cy="413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F0F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06-Dec-25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8672" y="3830108"/>
            <a:ext cx="738741" cy="17617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508" y="6000352"/>
            <a:ext cx="3286125" cy="23489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7115" y="6434401"/>
            <a:ext cx="331159" cy="5617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387413" y="5591835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09096" y="3830107"/>
            <a:ext cx="3770629" cy="2604770"/>
          </a:xfrm>
          <a:custGeom>
            <a:avLst/>
            <a:gdLst/>
            <a:ahLst/>
            <a:cxnLst/>
            <a:rect l="l" t="t" r="r" b="b"/>
            <a:pathLst>
              <a:path w="3770629" h="2604770">
                <a:moveTo>
                  <a:pt x="3744654" y="2604292"/>
                </a:moveTo>
                <a:lnTo>
                  <a:pt x="3744654" y="0"/>
                </a:lnTo>
              </a:path>
              <a:path w="3770629" h="2604770">
                <a:moveTo>
                  <a:pt x="0" y="12766"/>
                </a:moveTo>
                <a:lnTo>
                  <a:pt x="3770128" y="12766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32902" y="7289731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275425" y="427996"/>
            <a:ext cx="8903970" cy="952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50" spc="65" dirty="0">
                <a:solidFill>
                  <a:srgbClr val="1A1A18"/>
                </a:solidFill>
              </a:rPr>
              <a:t>The</a:t>
            </a:r>
            <a:r>
              <a:rPr sz="6050" spc="-960" dirty="0">
                <a:solidFill>
                  <a:srgbClr val="1A1A18"/>
                </a:solidFill>
              </a:rPr>
              <a:t> </a:t>
            </a:r>
            <a:r>
              <a:rPr sz="6050" spc="-120" dirty="0">
                <a:solidFill>
                  <a:srgbClr val="1A1A18"/>
                </a:solidFill>
              </a:rPr>
              <a:t>Los</a:t>
            </a:r>
            <a:r>
              <a:rPr sz="6050" spc="-705" dirty="0">
                <a:solidFill>
                  <a:srgbClr val="1A1A18"/>
                </a:solidFill>
              </a:rPr>
              <a:t> </a:t>
            </a:r>
            <a:r>
              <a:rPr sz="6050" spc="-114" dirty="0">
                <a:solidFill>
                  <a:srgbClr val="1A1A18"/>
                </a:solidFill>
              </a:rPr>
              <a:t>Angeles</a:t>
            </a:r>
            <a:r>
              <a:rPr sz="6050" spc="-705" dirty="0">
                <a:solidFill>
                  <a:srgbClr val="1A1A18"/>
                </a:solidFill>
              </a:rPr>
              <a:t> </a:t>
            </a:r>
            <a:r>
              <a:rPr sz="6050" spc="-100" dirty="0">
                <a:solidFill>
                  <a:srgbClr val="1A1A18"/>
                </a:solidFill>
              </a:rPr>
              <a:t>Paradox</a:t>
            </a:r>
            <a:endParaRPr sz="6050"/>
          </a:p>
        </p:txBody>
      </p:sp>
      <p:sp>
        <p:nvSpPr>
          <p:cNvPr id="9" name="object 9"/>
          <p:cNvSpPr txBox="1"/>
          <p:nvPr/>
        </p:nvSpPr>
        <p:spPr>
          <a:xfrm>
            <a:off x="2380560" y="1730142"/>
            <a:ext cx="12766675" cy="15347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ctr">
              <a:lnSpc>
                <a:spcPts val="3920"/>
              </a:lnSpc>
              <a:spcBef>
                <a:spcPts val="320"/>
              </a:spcBef>
            </a:pPr>
            <a:r>
              <a:rPr sz="3350" b="1" spc="-265" dirty="0">
                <a:solidFill>
                  <a:srgbClr val="010101"/>
                </a:solidFill>
                <a:latin typeface="Arial"/>
                <a:cs typeface="Arial"/>
              </a:rPr>
              <a:t>Why</a:t>
            </a:r>
            <a:r>
              <a:rPr sz="3350" b="1" spc="-4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85" dirty="0">
                <a:solidFill>
                  <a:srgbClr val="010101"/>
                </a:solidFill>
                <a:latin typeface="Arial"/>
                <a:cs typeface="Arial"/>
              </a:rPr>
              <a:t>does</a:t>
            </a:r>
            <a:r>
              <a:rPr sz="3350" b="1" spc="-4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95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3350" b="1" spc="-5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70" dirty="0">
                <a:solidFill>
                  <a:srgbClr val="010101"/>
                </a:solidFill>
                <a:latin typeface="Arial"/>
                <a:cs typeface="Arial"/>
              </a:rPr>
              <a:t>New</a:t>
            </a:r>
            <a:r>
              <a:rPr sz="3350" b="1" spc="-3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65" dirty="0">
                <a:solidFill>
                  <a:srgbClr val="010101"/>
                </a:solidFill>
                <a:latin typeface="Arial"/>
                <a:cs typeface="Arial"/>
              </a:rPr>
              <a:t>York</a:t>
            </a:r>
            <a:r>
              <a:rPr sz="3350" b="1" spc="-3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75" dirty="0">
                <a:solidFill>
                  <a:srgbClr val="010101"/>
                </a:solidFill>
                <a:latin typeface="Arial"/>
                <a:cs typeface="Arial"/>
              </a:rPr>
              <a:t>Police</a:t>
            </a:r>
            <a:r>
              <a:rPr sz="3350" b="1" spc="-48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95" dirty="0">
                <a:solidFill>
                  <a:srgbClr val="010101"/>
                </a:solidFill>
                <a:latin typeface="Arial"/>
                <a:cs typeface="Arial"/>
              </a:rPr>
              <a:t>Department</a:t>
            </a:r>
            <a:r>
              <a:rPr sz="3350" b="1" spc="-1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85" dirty="0">
                <a:solidFill>
                  <a:srgbClr val="010101"/>
                </a:solidFill>
                <a:latin typeface="Arial"/>
                <a:cs typeface="Arial"/>
              </a:rPr>
              <a:t>record</a:t>
            </a:r>
            <a:r>
              <a:rPr sz="3350" b="1" spc="-3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95" dirty="0">
                <a:solidFill>
                  <a:srgbClr val="010101"/>
                </a:solidFill>
                <a:latin typeface="Arial"/>
                <a:cs typeface="Arial"/>
              </a:rPr>
              <a:t>more</a:t>
            </a:r>
            <a:r>
              <a:rPr sz="3350" b="1" spc="-2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70" dirty="0">
                <a:solidFill>
                  <a:srgbClr val="010101"/>
                </a:solidFill>
                <a:latin typeface="Arial"/>
                <a:cs typeface="Arial"/>
              </a:rPr>
              <a:t>than</a:t>
            </a:r>
            <a:r>
              <a:rPr sz="3350" b="1" spc="-5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95" dirty="0">
                <a:solidFill>
                  <a:srgbClr val="010101"/>
                </a:solidFill>
                <a:latin typeface="Arial"/>
                <a:cs typeface="Arial"/>
              </a:rPr>
              <a:t>double</a:t>
            </a:r>
            <a:r>
              <a:rPr sz="3350" b="1" spc="-3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010101"/>
                </a:solidFill>
                <a:latin typeface="Arial"/>
                <a:cs typeface="Arial"/>
              </a:rPr>
              <a:t>the </a:t>
            </a:r>
            <a:r>
              <a:rPr sz="3350" b="1" spc="-170" dirty="0">
                <a:solidFill>
                  <a:srgbClr val="010101"/>
                </a:solidFill>
                <a:latin typeface="Arial"/>
                <a:cs typeface="Arial"/>
              </a:rPr>
              <a:t>arrests</a:t>
            </a:r>
            <a:r>
              <a:rPr sz="3350" b="1" spc="-3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350" b="1" spc="-3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6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3350" b="1" spc="-48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10" dirty="0">
                <a:solidFill>
                  <a:srgbClr val="010101"/>
                </a:solidFill>
                <a:latin typeface="Arial"/>
                <a:cs typeface="Arial"/>
              </a:rPr>
              <a:t>Los</a:t>
            </a:r>
            <a:r>
              <a:rPr sz="3350" b="1" spc="-4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00" dirty="0">
                <a:solidFill>
                  <a:srgbClr val="010101"/>
                </a:solidFill>
                <a:latin typeface="Arial"/>
                <a:cs typeface="Arial"/>
              </a:rPr>
              <a:t>Angeles</a:t>
            </a:r>
            <a:r>
              <a:rPr sz="3350" b="1" spc="-3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60" dirty="0">
                <a:solidFill>
                  <a:srgbClr val="010101"/>
                </a:solidFill>
                <a:latin typeface="Arial"/>
                <a:cs typeface="Arial"/>
              </a:rPr>
              <a:t>Police</a:t>
            </a:r>
            <a:r>
              <a:rPr sz="3350" b="1" spc="-3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70" dirty="0">
                <a:solidFill>
                  <a:srgbClr val="010101"/>
                </a:solidFill>
                <a:latin typeface="Arial"/>
                <a:cs typeface="Arial"/>
              </a:rPr>
              <a:t>Department,</a:t>
            </a:r>
            <a:r>
              <a:rPr sz="3350" b="1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65" dirty="0">
                <a:solidFill>
                  <a:srgbClr val="010101"/>
                </a:solidFill>
                <a:latin typeface="Arial"/>
                <a:cs typeface="Arial"/>
              </a:rPr>
              <a:t>despite</a:t>
            </a:r>
            <a:r>
              <a:rPr sz="3350" b="1" spc="-2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10" dirty="0">
                <a:solidFill>
                  <a:srgbClr val="010101"/>
                </a:solidFill>
                <a:latin typeface="Arial"/>
                <a:cs typeface="Arial"/>
              </a:rPr>
              <a:t>LA</a:t>
            </a:r>
            <a:r>
              <a:rPr sz="3350" b="1" spc="-4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10101"/>
                </a:solidFill>
                <a:latin typeface="Arial"/>
                <a:cs typeface="Arial"/>
              </a:rPr>
              <a:t>County</a:t>
            </a:r>
            <a:r>
              <a:rPr sz="3350" b="1" spc="-10" dirty="0">
                <a:solidFill>
                  <a:srgbClr val="1A1A18"/>
                </a:solidFill>
                <a:latin typeface="Arial"/>
                <a:cs typeface="Arial"/>
              </a:rPr>
              <a:t>'</a:t>
            </a:r>
            <a:r>
              <a:rPr sz="3350" b="1" spc="-10" dirty="0">
                <a:solidFill>
                  <a:srgbClr val="010101"/>
                </a:solidFill>
                <a:latin typeface="Arial"/>
                <a:cs typeface="Arial"/>
              </a:rPr>
              <a:t>s </a:t>
            </a:r>
            <a:r>
              <a:rPr sz="3350" b="1" spc="-190" dirty="0">
                <a:solidFill>
                  <a:srgbClr val="010101"/>
                </a:solidFill>
                <a:latin typeface="Arial"/>
                <a:cs typeface="Arial"/>
              </a:rPr>
              <a:t>significantly</a:t>
            </a:r>
            <a:r>
              <a:rPr sz="3350" b="1" spc="-2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65" dirty="0">
                <a:solidFill>
                  <a:srgbClr val="010101"/>
                </a:solidFill>
                <a:latin typeface="Arial"/>
                <a:cs typeface="Arial"/>
              </a:rPr>
              <a:t>larger</a:t>
            </a:r>
            <a:r>
              <a:rPr sz="3350" b="1" spc="-2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00" dirty="0">
                <a:solidFill>
                  <a:srgbClr val="010101"/>
                </a:solidFill>
                <a:latin typeface="Arial"/>
                <a:cs typeface="Arial"/>
              </a:rPr>
              <a:t>population</a:t>
            </a:r>
            <a:r>
              <a:rPr sz="3350" b="1" spc="-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70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3350" b="1" spc="-3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210" dirty="0">
                <a:solidFill>
                  <a:srgbClr val="010101"/>
                </a:solidFill>
                <a:latin typeface="Arial"/>
                <a:cs typeface="Arial"/>
              </a:rPr>
              <a:t>geographic</a:t>
            </a:r>
            <a:r>
              <a:rPr sz="3350" b="1" spc="-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10101"/>
                </a:solidFill>
                <a:latin typeface="Arial"/>
                <a:cs typeface="Arial"/>
              </a:rPr>
              <a:t>area?</a:t>
            </a:r>
            <a:endParaRPr sz="33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402" y="4545078"/>
            <a:ext cx="4300220" cy="5975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ts val="3085"/>
              </a:lnSpc>
              <a:spcBef>
                <a:spcPts val="115"/>
              </a:spcBef>
            </a:pPr>
            <a:r>
              <a:rPr sz="2800" b="1" spc="-30" dirty="0">
                <a:solidFill>
                  <a:srgbClr val="083454"/>
                </a:solidFill>
                <a:latin typeface="Arial"/>
                <a:cs typeface="Arial"/>
              </a:rPr>
              <a:t>New</a:t>
            </a:r>
            <a:r>
              <a:rPr sz="2800" b="1" spc="-365" dirty="0">
                <a:solidFill>
                  <a:srgbClr val="083454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083454"/>
                </a:solidFill>
                <a:latin typeface="Arial"/>
                <a:cs typeface="Arial"/>
              </a:rPr>
              <a:t>York</a:t>
            </a:r>
            <a:r>
              <a:rPr sz="2800" b="1" spc="-315" dirty="0">
                <a:solidFill>
                  <a:srgbClr val="083454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083454"/>
                </a:solidFill>
                <a:latin typeface="Arial"/>
                <a:cs typeface="Arial"/>
              </a:rPr>
              <a:t>City</a:t>
            </a:r>
            <a:r>
              <a:rPr sz="2800" b="1" spc="-370" dirty="0">
                <a:solidFill>
                  <a:srgbClr val="083454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83454"/>
                </a:solidFill>
                <a:latin typeface="Arial"/>
                <a:cs typeface="Arial"/>
              </a:rPr>
              <a:t>(NYPD)</a:t>
            </a:r>
            <a:r>
              <a:rPr sz="2800" b="1" spc="90" dirty="0">
                <a:solidFill>
                  <a:srgbClr val="083454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70706B"/>
                </a:solidFill>
                <a:latin typeface="Arial"/>
                <a:cs typeface="Arial"/>
              </a:rPr>
              <a:t>·</a:t>
            </a:r>
            <a:r>
              <a:rPr sz="2800" spc="-145" dirty="0">
                <a:solidFill>
                  <a:srgbClr val="5D5D56"/>
                </a:solidFill>
                <a:latin typeface="Arial"/>
                <a:cs typeface="Arial"/>
              </a:rPr>
              <a:t>....</a:t>
            </a:r>
            <a:r>
              <a:rPr sz="2800" spc="-145" dirty="0">
                <a:solidFill>
                  <a:srgbClr val="70706B"/>
                </a:solidFill>
                <a:latin typeface="Arial"/>
                <a:cs typeface="Arial"/>
              </a:rPr>
              <a:t>··</a:t>
            </a:r>
            <a:r>
              <a:rPr sz="2800" spc="-145" dirty="0">
                <a:solidFill>
                  <a:srgbClr val="97918A"/>
                </a:solidFill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R="80010" algn="r">
              <a:lnSpc>
                <a:spcPts val="1405"/>
              </a:lnSpc>
            </a:pPr>
            <a:r>
              <a:rPr sz="2100" spc="-442" baseline="-23809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r>
              <a:rPr sz="1350" spc="-295" dirty="0">
                <a:solidFill>
                  <a:srgbClr val="1A1A18"/>
                </a:solidFill>
                <a:latin typeface="Arial"/>
                <a:cs typeface="Arial"/>
              </a:rPr>
              <a:t>•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9023" y="5132321"/>
            <a:ext cx="749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9023" y="5208917"/>
            <a:ext cx="749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3270" y="5317430"/>
            <a:ext cx="5143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50" dirty="0">
                <a:solidFill>
                  <a:srgbClr val="5D5D56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39145" y="5138704"/>
            <a:ext cx="10477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-600" dirty="0">
                <a:solidFill>
                  <a:srgbClr val="70706B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1759" y="5502539"/>
            <a:ext cx="749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22273" y="5553604"/>
            <a:ext cx="127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434" baseline="-27777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r>
              <a:rPr sz="1200" spc="-290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22273" y="5719564"/>
            <a:ext cx="1320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442" baseline="-19841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r>
              <a:rPr sz="1350" spc="-295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22273" y="5847226"/>
            <a:ext cx="127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434" baseline="-27777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r>
              <a:rPr sz="1200" spc="-290" dirty="0">
                <a:solidFill>
                  <a:srgbClr val="97918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8923" y="5106789"/>
            <a:ext cx="3165475" cy="24974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305">
              <a:lnSpc>
                <a:spcPts val="2830"/>
              </a:lnSpc>
              <a:spcBef>
                <a:spcPts val="110"/>
              </a:spcBef>
            </a:pPr>
            <a:r>
              <a:rPr sz="2500" spc="-10" dirty="0">
                <a:solidFill>
                  <a:srgbClr val="1A1A18"/>
                </a:solidFill>
                <a:latin typeface="Arial"/>
                <a:cs typeface="Arial"/>
              </a:rPr>
              <a:t>Area: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3010"/>
              </a:lnSpc>
            </a:pPr>
            <a:r>
              <a:rPr sz="2650" spc="110" dirty="0">
                <a:solidFill>
                  <a:srgbClr val="1A1A18"/>
                </a:solidFill>
                <a:latin typeface="Arial"/>
                <a:cs typeface="Arial"/>
              </a:rPr>
              <a:t>302</a:t>
            </a:r>
            <a:r>
              <a:rPr sz="2650" spc="-27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1A1A18"/>
                </a:solidFill>
                <a:latin typeface="Arial"/>
                <a:cs typeface="Arial"/>
              </a:rPr>
              <a:t>sq</a:t>
            </a:r>
            <a:r>
              <a:rPr sz="2650" spc="-4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A1A18"/>
                </a:solidFill>
                <a:latin typeface="Arial"/>
                <a:cs typeface="Arial"/>
              </a:rPr>
              <a:t>miles</a:t>
            </a:r>
            <a:endParaRPr sz="2650">
              <a:latin typeface="Arial"/>
              <a:cs typeface="Arial"/>
            </a:endParaRPr>
          </a:p>
          <a:p>
            <a:pPr marL="14604">
              <a:lnSpc>
                <a:spcPts val="2830"/>
              </a:lnSpc>
              <a:spcBef>
                <a:spcPts val="890"/>
              </a:spcBef>
            </a:pPr>
            <a:r>
              <a:rPr sz="2500" spc="-35" dirty="0">
                <a:solidFill>
                  <a:srgbClr val="1A1A18"/>
                </a:solidFill>
                <a:latin typeface="Arial"/>
                <a:cs typeface="Arial"/>
              </a:rPr>
              <a:t>Population</a:t>
            </a:r>
            <a:r>
              <a:rPr sz="2500" spc="-1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A1A18"/>
                </a:solidFill>
                <a:latin typeface="Arial"/>
                <a:cs typeface="Arial"/>
              </a:rPr>
              <a:t>(2020):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3010"/>
              </a:lnSpc>
            </a:pPr>
            <a:r>
              <a:rPr sz="2650" spc="55" dirty="0">
                <a:solidFill>
                  <a:srgbClr val="1A1A18"/>
                </a:solidFill>
                <a:latin typeface="Arial"/>
                <a:cs typeface="Arial"/>
              </a:rPr>
              <a:t>8.8</a:t>
            </a:r>
            <a:r>
              <a:rPr sz="2650" spc="-3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A1A18"/>
                </a:solidFill>
                <a:latin typeface="Arial"/>
                <a:cs typeface="Arial"/>
              </a:rPr>
              <a:t>million</a:t>
            </a:r>
            <a:endParaRPr sz="2650">
              <a:latin typeface="Arial"/>
              <a:cs typeface="Arial"/>
            </a:endParaRPr>
          </a:p>
          <a:p>
            <a:pPr marL="19050">
              <a:lnSpc>
                <a:spcPts val="2810"/>
              </a:lnSpc>
              <a:spcBef>
                <a:spcPts val="890"/>
              </a:spcBef>
            </a:pPr>
            <a:r>
              <a:rPr sz="2500" spc="-40" dirty="0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sz="2500" spc="-40" dirty="0">
                <a:solidFill>
                  <a:srgbClr val="1A1A18"/>
                </a:solidFill>
                <a:latin typeface="Arial"/>
                <a:cs typeface="Arial"/>
              </a:rPr>
              <a:t>otal</a:t>
            </a:r>
            <a:r>
              <a:rPr sz="2500" spc="-31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A1A18"/>
                </a:solidFill>
                <a:latin typeface="Arial"/>
                <a:cs typeface="Arial"/>
              </a:rPr>
              <a:t>Arrests</a:t>
            </a:r>
            <a:r>
              <a:rPr sz="2500" spc="-23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00" spc="-120" dirty="0">
                <a:solidFill>
                  <a:srgbClr val="1A1A18"/>
                </a:solidFill>
                <a:latin typeface="Arial"/>
                <a:cs typeface="Arial"/>
              </a:rPr>
              <a:t>(2010-</a:t>
            </a:r>
            <a:r>
              <a:rPr sz="2500" spc="-65" dirty="0">
                <a:solidFill>
                  <a:srgbClr val="1A1A18"/>
                </a:solidFill>
                <a:latin typeface="Arial"/>
                <a:cs typeface="Arial"/>
              </a:rPr>
              <a:t>19):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3170"/>
              </a:lnSpc>
            </a:pPr>
            <a:r>
              <a:rPr sz="2800" b="1" dirty="0">
                <a:solidFill>
                  <a:srgbClr val="1A1A18"/>
                </a:solidFill>
                <a:latin typeface="Arial"/>
                <a:cs typeface="Arial"/>
              </a:rPr>
              <a:t>3.</a:t>
            </a:r>
            <a:r>
              <a:rPr sz="2800" b="1" dirty="0">
                <a:solidFill>
                  <a:srgbClr val="010101"/>
                </a:solidFill>
                <a:latin typeface="Arial"/>
                <a:cs typeface="Arial"/>
              </a:rPr>
              <a:t>4</a:t>
            </a:r>
            <a:r>
              <a:rPr sz="2800" b="1" spc="-1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10101"/>
                </a:solidFill>
                <a:latin typeface="Arial"/>
                <a:cs typeface="Arial"/>
              </a:rPr>
              <a:t>mil</a:t>
            </a:r>
            <a:r>
              <a:rPr sz="2800" b="1" spc="-10" dirty="0">
                <a:solidFill>
                  <a:srgbClr val="1A1A18"/>
                </a:solidFill>
                <a:latin typeface="Arial"/>
                <a:cs typeface="Arial"/>
              </a:rPr>
              <a:t>lio</a:t>
            </a:r>
            <a:r>
              <a:rPr sz="2800" b="1" spc="-1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09991" y="4545078"/>
            <a:ext cx="658431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80" dirty="0">
                <a:solidFill>
                  <a:srgbClr val="97918A"/>
                </a:solidFill>
                <a:latin typeface="Arial"/>
                <a:cs typeface="Arial"/>
              </a:rPr>
              <a:t>····</a:t>
            </a:r>
            <a:r>
              <a:rPr sz="2800" spc="-345" dirty="0">
                <a:solidFill>
                  <a:srgbClr val="97918A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493B31"/>
                </a:solidFill>
                <a:latin typeface="Arial"/>
                <a:cs typeface="Arial"/>
              </a:rPr>
              <a:t>··</a:t>
            </a:r>
            <a:r>
              <a:rPr sz="2800" spc="-455" dirty="0">
                <a:solidFill>
                  <a:srgbClr val="5D5D56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493B31"/>
                </a:solidFill>
                <a:latin typeface="Arial"/>
                <a:cs typeface="Arial"/>
              </a:rPr>
              <a:t>·</a:t>
            </a:r>
            <a:r>
              <a:rPr sz="2800" spc="140" dirty="0">
                <a:solidFill>
                  <a:srgbClr val="493B31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70706B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5D5D56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70706B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493B31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70706B"/>
                </a:solidFill>
                <a:latin typeface="Arial"/>
                <a:cs typeface="Arial"/>
              </a:rPr>
              <a:t>······</a:t>
            </a:r>
            <a:r>
              <a:rPr sz="2800" spc="-80" dirty="0">
                <a:solidFill>
                  <a:srgbClr val="70706B"/>
                </a:solidFill>
                <a:latin typeface="Arial"/>
                <a:cs typeface="Arial"/>
              </a:rPr>
              <a:t>·</a:t>
            </a:r>
            <a:r>
              <a:rPr sz="2800" spc="-285" dirty="0">
                <a:solidFill>
                  <a:srgbClr val="70706B"/>
                </a:solidFill>
                <a:latin typeface="Arial"/>
                <a:cs typeface="Arial"/>
              </a:rPr>
              <a:t>·</a:t>
            </a:r>
            <a:r>
              <a:rPr sz="2800" spc="-455" dirty="0">
                <a:solidFill>
                  <a:srgbClr val="70706B"/>
                </a:solidFill>
                <a:latin typeface="Arial"/>
                <a:cs typeface="Arial"/>
              </a:rPr>
              <a:t>··</a:t>
            </a:r>
            <a:r>
              <a:rPr sz="2800" spc="-80" dirty="0">
                <a:solidFill>
                  <a:srgbClr val="70706B"/>
                </a:solidFill>
                <a:latin typeface="Arial"/>
                <a:cs typeface="Arial"/>
              </a:rPr>
              <a:t>··</a:t>
            </a:r>
            <a:r>
              <a:rPr sz="2800" spc="270" dirty="0">
                <a:solidFill>
                  <a:srgbClr val="70706B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DD4B16"/>
                </a:solidFill>
                <a:latin typeface="Arial"/>
                <a:cs typeface="Arial"/>
              </a:rPr>
              <a:t>Los</a:t>
            </a:r>
            <a:r>
              <a:rPr sz="2800" b="1" spc="-355" dirty="0">
                <a:solidFill>
                  <a:srgbClr val="DD4B16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DD4B16"/>
                </a:solidFill>
                <a:latin typeface="Arial"/>
                <a:cs typeface="Arial"/>
              </a:rPr>
              <a:t>Angeles</a:t>
            </a:r>
            <a:r>
              <a:rPr sz="2800" b="1" spc="-300" dirty="0">
                <a:solidFill>
                  <a:srgbClr val="DD4B16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DD4B16"/>
                </a:solidFill>
                <a:latin typeface="Arial"/>
                <a:cs typeface="Arial"/>
              </a:rPr>
              <a:t>County</a:t>
            </a:r>
            <a:r>
              <a:rPr sz="2800" b="1" spc="-210" dirty="0">
                <a:solidFill>
                  <a:srgbClr val="DD4B16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DD4B16"/>
                </a:solidFill>
                <a:latin typeface="Arial"/>
                <a:cs typeface="Arial"/>
              </a:rPr>
              <a:t>(LAPD)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26673" y="5106789"/>
            <a:ext cx="3166745" cy="24974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">
              <a:lnSpc>
                <a:spcPts val="2830"/>
              </a:lnSpc>
              <a:spcBef>
                <a:spcPts val="110"/>
              </a:spcBef>
            </a:pPr>
            <a:r>
              <a:rPr sz="2500" spc="-10" dirty="0">
                <a:solidFill>
                  <a:srgbClr val="1A1A18"/>
                </a:solidFill>
                <a:latin typeface="Arial"/>
                <a:cs typeface="Arial"/>
              </a:rPr>
              <a:t>Area:</a:t>
            </a:r>
            <a:endParaRPr sz="2500">
              <a:latin typeface="Arial"/>
              <a:cs typeface="Arial"/>
            </a:endParaRPr>
          </a:p>
          <a:p>
            <a:pPr marL="23495">
              <a:lnSpc>
                <a:spcPts val="3010"/>
              </a:lnSpc>
            </a:pPr>
            <a:r>
              <a:rPr sz="2650" spc="-105" dirty="0">
                <a:solidFill>
                  <a:srgbClr val="1A1A18"/>
                </a:solidFill>
                <a:latin typeface="Arial"/>
                <a:cs typeface="Arial"/>
              </a:rPr>
              <a:t>4,751</a:t>
            </a:r>
            <a:r>
              <a:rPr sz="2650" spc="-434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120" dirty="0">
                <a:solidFill>
                  <a:srgbClr val="1A1A18"/>
                </a:solidFill>
                <a:latin typeface="Arial"/>
                <a:cs typeface="Arial"/>
              </a:rPr>
              <a:t>sq</a:t>
            </a:r>
            <a:r>
              <a:rPr sz="2650" spc="-45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A1A18"/>
                </a:solidFill>
                <a:latin typeface="Arial"/>
                <a:cs typeface="Arial"/>
              </a:rPr>
              <a:t>miles</a:t>
            </a:r>
            <a:endParaRPr sz="2650">
              <a:latin typeface="Arial"/>
              <a:cs typeface="Arial"/>
            </a:endParaRPr>
          </a:p>
          <a:p>
            <a:pPr marL="15875">
              <a:lnSpc>
                <a:spcPts val="2830"/>
              </a:lnSpc>
              <a:spcBef>
                <a:spcPts val="890"/>
              </a:spcBef>
            </a:pPr>
            <a:r>
              <a:rPr sz="2500" spc="-10" dirty="0">
                <a:solidFill>
                  <a:srgbClr val="1A1A18"/>
                </a:solidFill>
                <a:latin typeface="Arial"/>
                <a:cs typeface="Arial"/>
              </a:rPr>
              <a:t>Popu</a:t>
            </a:r>
            <a:r>
              <a:rPr sz="2500" spc="-1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2500" spc="-10" dirty="0">
                <a:solidFill>
                  <a:srgbClr val="1A1A18"/>
                </a:solidFill>
                <a:latin typeface="Arial"/>
                <a:cs typeface="Arial"/>
              </a:rPr>
              <a:t>ation(2020):</a:t>
            </a:r>
            <a:endParaRPr sz="2500">
              <a:latin typeface="Arial"/>
              <a:cs typeface="Arial"/>
            </a:endParaRPr>
          </a:p>
          <a:p>
            <a:pPr marL="13335">
              <a:lnSpc>
                <a:spcPts val="3010"/>
              </a:lnSpc>
            </a:pPr>
            <a:r>
              <a:rPr sz="2650" dirty="0">
                <a:solidFill>
                  <a:srgbClr val="1A1A18"/>
                </a:solidFill>
                <a:latin typeface="Arial"/>
                <a:cs typeface="Arial"/>
              </a:rPr>
              <a:t>9.8</a:t>
            </a:r>
            <a:r>
              <a:rPr sz="2650" spc="-19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A1A18"/>
                </a:solidFill>
                <a:latin typeface="Arial"/>
                <a:cs typeface="Arial"/>
              </a:rPr>
              <a:t>million</a:t>
            </a:r>
            <a:endParaRPr sz="2650">
              <a:latin typeface="Arial"/>
              <a:cs typeface="Arial"/>
            </a:endParaRPr>
          </a:p>
          <a:p>
            <a:pPr marL="20320">
              <a:lnSpc>
                <a:spcPts val="2755"/>
              </a:lnSpc>
              <a:spcBef>
                <a:spcPts val="995"/>
              </a:spcBef>
            </a:pPr>
            <a:r>
              <a:rPr sz="2500" spc="-40" dirty="0">
                <a:solidFill>
                  <a:srgbClr val="1A1A18"/>
                </a:solidFill>
                <a:latin typeface="Arial"/>
                <a:cs typeface="Arial"/>
              </a:rPr>
              <a:t>Tota</a:t>
            </a:r>
            <a:r>
              <a:rPr sz="2500" spc="-4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2500" spc="-2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500" spc="-20" dirty="0">
                <a:solidFill>
                  <a:srgbClr val="1A1A18"/>
                </a:solidFill>
                <a:latin typeface="Arial"/>
                <a:cs typeface="Arial"/>
              </a:rPr>
              <a:t>Arrests</a:t>
            </a:r>
            <a:r>
              <a:rPr sz="2500" spc="-12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00" spc="-120" dirty="0">
                <a:solidFill>
                  <a:srgbClr val="2F2D2B"/>
                </a:solidFill>
                <a:latin typeface="Arial"/>
                <a:cs typeface="Arial"/>
              </a:rPr>
              <a:t>(2010-</a:t>
            </a:r>
            <a:r>
              <a:rPr sz="2500" spc="-65" dirty="0">
                <a:solidFill>
                  <a:srgbClr val="2F2D2B"/>
                </a:solidFill>
                <a:latin typeface="Arial"/>
                <a:cs typeface="Arial"/>
              </a:rPr>
              <a:t>19):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3115"/>
              </a:lnSpc>
            </a:pPr>
            <a:r>
              <a:rPr sz="2800" b="1" spc="-105" dirty="0">
                <a:solidFill>
                  <a:srgbClr val="1A1A18"/>
                </a:solidFill>
                <a:latin typeface="Arial"/>
                <a:cs typeface="Arial"/>
              </a:rPr>
              <a:t>1.</a:t>
            </a:r>
            <a:r>
              <a:rPr sz="2800" b="1" spc="-105" dirty="0">
                <a:solidFill>
                  <a:srgbClr val="010101"/>
                </a:solidFill>
                <a:latin typeface="Arial"/>
                <a:cs typeface="Arial"/>
              </a:rPr>
              <a:t>3</a:t>
            </a:r>
            <a:r>
              <a:rPr sz="2800" b="1" spc="-2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10101"/>
                </a:solidFill>
                <a:latin typeface="Arial"/>
                <a:cs typeface="Arial"/>
              </a:rPr>
              <a:t>mil</a:t>
            </a:r>
            <a:r>
              <a:rPr sz="2800" b="1" spc="-10" dirty="0">
                <a:solidFill>
                  <a:srgbClr val="1A1A18"/>
                </a:solidFill>
                <a:latin typeface="Arial"/>
                <a:cs typeface="Arial"/>
              </a:rPr>
              <a:t>lio</a:t>
            </a:r>
            <a:r>
              <a:rPr sz="2800" b="1" spc="-1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66538" y="8974931"/>
            <a:ext cx="719518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70706B"/>
                </a:solidFill>
                <a:latin typeface="Arial"/>
                <a:cs typeface="Arial"/>
              </a:rPr>
              <a:t>Thisanalysiscompares</a:t>
            </a:r>
            <a:r>
              <a:rPr sz="1600" spc="-195" dirty="0">
                <a:solidFill>
                  <a:srgbClr val="70706B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70706B"/>
                </a:solidFill>
                <a:latin typeface="Arial"/>
                <a:cs typeface="Arial"/>
              </a:rPr>
              <a:t>arrest</a:t>
            </a:r>
            <a:r>
              <a:rPr sz="1600" spc="-175" dirty="0">
                <a:solidFill>
                  <a:srgbClr val="70706B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D5D56"/>
                </a:solidFill>
                <a:latin typeface="Arial"/>
                <a:cs typeface="Arial"/>
              </a:rPr>
              <a:t>data</a:t>
            </a:r>
            <a:r>
              <a:rPr sz="1600" spc="-235" dirty="0">
                <a:solidFill>
                  <a:srgbClr val="5D5D5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70706B"/>
                </a:solidFill>
                <a:latin typeface="Arial"/>
                <a:cs typeface="Arial"/>
              </a:rPr>
              <a:t>from</a:t>
            </a:r>
            <a:r>
              <a:rPr sz="1600" dirty="0">
                <a:solidFill>
                  <a:srgbClr val="5D5D56"/>
                </a:solidFill>
                <a:latin typeface="Arial"/>
                <a:cs typeface="Arial"/>
              </a:rPr>
              <a:t>the</a:t>
            </a:r>
            <a:r>
              <a:rPr sz="1600" spc="-235" dirty="0">
                <a:solidFill>
                  <a:srgbClr val="5D5D56"/>
                </a:solidFill>
                <a:latin typeface="Arial"/>
                <a:cs typeface="Arial"/>
              </a:rPr>
              <a:t> </a:t>
            </a:r>
            <a:r>
              <a:rPr sz="1600" spc="-100" dirty="0">
                <a:solidFill>
                  <a:srgbClr val="5D5D56"/>
                </a:solidFill>
                <a:latin typeface="Arial"/>
                <a:cs typeface="Arial"/>
              </a:rPr>
              <a:t>NYPD</a:t>
            </a:r>
            <a:r>
              <a:rPr sz="1600" spc="-80" dirty="0">
                <a:solidFill>
                  <a:srgbClr val="5D5D5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70706B"/>
                </a:solidFill>
                <a:latin typeface="Arial"/>
                <a:cs typeface="Arial"/>
              </a:rPr>
              <a:t>and</a:t>
            </a:r>
            <a:r>
              <a:rPr sz="1600" spc="-25" dirty="0">
                <a:solidFill>
                  <a:srgbClr val="5D5D56"/>
                </a:solidFill>
                <a:latin typeface="Arial"/>
                <a:cs typeface="Arial"/>
              </a:rPr>
              <a:t>LAPDbetween</a:t>
            </a:r>
            <a:r>
              <a:rPr sz="1600" spc="-55" dirty="0">
                <a:solidFill>
                  <a:srgbClr val="5D5D5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0706B"/>
                </a:solidFill>
                <a:latin typeface="Arial"/>
                <a:cs typeface="Arial"/>
              </a:rPr>
              <a:t>2010and</a:t>
            </a:r>
            <a:r>
              <a:rPr sz="1600" spc="-195" dirty="0">
                <a:solidFill>
                  <a:srgbClr val="70706B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0706B"/>
                </a:solidFill>
                <a:latin typeface="Arial"/>
                <a:cs typeface="Arial"/>
              </a:rPr>
              <a:t>2019.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691" y="1659863"/>
            <a:ext cx="6241089" cy="44936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3848" y="1991782"/>
            <a:ext cx="6470354" cy="416176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50263" y="1991782"/>
            <a:ext cx="0" cy="6179185"/>
          </a:xfrm>
          <a:custGeom>
            <a:avLst/>
            <a:gdLst/>
            <a:ahLst/>
            <a:cxnLst/>
            <a:rect l="l" t="t" r="r" b="b"/>
            <a:pathLst>
              <a:path h="6179184">
                <a:moveTo>
                  <a:pt x="0" y="617881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09550" y="5221616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03219" y="313101"/>
            <a:ext cx="9151620" cy="122555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079625" marR="5080" indent="-2067560">
              <a:lnSpc>
                <a:spcPts val="4320"/>
              </a:lnSpc>
              <a:spcBef>
                <a:spcPts val="915"/>
              </a:spcBef>
            </a:pPr>
            <a:r>
              <a:rPr sz="4250" spc="-10" dirty="0">
                <a:solidFill>
                  <a:srgbClr val="010100"/>
                </a:solidFill>
              </a:rPr>
              <a:t>An</a:t>
            </a:r>
            <a:r>
              <a:rPr sz="4250" spc="-595" dirty="0">
                <a:solidFill>
                  <a:srgbClr val="010100"/>
                </a:solidFill>
              </a:rPr>
              <a:t> </a:t>
            </a:r>
            <a:r>
              <a:rPr sz="4250" spc="-114" dirty="0">
                <a:solidFill>
                  <a:srgbClr val="010100"/>
                </a:solidFill>
              </a:rPr>
              <a:t>Investigation</a:t>
            </a:r>
            <a:r>
              <a:rPr sz="4250" spc="-305" dirty="0">
                <a:solidFill>
                  <a:srgbClr val="010100"/>
                </a:solidFill>
              </a:rPr>
              <a:t> </a:t>
            </a:r>
            <a:r>
              <a:rPr sz="4250" spc="-50" dirty="0">
                <a:solidFill>
                  <a:srgbClr val="010100"/>
                </a:solidFill>
              </a:rPr>
              <a:t>into</a:t>
            </a:r>
            <a:r>
              <a:rPr sz="4250" spc="-445" dirty="0">
                <a:solidFill>
                  <a:srgbClr val="010100"/>
                </a:solidFill>
              </a:rPr>
              <a:t> </a:t>
            </a:r>
            <a:r>
              <a:rPr sz="4250" spc="-95" dirty="0">
                <a:solidFill>
                  <a:srgbClr val="010100"/>
                </a:solidFill>
              </a:rPr>
              <a:t>Two</a:t>
            </a:r>
            <a:r>
              <a:rPr sz="4250" spc="-375" dirty="0">
                <a:solidFill>
                  <a:srgbClr val="010100"/>
                </a:solidFill>
              </a:rPr>
              <a:t> </a:t>
            </a:r>
            <a:r>
              <a:rPr sz="4250" spc="-55" dirty="0">
                <a:solidFill>
                  <a:srgbClr val="010100"/>
                </a:solidFill>
              </a:rPr>
              <a:t>Archetypes </a:t>
            </a:r>
            <a:r>
              <a:rPr sz="4250" spc="-90" dirty="0">
                <a:solidFill>
                  <a:srgbClr val="010100"/>
                </a:solidFill>
              </a:rPr>
              <a:t>of</a:t>
            </a:r>
            <a:r>
              <a:rPr sz="4250" spc="-250" dirty="0">
                <a:solidFill>
                  <a:srgbClr val="010100"/>
                </a:solidFill>
              </a:rPr>
              <a:t> </a:t>
            </a:r>
            <a:r>
              <a:rPr sz="4250" dirty="0">
                <a:solidFill>
                  <a:srgbClr val="010100"/>
                </a:solidFill>
              </a:rPr>
              <a:t>the</a:t>
            </a:r>
            <a:r>
              <a:rPr sz="4250" spc="-459" dirty="0">
                <a:solidFill>
                  <a:srgbClr val="010100"/>
                </a:solidFill>
              </a:rPr>
              <a:t> </a:t>
            </a:r>
            <a:r>
              <a:rPr sz="4250" spc="-85" dirty="0">
                <a:solidFill>
                  <a:srgbClr val="010100"/>
                </a:solidFill>
              </a:rPr>
              <a:t>American</a:t>
            </a:r>
            <a:r>
              <a:rPr sz="4250" spc="-380" dirty="0">
                <a:solidFill>
                  <a:srgbClr val="010100"/>
                </a:solidFill>
              </a:rPr>
              <a:t> </a:t>
            </a:r>
            <a:r>
              <a:rPr sz="4250" spc="-20" dirty="0">
                <a:solidFill>
                  <a:srgbClr val="010100"/>
                </a:solidFill>
              </a:rPr>
              <a:t>City</a:t>
            </a:r>
            <a:endParaRPr sz="4250"/>
          </a:p>
        </p:txBody>
      </p:sp>
      <p:sp>
        <p:nvSpPr>
          <p:cNvPr id="7" name="object 7"/>
          <p:cNvSpPr txBox="1"/>
          <p:nvPr/>
        </p:nvSpPr>
        <p:spPr>
          <a:xfrm>
            <a:off x="972296" y="6140881"/>
            <a:ext cx="6872605" cy="2075814"/>
          </a:xfrm>
          <a:prstGeom prst="rect">
            <a:avLst/>
          </a:prstGeom>
        </p:spPr>
        <p:txBody>
          <a:bodyPr vert="horz" wrap="square" lIns="0" tIns="289560" rIns="0" bIns="0" rtlCol="0">
            <a:spAutoFit/>
          </a:bodyPr>
          <a:lstStyle/>
          <a:p>
            <a:pPr marR="131445" algn="ctr">
              <a:lnSpc>
                <a:spcPct val="100000"/>
              </a:lnSpc>
              <a:spcBef>
                <a:spcPts val="2280"/>
              </a:spcBef>
            </a:pPr>
            <a:r>
              <a:rPr sz="3550" b="1" spc="160" dirty="0">
                <a:solidFill>
                  <a:srgbClr val="053356"/>
                </a:solidFill>
                <a:latin typeface="Arial"/>
                <a:cs typeface="Arial"/>
              </a:rPr>
              <a:t>The</a:t>
            </a:r>
            <a:r>
              <a:rPr sz="3550" b="1" spc="-400" dirty="0">
                <a:solidFill>
                  <a:srgbClr val="053356"/>
                </a:solidFill>
                <a:latin typeface="Arial"/>
                <a:cs typeface="Arial"/>
              </a:rPr>
              <a:t> </a:t>
            </a:r>
            <a:r>
              <a:rPr sz="3550" b="1" spc="55" dirty="0">
                <a:solidFill>
                  <a:srgbClr val="053356"/>
                </a:solidFill>
                <a:latin typeface="Arial"/>
                <a:cs typeface="Arial"/>
              </a:rPr>
              <a:t>Vertical</a:t>
            </a:r>
            <a:r>
              <a:rPr sz="3550" b="1" spc="-434" dirty="0">
                <a:solidFill>
                  <a:srgbClr val="053356"/>
                </a:solidFill>
                <a:latin typeface="Arial"/>
                <a:cs typeface="Arial"/>
              </a:rPr>
              <a:t> </a:t>
            </a:r>
            <a:r>
              <a:rPr sz="3550" b="1" spc="55" dirty="0">
                <a:solidFill>
                  <a:srgbClr val="053356"/>
                </a:solidFill>
                <a:latin typeface="Arial"/>
                <a:cs typeface="Arial"/>
              </a:rPr>
              <a:t>Metropolis</a:t>
            </a:r>
            <a:endParaRPr sz="3550">
              <a:latin typeface="Arial"/>
              <a:cs typeface="Arial"/>
            </a:endParaRPr>
          </a:p>
          <a:p>
            <a:pPr marL="12700" marR="5080" indent="-8255" algn="ctr">
              <a:lnSpc>
                <a:spcPts val="2110"/>
              </a:lnSpc>
              <a:spcBef>
                <a:spcPts val="1220"/>
              </a:spcBef>
            </a:pPr>
            <a:r>
              <a:rPr sz="1800" spc="90" dirty="0">
                <a:solidFill>
                  <a:srgbClr val="262623"/>
                </a:solidFill>
                <a:latin typeface="Arial"/>
                <a:cs typeface="Arial"/>
              </a:rPr>
              <a:t>New</a:t>
            </a:r>
            <a:r>
              <a:rPr sz="1800" spc="-1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York</a:t>
            </a:r>
            <a:r>
              <a:rPr sz="1800" spc="-8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City,</a:t>
            </a:r>
            <a:r>
              <a:rPr sz="1800" spc="-26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a</a:t>
            </a:r>
            <a:r>
              <a:rPr sz="1800" spc="-13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compact,</a:t>
            </a:r>
            <a:r>
              <a:rPr sz="1800" spc="-9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transit</a:t>
            </a:r>
            <a:r>
              <a:rPr sz="1800" spc="55" dirty="0">
                <a:solidFill>
                  <a:srgbClr val="494946"/>
                </a:solidFill>
                <a:latin typeface="Arial"/>
                <a:cs typeface="Arial"/>
              </a:rPr>
              <a:t>-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oriented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262623"/>
                </a:solidFill>
                <a:latin typeface="Arial"/>
                <a:cs typeface="Arial"/>
              </a:rPr>
              <a:t>city</a:t>
            </a:r>
            <a:r>
              <a:rPr sz="1800" spc="-16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262623"/>
                </a:solidFill>
                <a:latin typeface="Arial"/>
                <a:cs typeface="Arial"/>
              </a:rPr>
              <a:t>with</a:t>
            </a:r>
            <a:r>
              <a:rPr sz="1800" spc="-10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an </a:t>
            </a:r>
            <a:r>
              <a:rPr sz="1800" spc="20" dirty="0">
                <a:solidFill>
                  <a:srgbClr val="262623"/>
                </a:solidFill>
                <a:latin typeface="Arial"/>
                <a:cs typeface="Arial"/>
              </a:rPr>
              <a:t>except</a:t>
            </a:r>
            <a:r>
              <a:rPr sz="1800" spc="20" dirty="0">
                <a:solidFill>
                  <a:srgbClr val="494946"/>
                </a:solidFill>
                <a:latin typeface="Arial"/>
                <a:cs typeface="Arial"/>
              </a:rPr>
              <a:t>i</a:t>
            </a:r>
            <a:r>
              <a:rPr sz="1800" spc="20" dirty="0">
                <a:solidFill>
                  <a:srgbClr val="262623"/>
                </a:solidFill>
                <a:latin typeface="Arial"/>
                <a:cs typeface="Arial"/>
              </a:rPr>
              <a:t>onal</a:t>
            </a:r>
            <a:r>
              <a:rPr sz="1800" spc="-3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popu</a:t>
            </a:r>
            <a:r>
              <a:rPr sz="1800" spc="65" dirty="0">
                <a:solidFill>
                  <a:srgbClr val="494946"/>
                </a:solidFill>
                <a:latin typeface="Arial"/>
                <a:cs typeface="Arial"/>
              </a:rPr>
              <a:t>l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ation</a:t>
            </a:r>
            <a:r>
              <a:rPr sz="1800" spc="-6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20" dirty="0">
                <a:solidFill>
                  <a:srgbClr val="262623"/>
                </a:solidFill>
                <a:latin typeface="Arial"/>
                <a:cs typeface="Arial"/>
              </a:rPr>
              <a:t>density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20" dirty="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sz="1800" spc="1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29,302</a:t>
            </a:r>
            <a:r>
              <a:rPr sz="1800" spc="-14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peop</a:t>
            </a:r>
            <a:r>
              <a:rPr sz="1800" spc="60" dirty="0">
                <a:solidFill>
                  <a:srgbClr val="494946"/>
                </a:solidFill>
                <a:latin typeface="Arial"/>
                <a:cs typeface="Arial"/>
              </a:rPr>
              <a:t>l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sz="1800" spc="-14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262623"/>
                </a:solidFill>
                <a:latin typeface="Arial"/>
                <a:cs typeface="Arial"/>
              </a:rPr>
              <a:t>per</a:t>
            </a:r>
            <a:r>
              <a:rPr sz="1800" spc="-2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square</a:t>
            </a:r>
            <a:r>
              <a:rPr sz="1800" spc="-13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mile</a:t>
            </a:r>
            <a:r>
              <a:rPr sz="1800" spc="50" dirty="0">
                <a:solidFill>
                  <a:srgbClr val="494946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R="1905" algn="ctr">
              <a:lnSpc>
                <a:spcPts val="2050"/>
              </a:lnSpc>
            </a:pPr>
            <a:r>
              <a:rPr sz="1800" spc="90" dirty="0">
                <a:solidFill>
                  <a:srgbClr val="262623"/>
                </a:solidFill>
                <a:latin typeface="Arial"/>
                <a:cs typeface="Arial"/>
              </a:rPr>
              <a:t>Life</a:t>
            </a:r>
            <a:r>
              <a:rPr sz="1800" spc="-21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262623"/>
                </a:solidFill>
                <a:latin typeface="Arial"/>
                <a:cs typeface="Arial"/>
              </a:rPr>
              <a:t>is</a:t>
            </a:r>
            <a:r>
              <a:rPr sz="1800" spc="-13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262623"/>
                </a:solidFill>
                <a:latin typeface="Arial"/>
                <a:cs typeface="Arial"/>
              </a:rPr>
              <a:t>organised</a:t>
            </a:r>
            <a:r>
              <a:rPr sz="1800" spc="3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262623"/>
                </a:solidFill>
                <a:latin typeface="Arial"/>
                <a:cs typeface="Arial"/>
              </a:rPr>
              <a:t>around</a:t>
            </a:r>
            <a:r>
              <a:rPr sz="1800" spc="-4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262623"/>
                </a:solidFill>
                <a:latin typeface="Arial"/>
                <a:cs typeface="Arial"/>
              </a:rPr>
              <a:t>public</a:t>
            </a:r>
            <a:r>
              <a:rPr sz="1800" spc="-10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262623"/>
                </a:solidFill>
                <a:latin typeface="Arial"/>
                <a:cs typeface="Arial"/>
              </a:rPr>
              <a:t>trans</a:t>
            </a:r>
            <a:r>
              <a:rPr sz="1800" spc="70" dirty="0">
                <a:solidFill>
                  <a:srgbClr val="010100"/>
                </a:solidFill>
                <a:latin typeface="Arial"/>
                <a:cs typeface="Arial"/>
              </a:rPr>
              <a:t>i</a:t>
            </a:r>
            <a:r>
              <a:rPr sz="1800" spc="70" dirty="0">
                <a:solidFill>
                  <a:srgbClr val="262623"/>
                </a:solidFill>
                <a:latin typeface="Arial"/>
                <a:cs typeface="Arial"/>
              </a:rPr>
              <a:t>t</a:t>
            </a:r>
            <a:r>
              <a:rPr sz="1800" spc="70" dirty="0">
                <a:solidFill>
                  <a:srgbClr val="494946"/>
                </a:solidFill>
                <a:latin typeface="Arial"/>
                <a:cs typeface="Arial"/>
              </a:rPr>
              <a:t>,</a:t>
            </a:r>
            <a:r>
              <a:rPr sz="1800" spc="-260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pedestrian</a:t>
            </a:r>
            <a:r>
              <a:rPr sz="1800" spc="-4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activity,</a:t>
            </a:r>
            <a:r>
              <a:rPr sz="1800" spc="-15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50"/>
              </a:spcBef>
            </a:pP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high-density</a:t>
            </a:r>
            <a:r>
              <a:rPr sz="1800" spc="-7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liv</a:t>
            </a:r>
            <a:r>
              <a:rPr sz="1800" spc="55" dirty="0">
                <a:solidFill>
                  <a:srgbClr val="494946"/>
                </a:solidFill>
                <a:latin typeface="Arial"/>
                <a:cs typeface="Arial"/>
              </a:rPr>
              <a:t>i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ng</a:t>
            </a:r>
            <a:r>
              <a:rPr sz="1800" spc="55" dirty="0">
                <a:solidFill>
                  <a:srgbClr val="494946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5856" y="5068491"/>
            <a:ext cx="21272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35" dirty="0">
                <a:solidFill>
                  <a:srgbClr val="494946"/>
                </a:solidFill>
                <a:latin typeface="Arial"/>
                <a:cs typeface="Arial"/>
              </a:rPr>
              <a:t>Bl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93181" y="6140881"/>
            <a:ext cx="6892925" cy="2075814"/>
          </a:xfrm>
          <a:prstGeom prst="rect">
            <a:avLst/>
          </a:prstGeom>
        </p:spPr>
        <p:txBody>
          <a:bodyPr vert="horz" wrap="square" lIns="0" tIns="289560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2280"/>
              </a:spcBef>
            </a:pPr>
            <a:r>
              <a:rPr sz="3550" b="1" spc="204" dirty="0">
                <a:solidFill>
                  <a:srgbClr val="E6480E"/>
                </a:solidFill>
                <a:latin typeface="Arial"/>
                <a:cs typeface="Arial"/>
              </a:rPr>
              <a:t>The</a:t>
            </a:r>
            <a:r>
              <a:rPr sz="3550" b="1" spc="-465" dirty="0">
                <a:solidFill>
                  <a:srgbClr val="E6480E"/>
                </a:solidFill>
                <a:latin typeface="Arial"/>
                <a:cs typeface="Arial"/>
              </a:rPr>
              <a:t> </a:t>
            </a:r>
            <a:r>
              <a:rPr sz="3550" b="1" spc="50" dirty="0">
                <a:solidFill>
                  <a:srgbClr val="E6480E"/>
                </a:solidFill>
                <a:latin typeface="Arial"/>
                <a:cs typeface="Arial"/>
              </a:rPr>
              <a:t>Sprawling</a:t>
            </a:r>
            <a:r>
              <a:rPr sz="3550" b="1" spc="-350" dirty="0">
                <a:solidFill>
                  <a:srgbClr val="E6480E"/>
                </a:solidFill>
                <a:latin typeface="Arial"/>
                <a:cs typeface="Arial"/>
              </a:rPr>
              <a:t> </a:t>
            </a:r>
            <a:r>
              <a:rPr sz="3550" b="1" spc="40" dirty="0">
                <a:solidFill>
                  <a:srgbClr val="E6480E"/>
                </a:solidFill>
                <a:latin typeface="Arial"/>
                <a:cs typeface="Arial"/>
              </a:rPr>
              <a:t>Megalopolis</a:t>
            </a:r>
            <a:endParaRPr sz="3550">
              <a:latin typeface="Arial"/>
              <a:cs typeface="Arial"/>
            </a:endParaRPr>
          </a:p>
          <a:p>
            <a:pPr marL="12700" marR="5080" indent="-15240" algn="ctr">
              <a:lnSpc>
                <a:spcPct val="99300"/>
              </a:lnSpc>
              <a:spcBef>
                <a:spcPts val="1120"/>
              </a:spcBef>
            </a:pPr>
            <a:r>
              <a:rPr sz="1800" spc="85" dirty="0">
                <a:solidFill>
                  <a:srgbClr val="262623"/>
                </a:solidFill>
                <a:latin typeface="Arial"/>
                <a:cs typeface="Arial"/>
              </a:rPr>
              <a:t>Los</a:t>
            </a:r>
            <a:r>
              <a:rPr sz="1800" spc="-6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Angeles</a:t>
            </a:r>
            <a:r>
              <a:rPr sz="1800" dirty="0">
                <a:solidFill>
                  <a:srgbClr val="494946"/>
                </a:solidFill>
                <a:latin typeface="Arial"/>
                <a:cs typeface="Arial"/>
              </a:rPr>
              <a:t>,</a:t>
            </a:r>
            <a:r>
              <a:rPr sz="1800" spc="-90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a</a:t>
            </a:r>
            <a:r>
              <a:rPr sz="1800" spc="-14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vast,</a:t>
            </a:r>
            <a:r>
              <a:rPr sz="1800" spc="-254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car</a:t>
            </a:r>
            <a:r>
              <a:rPr sz="1800" dirty="0">
                <a:solidFill>
                  <a:srgbClr val="494946"/>
                </a:solidFill>
                <a:latin typeface="Arial"/>
                <a:cs typeface="Arial"/>
              </a:rPr>
              <a:t>-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dependent</a:t>
            </a:r>
            <a:r>
              <a:rPr sz="1800" spc="21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region.</a:t>
            </a:r>
            <a:r>
              <a:rPr sz="1800" spc="-15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sz="1800" spc="-30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262623"/>
                </a:solidFill>
                <a:latin typeface="Arial"/>
                <a:cs typeface="Arial"/>
              </a:rPr>
              <a:t>City</a:t>
            </a:r>
            <a:r>
              <a:rPr sz="1800" spc="-8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sz="1800" spc="-9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Los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Angeles</a:t>
            </a:r>
            <a:r>
              <a:rPr sz="1800" spc="-9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262623"/>
                </a:solidFill>
                <a:latin typeface="Arial"/>
                <a:cs typeface="Arial"/>
              </a:rPr>
              <a:t>hasa</a:t>
            </a:r>
            <a:r>
              <a:rPr sz="1800" spc="-13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density</a:t>
            </a:r>
            <a:r>
              <a:rPr sz="1800" spc="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sz="1800" spc="-8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62623"/>
                </a:solidFill>
                <a:latin typeface="Arial"/>
                <a:cs typeface="Arial"/>
              </a:rPr>
              <a:t>7,754</a:t>
            </a:r>
            <a:r>
              <a:rPr sz="1800" spc="-19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people</a:t>
            </a:r>
            <a:r>
              <a:rPr sz="1800" spc="-1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262623"/>
                </a:solidFill>
                <a:latin typeface="Arial"/>
                <a:cs typeface="Arial"/>
              </a:rPr>
              <a:t>per</a:t>
            </a:r>
            <a:r>
              <a:rPr sz="1800" spc="-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2623"/>
                </a:solidFill>
                <a:latin typeface="Arial"/>
                <a:cs typeface="Arial"/>
              </a:rPr>
              <a:t>square</a:t>
            </a:r>
            <a:r>
              <a:rPr sz="1800" spc="-12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262623"/>
                </a:solidFill>
                <a:latin typeface="Arial"/>
                <a:cs typeface="Arial"/>
              </a:rPr>
              <a:t>mi</a:t>
            </a:r>
            <a:r>
              <a:rPr sz="1800" spc="140" dirty="0">
                <a:solidFill>
                  <a:srgbClr val="494946"/>
                </a:solidFill>
                <a:latin typeface="Arial"/>
                <a:cs typeface="Arial"/>
              </a:rPr>
              <a:t>l</a:t>
            </a:r>
            <a:r>
              <a:rPr sz="1800" spc="140" dirty="0">
                <a:solidFill>
                  <a:srgbClr val="262623"/>
                </a:solidFill>
                <a:latin typeface="Arial"/>
                <a:cs typeface="Arial"/>
              </a:rPr>
              <a:t>e-</a:t>
            </a:r>
            <a:r>
              <a:rPr sz="1800" spc="150" dirty="0">
                <a:solidFill>
                  <a:srgbClr val="262623"/>
                </a:solidFill>
                <a:latin typeface="Arial"/>
                <a:cs typeface="Arial"/>
              </a:rPr>
              <a:t>roughly</a:t>
            </a:r>
            <a:r>
              <a:rPr sz="1800" spc="4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262623"/>
                </a:solidFill>
                <a:latin typeface="Arial"/>
                <a:cs typeface="Arial"/>
              </a:rPr>
              <a:t>a </a:t>
            </a:r>
            <a:r>
              <a:rPr sz="1800" spc="70" dirty="0">
                <a:solidFill>
                  <a:srgbClr val="262623"/>
                </a:solidFill>
                <a:latin typeface="Arial"/>
                <a:cs typeface="Arial"/>
              </a:rPr>
              <a:t>quarter</a:t>
            </a:r>
            <a:r>
              <a:rPr sz="1800" spc="-10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sz="1800" spc="-10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14" dirty="0">
                <a:solidFill>
                  <a:srgbClr val="262623"/>
                </a:solidFill>
                <a:latin typeface="Arial"/>
                <a:cs typeface="Arial"/>
              </a:rPr>
              <a:t>NYC's-</a:t>
            </a:r>
            <a:r>
              <a:rPr sz="1800" spc="110" dirty="0">
                <a:solidFill>
                  <a:srgbClr val="262623"/>
                </a:solidFill>
                <a:latin typeface="Arial"/>
                <a:cs typeface="Arial"/>
              </a:rPr>
              <a:t>shaping</a:t>
            </a:r>
            <a:r>
              <a:rPr sz="1800" spc="-114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262623"/>
                </a:solidFill>
                <a:latin typeface="Arial"/>
                <a:cs typeface="Arial"/>
              </a:rPr>
              <a:t>a</a:t>
            </a:r>
            <a:r>
              <a:rPr sz="1800" spc="-18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lifesty</a:t>
            </a:r>
            <a:r>
              <a:rPr sz="1800" spc="50" dirty="0">
                <a:solidFill>
                  <a:srgbClr val="494946"/>
                </a:solidFill>
                <a:latin typeface="Arial"/>
                <a:cs typeface="Arial"/>
              </a:rPr>
              <a:t>l</a:t>
            </a:r>
            <a:r>
              <a:rPr sz="1800" spc="50" dirty="0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sz="1800" spc="-8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262623"/>
                </a:solidFill>
                <a:latin typeface="Arial"/>
                <a:cs typeface="Arial"/>
              </a:rPr>
              <a:t>built</a:t>
            </a:r>
            <a:r>
              <a:rPr sz="1800" spc="-13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62623"/>
                </a:solidFill>
                <a:latin typeface="Arial"/>
                <a:cs typeface="Arial"/>
              </a:rPr>
              <a:t>around</a:t>
            </a:r>
            <a:r>
              <a:rPr sz="1800" spc="-18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262623"/>
                </a:solidFill>
                <a:latin typeface="Arial"/>
                <a:cs typeface="Arial"/>
              </a:rPr>
              <a:t>automotive </a:t>
            </a:r>
            <a:r>
              <a:rPr sz="1800" spc="70" dirty="0">
                <a:solidFill>
                  <a:srgbClr val="262623"/>
                </a:solidFill>
                <a:latin typeface="Arial"/>
                <a:cs typeface="Arial"/>
              </a:rPr>
              <a:t>transport</a:t>
            </a:r>
            <a:r>
              <a:rPr sz="1800" spc="-12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262623"/>
                </a:solidFill>
                <a:latin typeface="Arial"/>
                <a:cs typeface="Arial"/>
              </a:rPr>
              <a:t>and</a:t>
            </a:r>
            <a:r>
              <a:rPr sz="1800" spc="-18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62623"/>
                </a:solidFill>
                <a:latin typeface="Arial"/>
                <a:cs typeface="Arial"/>
              </a:rPr>
              <a:t>dispersed</a:t>
            </a:r>
            <a:r>
              <a:rPr sz="1800" spc="-14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262623"/>
                </a:solidFill>
                <a:latin typeface="Arial"/>
                <a:cs typeface="Arial"/>
              </a:rPr>
              <a:t>communities.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59868" y="8528115"/>
            <a:ext cx="9599930" cy="8070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52855" marR="5080" indent="-1240790">
              <a:lnSpc>
                <a:spcPts val="3020"/>
              </a:lnSpc>
              <a:spcBef>
                <a:spcPts val="295"/>
              </a:spcBef>
            </a:pPr>
            <a:r>
              <a:rPr sz="2600" dirty="0">
                <a:solidFill>
                  <a:srgbClr val="494946"/>
                </a:solidFill>
                <a:latin typeface="Arial"/>
                <a:cs typeface="Arial"/>
              </a:rPr>
              <a:t>How</a:t>
            </a:r>
            <a:r>
              <a:rPr sz="2600" spc="-10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94946"/>
                </a:solidFill>
                <a:latin typeface="Arial"/>
                <a:cs typeface="Arial"/>
              </a:rPr>
              <a:t>do </a:t>
            </a:r>
            <a:r>
              <a:rPr sz="2600" spc="70" dirty="0">
                <a:solidFill>
                  <a:srgbClr val="494946"/>
                </a:solidFill>
                <a:latin typeface="Arial"/>
                <a:cs typeface="Arial"/>
              </a:rPr>
              <a:t>these</a:t>
            </a:r>
            <a:r>
              <a:rPr sz="2600" spc="-14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494946"/>
                </a:solidFill>
                <a:latin typeface="Arial"/>
                <a:cs typeface="Arial"/>
              </a:rPr>
              <a:t>profound</a:t>
            </a:r>
            <a:r>
              <a:rPr sz="2600" spc="-6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494946"/>
                </a:solidFill>
                <a:latin typeface="Arial"/>
                <a:cs typeface="Arial"/>
              </a:rPr>
              <a:t>differences</a:t>
            </a:r>
            <a:r>
              <a:rPr sz="2600" spc="-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94946"/>
                </a:solidFill>
                <a:latin typeface="Arial"/>
                <a:cs typeface="Arial"/>
              </a:rPr>
              <a:t>in</a:t>
            </a:r>
            <a:r>
              <a:rPr sz="2600" spc="-90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494946"/>
                </a:solidFill>
                <a:latin typeface="Arial"/>
                <a:cs typeface="Arial"/>
              </a:rPr>
              <a:t>urban</a:t>
            </a:r>
            <a:r>
              <a:rPr sz="2600" spc="-13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494946"/>
                </a:solidFill>
                <a:latin typeface="Arial"/>
                <a:cs typeface="Arial"/>
              </a:rPr>
              <a:t>structure</a:t>
            </a:r>
            <a:r>
              <a:rPr sz="2600" spc="-8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494946"/>
                </a:solidFill>
                <a:latin typeface="Arial"/>
                <a:cs typeface="Arial"/>
              </a:rPr>
              <a:t>influence </a:t>
            </a:r>
            <a:r>
              <a:rPr sz="2600" spc="80" dirty="0">
                <a:solidFill>
                  <a:srgbClr val="494946"/>
                </a:solidFill>
                <a:latin typeface="Arial"/>
                <a:cs typeface="Arial"/>
              </a:rPr>
              <a:t>patterns</a:t>
            </a:r>
            <a:r>
              <a:rPr sz="2600" spc="-18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494946"/>
                </a:solidFill>
                <a:latin typeface="Arial"/>
                <a:cs typeface="Arial"/>
              </a:rPr>
              <a:t>of</a:t>
            </a:r>
            <a:r>
              <a:rPr sz="2600" spc="-50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94946"/>
                </a:solidFill>
                <a:latin typeface="Arial"/>
                <a:cs typeface="Arial"/>
              </a:rPr>
              <a:t>law</a:t>
            </a:r>
            <a:r>
              <a:rPr sz="2600" spc="-14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srgbClr val="494946"/>
                </a:solidFill>
                <a:latin typeface="Arial"/>
                <a:cs typeface="Arial"/>
              </a:rPr>
              <a:t>enforcement</a:t>
            </a:r>
            <a:r>
              <a:rPr sz="2600" spc="45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494946"/>
                </a:solidFill>
                <a:latin typeface="Arial"/>
                <a:cs typeface="Arial"/>
              </a:rPr>
              <a:t>and</a:t>
            </a:r>
            <a:r>
              <a:rPr sz="2600" spc="-229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494946"/>
                </a:solidFill>
                <a:latin typeface="Arial"/>
                <a:cs typeface="Arial"/>
              </a:rPr>
              <a:t>public</a:t>
            </a:r>
            <a:r>
              <a:rPr sz="2600" spc="-90" dirty="0">
                <a:solidFill>
                  <a:srgbClr val="494946"/>
                </a:solidFill>
                <a:latin typeface="Arial"/>
                <a:cs typeface="Arial"/>
              </a:rPr>
              <a:t> </a:t>
            </a:r>
            <a:r>
              <a:rPr sz="2600" spc="45" dirty="0">
                <a:solidFill>
                  <a:srgbClr val="494946"/>
                </a:solidFill>
                <a:latin typeface="Arial"/>
                <a:cs typeface="Arial"/>
              </a:rPr>
              <a:t>safety?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4075" y="2451364"/>
            <a:ext cx="1757695" cy="18893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20087" y="2451364"/>
            <a:ext cx="1757695" cy="188938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62546" y="2451363"/>
          <a:ext cx="1019175" cy="122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R="77470" algn="r">
                        <a:lnSpc>
                          <a:spcPts val="2310"/>
                        </a:lnSpc>
                      </a:pPr>
                      <a:r>
                        <a:rPr sz="2000" spc="-50" dirty="0">
                          <a:solidFill>
                            <a:srgbClr val="C86438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R="69215" algn="r">
                        <a:lnSpc>
                          <a:spcPts val="2415"/>
                        </a:lnSpc>
                      </a:pPr>
                      <a:r>
                        <a:rPr sz="2200" spc="-50" dirty="0">
                          <a:solidFill>
                            <a:srgbClr val="C86438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215313" y="2527960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2371" y="2527960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72477" y="3676913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63000" y="2604557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51628" y="2604557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51855" y="3255630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>
                <a:moveTo>
                  <a:pt x="0" y="0"/>
                </a:moveTo>
                <a:lnTo>
                  <a:pt x="106990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64061" y="3268397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60878" y="3268397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22137" y="3268397"/>
            <a:ext cx="662940" cy="0"/>
          </a:xfrm>
          <a:custGeom>
            <a:avLst/>
            <a:gdLst/>
            <a:ahLst/>
            <a:cxnLst/>
            <a:rect l="l" t="t" r="r" b="b"/>
            <a:pathLst>
              <a:path w="662939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15843" y="4034365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04471" y="4034365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815010" y="2444980"/>
          <a:ext cx="1037590" cy="123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R="91440" algn="r">
                        <a:lnSpc>
                          <a:spcPts val="2310"/>
                        </a:lnSpc>
                      </a:pPr>
                      <a:r>
                        <a:rPr sz="2000" spc="-50" dirty="0">
                          <a:solidFill>
                            <a:srgbClr val="233D4F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R="72390" algn="r">
                        <a:lnSpc>
                          <a:spcPts val="2415"/>
                        </a:lnSpc>
                      </a:pPr>
                      <a:r>
                        <a:rPr sz="2200" dirty="0">
                          <a:solidFill>
                            <a:srgbClr val="0C314F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r">
                        <a:lnSpc>
                          <a:spcPts val="2415"/>
                        </a:lnSpc>
                        <a:tabLst>
                          <a:tab pos="851535" algn="l"/>
                        </a:tabLst>
                      </a:pPr>
                      <a:r>
                        <a:rPr sz="2350" spc="-640" dirty="0">
                          <a:solidFill>
                            <a:srgbClr val="0C314F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sz="2350" dirty="0">
                          <a:solidFill>
                            <a:srgbClr val="0C31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000" spc="-1604" baseline="8333" dirty="0">
                          <a:solidFill>
                            <a:srgbClr val="233D4F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2350" spc="-565" dirty="0">
                          <a:solidFill>
                            <a:srgbClr val="0C314F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221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25"/>
              </a:spcBef>
            </a:pPr>
            <a:r>
              <a:rPr sz="4700" spc="-135" dirty="0">
                <a:solidFill>
                  <a:srgbClr val="1C1C1A"/>
                </a:solidFill>
              </a:rPr>
              <a:t>Forging</a:t>
            </a:r>
            <a:r>
              <a:rPr sz="4700" spc="-275" dirty="0">
                <a:solidFill>
                  <a:srgbClr val="1C1C1A"/>
                </a:solidFill>
              </a:rPr>
              <a:t> </a:t>
            </a:r>
            <a:r>
              <a:rPr sz="4700" dirty="0">
                <a:solidFill>
                  <a:srgbClr val="1C1C1A"/>
                </a:solidFill>
              </a:rPr>
              <a:t>the</a:t>
            </a:r>
            <a:r>
              <a:rPr sz="4700" spc="-490" dirty="0">
                <a:solidFill>
                  <a:srgbClr val="1C1C1A"/>
                </a:solidFill>
              </a:rPr>
              <a:t> </a:t>
            </a:r>
            <a:r>
              <a:rPr sz="4700" spc="-185" dirty="0">
                <a:solidFill>
                  <a:srgbClr val="1C1C1A"/>
                </a:solidFill>
              </a:rPr>
              <a:t>Tools</a:t>
            </a:r>
            <a:r>
              <a:rPr sz="4700" spc="-465" dirty="0">
                <a:solidFill>
                  <a:srgbClr val="1C1C1A"/>
                </a:solidFill>
              </a:rPr>
              <a:t> </a:t>
            </a:r>
            <a:r>
              <a:rPr sz="4700" spc="-75" dirty="0">
                <a:solidFill>
                  <a:srgbClr val="1C1C1A"/>
                </a:solidFill>
              </a:rPr>
              <a:t>for</a:t>
            </a:r>
            <a:r>
              <a:rPr sz="4700" spc="-350" dirty="0">
                <a:solidFill>
                  <a:srgbClr val="1C1C1A"/>
                </a:solidFill>
              </a:rPr>
              <a:t> </a:t>
            </a:r>
            <a:r>
              <a:rPr sz="4700" spc="180" dirty="0">
                <a:solidFill>
                  <a:srgbClr val="1C1C1A"/>
                </a:solidFill>
              </a:rPr>
              <a:t>a</a:t>
            </a:r>
            <a:r>
              <a:rPr sz="4700" spc="-640" dirty="0">
                <a:solidFill>
                  <a:srgbClr val="1C1C1A"/>
                </a:solidFill>
              </a:rPr>
              <a:t> </a:t>
            </a:r>
            <a:r>
              <a:rPr sz="4700" spc="-120" dirty="0">
                <a:solidFill>
                  <a:srgbClr val="1C1C1A"/>
                </a:solidFill>
              </a:rPr>
              <a:t>Fair</a:t>
            </a:r>
            <a:r>
              <a:rPr sz="4700" spc="-425" dirty="0">
                <a:solidFill>
                  <a:srgbClr val="1C1C1A"/>
                </a:solidFill>
              </a:rPr>
              <a:t> </a:t>
            </a:r>
            <a:r>
              <a:rPr sz="4700" spc="-85" dirty="0">
                <a:solidFill>
                  <a:srgbClr val="1C1C1A"/>
                </a:solidFill>
              </a:rPr>
              <a:t>Comparison</a:t>
            </a:r>
            <a:endParaRPr sz="4700"/>
          </a:p>
        </p:txBody>
      </p:sp>
      <p:sp>
        <p:nvSpPr>
          <p:cNvPr id="18" name="object 18"/>
          <p:cNvSpPr txBox="1"/>
          <p:nvPr/>
        </p:nvSpPr>
        <p:spPr>
          <a:xfrm>
            <a:off x="1980635" y="3949584"/>
            <a:ext cx="764540" cy="375285"/>
          </a:xfrm>
          <a:prstGeom prst="rect">
            <a:avLst/>
          </a:prstGeom>
          <a:solidFill>
            <a:srgbClr val="083456"/>
          </a:solidFill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50" b="1" spc="45" dirty="0">
                <a:solidFill>
                  <a:srgbClr val="E6F7FB"/>
                </a:solidFill>
                <a:latin typeface="Arial"/>
                <a:cs typeface="Arial"/>
              </a:rPr>
              <a:t>NYPD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3495" y="3949584"/>
            <a:ext cx="739140" cy="375285"/>
          </a:xfrm>
          <a:prstGeom prst="rect">
            <a:avLst/>
          </a:prstGeom>
          <a:solidFill>
            <a:srgbClr val="E45413"/>
          </a:solidFill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50" b="1" spc="-20" dirty="0">
                <a:solidFill>
                  <a:srgbClr val="FFE8CD"/>
                </a:solidFill>
                <a:latin typeface="Arial"/>
                <a:cs typeface="Arial"/>
              </a:rPr>
              <a:t>LAPD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53890" y="307690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12766">
            <a:solidFill>
              <a:srgbClr val="56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41190" y="2617391"/>
            <a:ext cx="440690" cy="561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0" b="1" i="1" spc="-25" dirty="0">
                <a:solidFill>
                  <a:srgbClr val="565B60"/>
                </a:solidFill>
                <a:latin typeface="Arial"/>
                <a:cs typeface="Arial"/>
              </a:rPr>
              <a:t>r'\</a:t>
            </a:r>
            <a:endParaRPr sz="35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20519" y="3498187"/>
            <a:ext cx="1821814" cy="0"/>
          </a:xfrm>
          <a:custGeom>
            <a:avLst/>
            <a:gdLst/>
            <a:ahLst/>
            <a:cxnLst/>
            <a:rect l="l" t="t" r="r" b="b"/>
            <a:pathLst>
              <a:path w="1821815">
                <a:moveTo>
                  <a:pt x="0" y="0"/>
                </a:moveTo>
                <a:lnTo>
                  <a:pt x="1821379" y="0"/>
                </a:lnTo>
              </a:path>
            </a:pathLst>
          </a:custGeom>
          <a:ln w="12766">
            <a:solidFill>
              <a:srgbClr val="56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07818" y="2802499"/>
            <a:ext cx="1900555" cy="845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27405" algn="l"/>
              </a:tabLst>
            </a:pPr>
            <a:r>
              <a:rPr sz="5350" spc="-1395" dirty="0">
                <a:solidFill>
                  <a:srgbClr val="565B60"/>
                </a:solidFill>
                <a:latin typeface="Arial"/>
                <a:cs typeface="Arial"/>
              </a:rPr>
              <a:t>&gt;</a:t>
            </a:r>
            <a:r>
              <a:rPr sz="5350" dirty="0">
                <a:solidFill>
                  <a:srgbClr val="565B60"/>
                </a:solidFill>
                <a:latin typeface="Arial"/>
                <a:cs typeface="Arial"/>
              </a:rPr>
              <a:t>	</a:t>
            </a:r>
            <a:r>
              <a:rPr sz="5350" spc="-375" dirty="0">
                <a:solidFill>
                  <a:srgbClr val="565B60"/>
                </a:solidFill>
                <a:latin typeface="Arial"/>
                <a:cs typeface="Arial"/>
              </a:rPr>
              <a:t>&gt;-</a:t>
            </a:r>
            <a:r>
              <a:rPr sz="5350" spc="-275" dirty="0">
                <a:solidFill>
                  <a:srgbClr val="565B60"/>
                </a:solidFill>
                <a:latin typeface="Arial"/>
                <a:cs typeface="Arial"/>
              </a:rPr>
              <a:t>-</a:t>
            </a:r>
            <a:r>
              <a:rPr sz="5350" spc="-525" dirty="0">
                <a:solidFill>
                  <a:srgbClr val="565B60"/>
                </a:solidFill>
                <a:latin typeface="Arial"/>
                <a:cs typeface="Arial"/>
              </a:rPr>
              <a:t>&gt;</a:t>
            </a:r>
            <a:endParaRPr sz="5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8043" y="3479104"/>
            <a:ext cx="647065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spc="-10" dirty="0">
                <a:solidFill>
                  <a:srgbClr val="565B60"/>
                </a:solidFill>
                <a:latin typeface="Arial"/>
                <a:cs typeface="Arial"/>
              </a:rPr>
              <a:t>\...,/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940084" y="3006582"/>
            <a:ext cx="153035" cy="438784"/>
            <a:chOff x="11940084" y="3006582"/>
            <a:chExt cx="153035" cy="438784"/>
          </a:xfrm>
        </p:grpSpPr>
        <p:sp>
          <p:nvSpPr>
            <p:cNvPr id="26" name="object 26"/>
            <p:cNvSpPr/>
            <p:nvPr/>
          </p:nvSpPr>
          <p:spPr>
            <a:xfrm>
              <a:off x="11940084" y="3006582"/>
              <a:ext cx="153035" cy="438784"/>
            </a:xfrm>
            <a:custGeom>
              <a:avLst/>
              <a:gdLst/>
              <a:ahLst/>
              <a:cxnLst/>
              <a:rect l="l" t="t" r="r" b="b"/>
              <a:pathLst>
                <a:path w="153034" h="438785">
                  <a:moveTo>
                    <a:pt x="152843" y="438234"/>
                  </a:moveTo>
                  <a:lnTo>
                    <a:pt x="0" y="438234"/>
                  </a:lnTo>
                  <a:lnTo>
                    <a:pt x="0" y="0"/>
                  </a:lnTo>
                  <a:lnTo>
                    <a:pt x="152843" y="0"/>
                  </a:lnTo>
                  <a:lnTo>
                    <a:pt x="152843" y="438234"/>
                  </a:lnTo>
                  <a:close/>
                </a:path>
              </a:pathLst>
            </a:custGeom>
            <a:solidFill>
              <a:srgbClr val="F2F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940084" y="3338610"/>
              <a:ext cx="153035" cy="13335"/>
            </a:xfrm>
            <a:custGeom>
              <a:avLst/>
              <a:gdLst/>
              <a:ahLst/>
              <a:cxnLst/>
              <a:rect l="l" t="t" r="r" b="b"/>
              <a:pathLst>
                <a:path w="153034" h="13335">
                  <a:moveTo>
                    <a:pt x="0" y="0"/>
                  </a:moveTo>
                  <a:lnTo>
                    <a:pt x="152843" y="0"/>
                  </a:lnTo>
                  <a:lnTo>
                    <a:pt x="152843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3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927384" y="3006758"/>
            <a:ext cx="13716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solidFill>
                  <a:srgbClr val="C3C3BF"/>
                </a:solidFill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86531" y="4382811"/>
            <a:ext cx="3897629" cy="227774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894080">
              <a:lnSpc>
                <a:spcPct val="100000"/>
              </a:lnSpc>
              <a:spcBef>
                <a:spcPts val="1795"/>
              </a:spcBef>
            </a:pPr>
            <a:r>
              <a:rPr sz="3300" b="1" spc="-135" dirty="0">
                <a:solidFill>
                  <a:srgbClr val="1C1C1A"/>
                </a:solidFill>
                <a:latin typeface="Arial"/>
                <a:cs typeface="Arial"/>
              </a:rPr>
              <a:t>1.</a:t>
            </a:r>
            <a:r>
              <a:rPr sz="3300" b="1" spc="-5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C1C1A"/>
                </a:solidFill>
                <a:latin typeface="Arial"/>
                <a:cs typeface="Arial"/>
              </a:rPr>
              <a:t>Sourcing</a:t>
            </a:r>
            <a:endParaRPr sz="3300">
              <a:latin typeface="Arial"/>
              <a:cs typeface="Arial"/>
            </a:endParaRPr>
          </a:p>
          <a:p>
            <a:pPr marL="12700" marR="5080" indent="64769">
              <a:lnSpc>
                <a:spcPts val="2710"/>
              </a:lnSpc>
              <a:spcBef>
                <a:spcPts val="1395"/>
              </a:spcBef>
            </a:pP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Began</a:t>
            </a:r>
            <a:r>
              <a:rPr sz="2350" spc="-1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with</a:t>
            </a:r>
            <a:r>
              <a:rPr sz="2350" spc="-30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over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5</a:t>
            </a:r>
            <a:r>
              <a:rPr sz="2350" spc="-1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million</a:t>
            </a:r>
            <a:r>
              <a:rPr sz="2350" spc="-21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raw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arrest</a:t>
            </a:r>
            <a:r>
              <a:rPr sz="2350" spc="-1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records</a:t>
            </a:r>
            <a:r>
              <a:rPr sz="2350" spc="-12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from</a:t>
            </a:r>
            <a:r>
              <a:rPr sz="2350" spc="-15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25" dirty="0">
                <a:solidFill>
                  <a:srgbClr val="1C1C1A"/>
                </a:solidFill>
                <a:latin typeface="Arial"/>
                <a:cs typeface="Arial"/>
              </a:rPr>
              <a:t>NYPD</a:t>
            </a:r>
            <a:r>
              <a:rPr sz="2350" spc="-1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and</a:t>
            </a:r>
            <a:endParaRPr sz="2350">
              <a:latin typeface="Arial"/>
              <a:cs typeface="Arial"/>
            </a:endParaRPr>
          </a:p>
          <a:p>
            <a:pPr marL="130810">
              <a:lnSpc>
                <a:spcPts val="2495"/>
              </a:lnSpc>
            </a:pPr>
            <a:r>
              <a:rPr sz="2350" spc="-140" dirty="0">
                <a:solidFill>
                  <a:srgbClr val="1C1C1A"/>
                </a:solidFill>
                <a:latin typeface="Arial"/>
                <a:cs typeface="Arial"/>
              </a:rPr>
              <a:t>1.3</a:t>
            </a:r>
            <a:r>
              <a:rPr sz="2350" spc="-15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million</a:t>
            </a:r>
            <a:r>
              <a:rPr sz="2350" spc="-25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from</a:t>
            </a:r>
            <a:r>
              <a:rPr sz="2350" spc="-2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1C1C1A"/>
                </a:solidFill>
                <a:latin typeface="Arial"/>
                <a:cs typeface="Arial"/>
              </a:rPr>
              <a:t>LAPD</a:t>
            </a:r>
            <a:r>
              <a:rPr sz="2350" spc="-22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public</a:t>
            </a:r>
            <a:endParaRPr sz="2350">
              <a:latin typeface="Arial"/>
              <a:cs typeface="Arial"/>
            </a:endParaRPr>
          </a:p>
          <a:p>
            <a:pPr marL="1146810">
              <a:lnSpc>
                <a:spcPts val="2765"/>
              </a:lnSpc>
            </a:pP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data</a:t>
            </a:r>
            <a:r>
              <a:rPr sz="2350" spc="-29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portals.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5681" y="4382811"/>
            <a:ext cx="4637405" cy="329882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765175">
              <a:lnSpc>
                <a:spcPct val="100000"/>
              </a:lnSpc>
              <a:spcBef>
                <a:spcPts val="1795"/>
              </a:spcBef>
            </a:pPr>
            <a:r>
              <a:rPr sz="3300" b="1" spc="65" dirty="0">
                <a:solidFill>
                  <a:srgbClr val="1C1C1A"/>
                </a:solidFill>
                <a:latin typeface="Arial"/>
                <a:cs typeface="Arial"/>
              </a:rPr>
              <a:t>2.</a:t>
            </a:r>
            <a:r>
              <a:rPr sz="3300" b="1" spc="-5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3300" b="1" spc="-35" dirty="0">
                <a:solidFill>
                  <a:srgbClr val="1C1C1A"/>
                </a:solidFill>
                <a:latin typeface="Arial"/>
                <a:cs typeface="Arial"/>
              </a:rPr>
              <a:t>Standardising</a:t>
            </a:r>
            <a:endParaRPr sz="3300">
              <a:latin typeface="Arial"/>
              <a:cs typeface="Arial"/>
            </a:endParaRPr>
          </a:p>
          <a:p>
            <a:pPr marL="137795" marR="145415" algn="ctr">
              <a:lnSpc>
                <a:spcPct val="94500"/>
              </a:lnSpc>
              <a:spcBef>
                <a:spcPts val="1365"/>
              </a:spcBef>
            </a:pP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Systematically</a:t>
            </a:r>
            <a:r>
              <a:rPr sz="2350" spc="-2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1C1C1A"/>
                </a:solidFill>
                <a:latin typeface="Arial"/>
                <a:cs typeface="Arial"/>
              </a:rPr>
              <a:t>cleaned,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validated,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and</a:t>
            </a:r>
            <a:r>
              <a:rPr sz="2350" spc="-1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harmonised</a:t>
            </a:r>
            <a:r>
              <a:rPr sz="2350" spc="-1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key</a:t>
            </a:r>
            <a:r>
              <a:rPr sz="2350" spc="-27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analytical fields.</a:t>
            </a:r>
            <a:endParaRPr sz="2350">
              <a:latin typeface="Arial"/>
              <a:cs typeface="Arial"/>
            </a:endParaRPr>
          </a:p>
          <a:p>
            <a:pPr marL="12700" marR="5080" indent="-20320" algn="ctr">
              <a:lnSpc>
                <a:spcPct val="95100"/>
              </a:lnSpc>
              <a:spcBef>
                <a:spcPts val="35"/>
              </a:spcBef>
            </a:pP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This</a:t>
            </a:r>
            <a:r>
              <a:rPr sz="2350" spc="-2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1C1C1A"/>
                </a:solidFill>
                <a:latin typeface="Arial"/>
                <a:cs typeface="Arial"/>
              </a:rPr>
              <a:t>involved</a:t>
            </a:r>
            <a:r>
              <a:rPr sz="2350" spc="-12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creating</a:t>
            </a:r>
            <a:r>
              <a:rPr sz="2350" spc="-10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common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categories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503"/>
                </a:solidFill>
                <a:latin typeface="Arial"/>
                <a:cs typeface="Arial"/>
              </a:rPr>
              <a:t>for</a:t>
            </a:r>
            <a:r>
              <a:rPr sz="2350" spc="-15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race,</a:t>
            </a:r>
            <a:r>
              <a:rPr sz="2350" spc="-31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age</a:t>
            </a:r>
            <a:r>
              <a:rPr sz="2350" spc="-22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groups,</a:t>
            </a:r>
            <a:r>
              <a:rPr sz="2350" spc="-27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and offence</a:t>
            </a:r>
            <a:r>
              <a:rPr sz="2350" spc="-19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types</a:t>
            </a:r>
            <a:r>
              <a:rPr sz="2350" spc="-2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to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enable</a:t>
            </a:r>
            <a:r>
              <a:rPr sz="2350" spc="-1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50" dirty="0">
                <a:solidFill>
                  <a:srgbClr val="1C1C1A"/>
                </a:solidFill>
                <a:latin typeface="Arial"/>
                <a:cs typeface="Arial"/>
              </a:rPr>
              <a:t>a</a:t>
            </a:r>
            <a:r>
              <a:rPr sz="2350" spc="-2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direct,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apples</a:t>
            </a:r>
            <a:r>
              <a:rPr sz="2350" spc="-30" dirty="0">
                <a:solidFill>
                  <a:srgbClr val="42423F"/>
                </a:solidFill>
                <a:latin typeface="Arial"/>
                <a:cs typeface="Arial"/>
              </a:rPr>
              <a:t>-</a:t>
            </a:r>
            <a:r>
              <a:rPr sz="2350" spc="-25" dirty="0">
                <a:solidFill>
                  <a:srgbClr val="050503"/>
                </a:solidFill>
                <a:latin typeface="Arial"/>
                <a:cs typeface="Arial"/>
              </a:rPr>
              <a:t>to</a:t>
            </a:r>
            <a:r>
              <a:rPr sz="2350" spc="-25" dirty="0">
                <a:solidFill>
                  <a:srgbClr val="2D2D2A"/>
                </a:solidFill>
                <a:latin typeface="Arial"/>
                <a:cs typeface="Arial"/>
              </a:rPr>
              <a:t>-</a:t>
            </a:r>
            <a:r>
              <a:rPr sz="2350" spc="-30" dirty="0">
                <a:solidFill>
                  <a:srgbClr val="2D2D2A"/>
                </a:solidFill>
                <a:latin typeface="Arial"/>
                <a:cs typeface="Arial"/>
              </a:rPr>
              <a:t>apples</a:t>
            </a:r>
            <a:r>
              <a:rPr sz="2350" spc="-254" dirty="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comparison.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78957" y="4382811"/>
            <a:ext cx="4489450" cy="295465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29360">
              <a:lnSpc>
                <a:spcPct val="100000"/>
              </a:lnSpc>
              <a:spcBef>
                <a:spcPts val="1795"/>
              </a:spcBef>
            </a:pPr>
            <a:r>
              <a:rPr sz="3300" b="1" spc="90" dirty="0">
                <a:solidFill>
                  <a:srgbClr val="1C1C1A"/>
                </a:solidFill>
                <a:latin typeface="Arial"/>
                <a:cs typeface="Arial"/>
              </a:rPr>
              <a:t>3.</a:t>
            </a:r>
            <a:r>
              <a:rPr sz="3300" b="1" spc="-43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C1C1A"/>
                </a:solidFill>
                <a:latin typeface="Arial"/>
                <a:cs typeface="Arial"/>
              </a:rPr>
              <a:t>Aligning</a:t>
            </a:r>
            <a:endParaRPr sz="3300">
              <a:latin typeface="Arial"/>
              <a:cs typeface="Arial"/>
            </a:endParaRPr>
          </a:p>
          <a:p>
            <a:pPr marL="12700" marR="5080" algn="ctr">
              <a:lnSpc>
                <a:spcPct val="94800"/>
              </a:lnSpc>
              <a:spcBef>
                <a:spcPts val="1360"/>
              </a:spcBef>
            </a:pPr>
            <a:r>
              <a:rPr sz="2350" spc="-40" dirty="0">
                <a:solidFill>
                  <a:srgbClr val="1C1C1A"/>
                </a:solidFill>
                <a:latin typeface="Arial"/>
                <a:cs typeface="Arial"/>
              </a:rPr>
              <a:t>Produced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two</a:t>
            </a:r>
            <a:r>
              <a:rPr sz="2350" spc="-2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structurally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identical </a:t>
            </a:r>
            <a:r>
              <a:rPr sz="2350" spc="-50" dirty="0">
                <a:solidFill>
                  <a:srgbClr val="050503"/>
                </a:solidFill>
                <a:latin typeface="Arial"/>
                <a:cs typeface="Arial"/>
              </a:rPr>
              <a:t>Produced</a:t>
            </a:r>
            <a:r>
              <a:rPr sz="2350" spc="-14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1C1C1A"/>
                </a:solidFill>
                <a:latin typeface="Arial"/>
                <a:cs typeface="Arial"/>
              </a:rPr>
              <a:t>two</a:t>
            </a:r>
            <a:r>
              <a:rPr sz="2350" spc="-2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structurally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identical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datasets</a:t>
            </a:r>
            <a:r>
              <a:rPr sz="2350" spc="-15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for</a:t>
            </a:r>
            <a:r>
              <a:rPr sz="2350" spc="-1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350" spc="-34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2010-</a:t>
            </a:r>
            <a:r>
              <a:rPr sz="2350" spc="-105" dirty="0">
                <a:solidFill>
                  <a:srgbClr val="1C1C1A"/>
                </a:solidFill>
                <a:latin typeface="Arial"/>
                <a:cs typeface="Arial"/>
              </a:rPr>
              <a:t>2019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period,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ensuring</a:t>
            </a:r>
            <a:r>
              <a:rPr sz="2350" spc="-229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all</a:t>
            </a:r>
            <a:r>
              <a:rPr sz="2350" spc="-2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1C1C1A"/>
                </a:solidFill>
                <a:latin typeface="Arial"/>
                <a:cs typeface="Arial"/>
              </a:rPr>
              <a:t>comparisons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 are</a:t>
            </a:r>
            <a:r>
              <a:rPr sz="2350" spc="-21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built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on</a:t>
            </a:r>
            <a:r>
              <a:rPr sz="2350" spc="-20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50" dirty="0">
                <a:solidFill>
                  <a:srgbClr val="1C1C1A"/>
                </a:solidFill>
                <a:latin typeface="Arial"/>
                <a:cs typeface="Arial"/>
              </a:rPr>
              <a:t>a</a:t>
            </a:r>
            <a:r>
              <a:rPr sz="2350" spc="-32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foundation</a:t>
            </a:r>
            <a:r>
              <a:rPr sz="2350" spc="-12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of</a:t>
            </a:r>
            <a:r>
              <a:rPr sz="2350" spc="-114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meticulously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prepared</a:t>
            </a:r>
            <a:r>
              <a:rPr sz="2350" spc="-15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and</a:t>
            </a:r>
            <a:r>
              <a:rPr sz="2350" spc="-2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1C1C1A"/>
                </a:solidFill>
                <a:latin typeface="Arial"/>
                <a:cs typeface="Arial"/>
              </a:rPr>
              <a:t>validated</a:t>
            </a:r>
            <a:r>
              <a:rPr sz="2350" spc="-7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data.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3774" y="8483434"/>
            <a:ext cx="148037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30" dirty="0">
                <a:solidFill>
                  <a:srgbClr val="1C1C1A"/>
                </a:solidFill>
                <a:latin typeface="Arial"/>
                <a:cs typeface="Arial"/>
              </a:rPr>
              <a:t>Key</a:t>
            </a:r>
            <a:r>
              <a:rPr sz="2350" spc="-1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25" dirty="0">
                <a:solidFill>
                  <a:srgbClr val="050503"/>
                </a:solidFill>
                <a:latin typeface="Arial"/>
                <a:cs typeface="Arial"/>
              </a:rPr>
              <a:t>Takeaway:</a:t>
            </a:r>
            <a:r>
              <a:rPr sz="2350" spc="-25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503"/>
                </a:solidFill>
                <a:latin typeface="Arial"/>
                <a:cs typeface="Arial"/>
              </a:rPr>
              <a:t>This</a:t>
            </a:r>
            <a:r>
              <a:rPr sz="2350" spc="-26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rigorous</a:t>
            </a:r>
            <a:r>
              <a:rPr sz="2350" spc="-22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process</a:t>
            </a:r>
            <a:r>
              <a:rPr sz="2350" spc="-2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ensures</a:t>
            </a:r>
            <a:r>
              <a:rPr sz="2350" spc="-23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our</a:t>
            </a:r>
            <a:r>
              <a:rPr sz="2350" spc="-15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investigation</a:t>
            </a:r>
            <a:r>
              <a:rPr sz="2350" spc="-10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1C1C1A"/>
                </a:solidFill>
                <a:latin typeface="Arial"/>
                <a:cs typeface="Arial"/>
              </a:rPr>
              <a:t>is</a:t>
            </a:r>
            <a:r>
              <a:rPr sz="2350" spc="-3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based</a:t>
            </a:r>
            <a:r>
              <a:rPr sz="2350" spc="-1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on</a:t>
            </a:r>
            <a:r>
              <a:rPr sz="2350" spc="-28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1C1C1A"/>
                </a:solidFill>
                <a:latin typeface="Arial"/>
                <a:cs typeface="Arial"/>
              </a:rPr>
              <a:t>reliable</a:t>
            </a:r>
            <a:r>
              <a:rPr sz="2350" spc="-17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and</a:t>
            </a:r>
            <a:r>
              <a:rPr sz="2350" spc="-30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directly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2D2D2A"/>
                </a:solidFill>
                <a:latin typeface="Arial"/>
                <a:cs typeface="Arial"/>
              </a:rPr>
              <a:t>comparab</a:t>
            </a:r>
            <a:r>
              <a:rPr sz="2350" spc="-40" dirty="0">
                <a:solidFill>
                  <a:srgbClr val="050503"/>
                </a:solidFill>
                <a:latin typeface="Arial"/>
                <a:cs typeface="Arial"/>
              </a:rPr>
              <a:t>le</a:t>
            </a:r>
            <a:r>
              <a:rPr sz="2350" spc="-28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evidence.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061" y="2221574"/>
            <a:ext cx="10648063" cy="58979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7015" y="345017"/>
            <a:ext cx="15677515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spc="-110" dirty="0">
                <a:solidFill>
                  <a:srgbClr val="030503"/>
                </a:solidFill>
                <a:latin typeface="Arial"/>
                <a:cs typeface="Arial"/>
              </a:rPr>
              <a:t>Clue</a:t>
            </a:r>
            <a:r>
              <a:rPr sz="3600" b="1" spc="-33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235" dirty="0">
                <a:solidFill>
                  <a:srgbClr val="030503"/>
                </a:solidFill>
                <a:latin typeface="Arial"/>
                <a:cs typeface="Arial"/>
              </a:rPr>
              <a:t>#1:</a:t>
            </a:r>
            <a:r>
              <a:rPr sz="3600" b="1" spc="-55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55" dirty="0">
                <a:solidFill>
                  <a:srgbClr val="030503"/>
                </a:solidFill>
                <a:latin typeface="Arial"/>
                <a:cs typeface="Arial"/>
              </a:rPr>
              <a:t>The</a:t>
            </a:r>
            <a:r>
              <a:rPr sz="3600" b="1" spc="-434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20" dirty="0">
                <a:solidFill>
                  <a:srgbClr val="030503"/>
                </a:solidFill>
                <a:latin typeface="Arial"/>
                <a:cs typeface="Arial"/>
              </a:rPr>
              <a:t>Timeline</a:t>
            </a:r>
            <a:r>
              <a:rPr sz="3600" b="1" spc="-26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50" dirty="0">
                <a:solidFill>
                  <a:srgbClr val="030503"/>
                </a:solidFill>
                <a:latin typeface="Arial"/>
                <a:cs typeface="Arial"/>
              </a:rPr>
              <a:t>Reveals</a:t>
            </a:r>
            <a:r>
              <a:rPr sz="3600" b="1" spc="-39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140" dirty="0">
                <a:solidFill>
                  <a:srgbClr val="030503"/>
                </a:solidFill>
                <a:latin typeface="Arial"/>
                <a:cs typeface="Arial"/>
              </a:rPr>
              <a:t>a</a:t>
            </a:r>
            <a:r>
              <a:rPr sz="3600" b="1" spc="-66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35" dirty="0">
                <a:solidFill>
                  <a:srgbClr val="030503"/>
                </a:solidFill>
                <a:latin typeface="Arial"/>
                <a:cs typeface="Arial"/>
              </a:rPr>
              <a:t>Consistent</a:t>
            </a:r>
            <a:r>
              <a:rPr sz="3600" b="1" spc="-18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85" dirty="0">
                <a:solidFill>
                  <a:srgbClr val="030503"/>
                </a:solidFill>
                <a:latin typeface="Arial"/>
                <a:cs typeface="Arial"/>
              </a:rPr>
              <a:t>Volume</a:t>
            </a:r>
            <a:r>
              <a:rPr sz="3600" b="1" spc="-29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10" dirty="0">
                <a:solidFill>
                  <a:srgbClr val="030503"/>
                </a:solidFill>
                <a:latin typeface="Arial"/>
                <a:cs typeface="Arial"/>
              </a:rPr>
              <a:t>Gap,</a:t>
            </a:r>
            <a:r>
              <a:rPr sz="3600" b="1" spc="-56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00" dirty="0">
                <a:solidFill>
                  <a:srgbClr val="030503"/>
                </a:solidFill>
                <a:latin typeface="Arial"/>
                <a:cs typeface="Arial"/>
              </a:rPr>
              <a:t>But</a:t>
            </a:r>
            <a:r>
              <a:rPr sz="3600" b="1" spc="-44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110" dirty="0">
                <a:solidFill>
                  <a:srgbClr val="030503"/>
                </a:solidFill>
                <a:latin typeface="Arial"/>
                <a:cs typeface="Arial"/>
              </a:rPr>
              <a:t>Identical</a:t>
            </a:r>
            <a:r>
              <a:rPr sz="3600" b="1" spc="-28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030503"/>
                </a:solidFill>
                <a:latin typeface="Arial"/>
                <a:cs typeface="Arial"/>
              </a:rPr>
              <a:t>Patterns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6882" y="1366307"/>
            <a:ext cx="490918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b="1" spc="-100" dirty="0">
                <a:solidFill>
                  <a:srgbClr val="1C1C1A"/>
                </a:solidFill>
                <a:latin typeface="Arial"/>
                <a:cs typeface="Arial"/>
              </a:rPr>
              <a:t>Total</a:t>
            </a:r>
            <a:r>
              <a:rPr sz="2600" b="1" spc="-18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600" b="1" spc="-75" dirty="0">
                <a:solidFill>
                  <a:srgbClr val="1C1C1A"/>
                </a:solidFill>
                <a:latin typeface="Arial"/>
                <a:cs typeface="Arial"/>
              </a:rPr>
              <a:t>Arrests</a:t>
            </a:r>
            <a:r>
              <a:rPr sz="2600" b="1" spc="-40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400" b="1" spc="120" dirty="0">
                <a:solidFill>
                  <a:srgbClr val="1C1C1A"/>
                </a:solidFill>
                <a:latin typeface="Arial"/>
                <a:cs typeface="Arial"/>
              </a:rPr>
              <a:t>by</a:t>
            </a:r>
            <a:r>
              <a:rPr sz="2400" b="1" spc="-32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600" b="1" spc="-110" dirty="0">
                <a:solidFill>
                  <a:srgbClr val="1C1C1A"/>
                </a:solidFill>
                <a:latin typeface="Arial"/>
                <a:cs typeface="Arial"/>
              </a:rPr>
              <a:t>Year</a:t>
            </a:r>
            <a:r>
              <a:rPr sz="2600" b="1" spc="-15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1C1C1A"/>
                </a:solidFill>
                <a:latin typeface="Arial"/>
                <a:cs typeface="Arial"/>
              </a:rPr>
              <a:t>(2010-</a:t>
            </a:r>
            <a:r>
              <a:rPr sz="2600" b="1" spc="-10" dirty="0">
                <a:solidFill>
                  <a:srgbClr val="1C1C1A"/>
                </a:solidFill>
                <a:latin typeface="Arial"/>
                <a:cs typeface="Arial"/>
              </a:rPr>
              <a:t>2019)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3052" y="1991849"/>
            <a:ext cx="59372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22</a:t>
            </a:r>
            <a:r>
              <a:rPr sz="1500" spc="-20" dirty="0">
                <a:solidFill>
                  <a:srgbClr val="4D4F4F"/>
                </a:solidFill>
                <a:latin typeface="Arial"/>
                <a:cs typeface="Arial"/>
              </a:rPr>
              <a:t>,</a:t>
            </a: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322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853" y="2451430"/>
            <a:ext cx="7556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0" dirty="0">
                <a:solidFill>
                  <a:srgbClr val="1C1C1A"/>
                </a:solidFill>
                <a:latin typeface="Arial"/>
                <a:cs typeface="Arial"/>
              </a:rPr>
              <a:t>400</a:t>
            </a:r>
            <a:r>
              <a:rPr sz="1500" spc="-10" dirty="0">
                <a:solidFill>
                  <a:srgbClr val="4D4F4F"/>
                </a:solidFill>
                <a:latin typeface="Arial"/>
                <a:cs typeface="Arial"/>
              </a:rPr>
              <a:t>,</a:t>
            </a:r>
            <a:r>
              <a:rPr sz="1500" spc="-10" dirty="0">
                <a:solidFill>
                  <a:srgbClr val="343431"/>
                </a:solidFill>
                <a:latin typeface="Arial"/>
                <a:cs typeface="Arial"/>
              </a:rPr>
              <a:t>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121" y="3830174"/>
            <a:ext cx="77152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45" dirty="0">
                <a:solidFill>
                  <a:srgbClr val="343431"/>
                </a:solidFill>
                <a:latin typeface="Arial"/>
                <a:cs typeface="Arial"/>
              </a:rPr>
              <a:t>300,000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436" y="3632299"/>
            <a:ext cx="255904" cy="707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675" spc="-1732" baseline="-19975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950" spc="-25" dirty="0">
                <a:solidFill>
                  <a:srgbClr val="343431"/>
                </a:solidFill>
                <a:latin typeface="Arial"/>
                <a:cs typeface="Arial"/>
              </a:rPr>
              <a:t>Ill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556" y="4264223"/>
            <a:ext cx="1555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solidFill>
                  <a:srgbClr val="343431"/>
                </a:solidFill>
                <a:latin typeface="Arial"/>
                <a:cs typeface="Arial"/>
              </a:rPr>
              <a:t>Ul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415" y="4372736"/>
            <a:ext cx="1733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25" dirty="0">
                <a:solidFill>
                  <a:srgbClr val="343431"/>
                </a:solidFill>
                <a:latin typeface="Arial"/>
                <a:cs typeface="Arial"/>
              </a:rPr>
              <a:t>Q)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876" y="4500397"/>
            <a:ext cx="1720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343431"/>
                </a:solidFill>
                <a:latin typeface="Arial"/>
                <a:cs typeface="Arial"/>
              </a:rPr>
              <a:t>l::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468" y="4653591"/>
            <a:ext cx="17335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25" dirty="0">
                <a:solidFill>
                  <a:srgbClr val="343431"/>
                </a:solidFill>
                <a:latin typeface="Arial"/>
                <a:cs typeface="Arial"/>
              </a:rPr>
              <a:t>&lt;(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7520" y="4449331"/>
            <a:ext cx="216535" cy="798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035"/>
              </a:lnSpc>
              <a:spcBef>
                <a:spcPts val="125"/>
              </a:spcBef>
            </a:pPr>
            <a:r>
              <a:rPr sz="4850" spc="-1475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1250" spc="-645" dirty="0">
                <a:solidFill>
                  <a:srgbClr val="1C1C1A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  <a:p>
            <a:pPr marL="45720">
              <a:lnSpc>
                <a:spcPts val="1015"/>
              </a:lnSpc>
            </a:pPr>
            <a:r>
              <a:rPr sz="1500" spc="-204" dirty="0">
                <a:solidFill>
                  <a:srgbClr val="1C1C1A"/>
                </a:solidFill>
                <a:latin typeface="Arial"/>
                <a:cs typeface="Arial"/>
              </a:rPr>
              <a:t>�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0491" y="5132322"/>
            <a:ext cx="102298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390" dirty="0">
                <a:solidFill>
                  <a:srgbClr val="343431"/>
                </a:solidFill>
                <a:latin typeface="Arial"/>
                <a:cs typeface="Arial"/>
              </a:rPr>
              <a:t>_2l</a:t>
            </a:r>
            <a:r>
              <a:rPr sz="2000" spc="-45" dirty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43431"/>
                </a:solidFill>
                <a:latin typeface="Arial"/>
                <a:cs typeface="Arial"/>
              </a:rPr>
              <a:t>200,000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506" y="5387644"/>
            <a:ext cx="18923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30" dirty="0">
                <a:solidFill>
                  <a:srgbClr val="1C1C1A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411" y="5425943"/>
            <a:ext cx="2838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450" spc="-967" baseline="-33816" dirty="0">
                <a:solidFill>
                  <a:srgbClr val="343431"/>
                </a:solidFill>
                <a:latin typeface="Times New Roman"/>
                <a:cs typeface="Times New Roman"/>
              </a:rPr>
              <a:t>z</a:t>
            </a:r>
            <a:r>
              <a:rPr sz="1200" spc="30" dirty="0">
                <a:solidFill>
                  <a:srgbClr val="343431"/>
                </a:solidFill>
                <a:latin typeface="Arial"/>
                <a:cs typeface="Arial"/>
              </a:rPr>
              <a:t>:::,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722" y="6574896"/>
            <a:ext cx="72326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0" dirty="0">
                <a:solidFill>
                  <a:srgbClr val="343431"/>
                </a:solidFill>
                <a:latin typeface="Arial"/>
                <a:cs typeface="Arial"/>
              </a:rPr>
              <a:t>100</a:t>
            </a:r>
            <a:r>
              <a:rPr sz="1500" spc="-10" dirty="0">
                <a:solidFill>
                  <a:srgbClr val="4D4F4F"/>
                </a:solidFill>
                <a:latin typeface="Arial"/>
                <a:cs typeface="Arial"/>
              </a:rPr>
              <a:t>,</a:t>
            </a:r>
            <a:r>
              <a:rPr sz="1500" spc="-10" dirty="0">
                <a:solidFill>
                  <a:srgbClr val="343431"/>
                </a:solidFill>
                <a:latin typeface="Arial"/>
                <a:cs typeface="Arial"/>
              </a:rPr>
              <a:t>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5053" y="8106833"/>
            <a:ext cx="4508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2010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4655" y="2540793"/>
            <a:ext cx="25717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solidFill>
                  <a:srgbClr val="314456"/>
                </a:solidFill>
                <a:latin typeface="Arial"/>
                <a:cs typeface="Arial"/>
              </a:rPr>
              <a:t>,</a:t>
            </a:r>
            <a:r>
              <a:rPr sz="1500" spc="75" dirty="0">
                <a:solidFill>
                  <a:srgbClr val="314456"/>
                </a:solidFill>
                <a:latin typeface="Arial"/>
                <a:cs typeface="Arial"/>
              </a:rPr>
              <a:t>  </a:t>
            </a:r>
            <a:r>
              <a:rPr sz="1500" spc="-50" dirty="0">
                <a:solidFill>
                  <a:srgbClr val="314456"/>
                </a:solidFill>
                <a:latin typeface="Arial"/>
                <a:cs typeface="Arial"/>
              </a:rPr>
              <a:t>,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7594" y="2706754"/>
            <a:ext cx="6476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20139" y="2451430"/>
            <a:ext cx="722630" cy="66421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R="11430" algn="r">
              <a:lnSpc>
                <a:spcPct val="100000"/>
              </a:lnSpc>
              <a:spcBef>
                <a:spcPts val="810"/>
              </a:spcBef>
            </a:pPr>
            <a:r>
              <a:rPr sz="1500" spc="-10" dirty="0">
                <a:solidFill>
                  <a:srgbClr val="343431"/>
                </a:solidFill>
                <a:latin typeface="Arial"/>
                <a:cs typeface="Arial"/>
              </a:rPr>
              <a:t>382,925</a:t>
            </a:r>
            <a:endParaRPr sz="15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715"/>
              </a:spcBef>
              <a:tabLst>
                <a:tab pos="190500" algn="l"/>
              </a:tabLst>
            </a:pPr>
            <a:r>
              <a:rPr sz="1500" spc="-50" dirty="0">
                <a:solidFill>
                  <a:srgbClr val="314456"/>
                </a:solidFill>
                <a:latin typeface="Arial"/>
                <a:cs typeface="Arial"/>
              </a:rPr>
              <a:t>,</a:t>
            </a:r>
            <a:r>
              <a:rPr sz="1500" dirty="0">
                <a:solidFill>
                  <a:srgbClr val="314456"/>
                </a:solidFill>
                <a:latin typeface="Arial"/>
                <a:cs typeface="Arial"/>
              </a:rPr>
              <a:t>	</a:t>
            </a:r>
            <a:r>
              <a:rPr sz="1500" spc="-50" dirty="0">
                <a:solidFill>
                  <a:srgbClr val="314456"/>
                </a:solidFill>
                <a:latin typeface="Arial"/>
                <a:cs typeface="Arial"/>
              </a:rPr>
              <a:t>,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2777" y="2859947"/>
            <a:ext cx="67500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45" dirty="0">
                <a:solidFill>
                  <a:srgbClr val="343431"/>
                </a:solidFill>
                <a:latin typeface="Arial"/>
                <a:cs typeface="Arial"/>
              </a:rPr>
              <a:t>359,871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68442" y="3038674"/>
            <a:ext cx="622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47691" y="8106833"/>
            <a:ext cx="42735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40" dirty="0">
                <a:solidFill>
                  <a:srgbClr val="343431"/>
                </a:solidFill>
                <a:latin typeface="Arial"/>
                <a:cs typeface="Arial"/>
              </a:rPr>
              <a:t>201</a:t>
            </a:r>
            <a:r>
              <a:rPr sz="1500" spc="-40" dirty="0">
                <a:solidFill>
                  <a:srgbClr val="030503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79381" y="8106833"/>
            <a:ext cx="454659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36545" y="8106833"/>
            <a:ext cx="4508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1C1C1A"/>
                </a:solidFill>
                <a:latin typeface="Arial"/>
                <a:cs typeface="Arial"/>
              </a:rPr>
              <a:t>2013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15295" y="3600383"/>
            <a:ext cx="6476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87431" y="3581234"/>
            <a:ext cx="419734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2729" algn="l"/>
              </a:tabLst>
            </a:pPr>
            <a:r>
              <a:rPr sz="1750" spc="-5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r>
              <a:rPr sz="1750" dirty="0">
                <a:solidFill>
                  <a:srgbClr val="314456"/>
                </a:solidFill>
                <a:latin typeface="Arial"/>
                <a:cs typeface="Arial"/>
              </a:rPr>
              <a:t>	</a:t>
            </a:r>
            <a:r>
              <a:rPr sz="1950" spc="25" dirty="0">
                <a:solidFill>
                  <a:srgbClr val="4D4F4F"/>
                </a:solidFill>
                <a:latin typeface="Arial"/>
                <a:cs typeface="Arial"/>
              </a:rPr>
              <a:t>.</a:t>
            </a:r>
            <a:r>
              <a:rPr sz="1950" spc="25" dirty="0">
                <a:solidFill>
                  <a:srgbClr val="808382"/>
                </a:solidFill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68841" y="3766343"/>
            <a:ext cx="92900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solidFill>
                  <a:srgbClr val="343431"/>
                </a:solidFill>
                <a:latin typeface="Arial"/>
                <a:cs typeface="Arial"/>
              </a:rPr>
              <a:t>292</a:t>
            </a:r>
            <a:r>
              <a:rPr sz="1500" dirty="0">
                <a:solidFill>
                  <a:srgbClr val="4D4F4F"/>
                </a:solidFill>
                <a:latin typeface="Arial"/>
                <a:cs typeface="Arial"/>
              </a:rPr>
              <a:t>,</a:t>
            </a:r>
            <a:r>
              <a:rPr sz="1500" dirty="0">
                <a:solidFill>
                  <a:srgbClr val="343431"/>
                </a:solidFill>
                <a:latin typeface="Arial"/>
                <a:cs typeface="Arial"/>
              </a:rPr>
              <a:t>864</a:t>
            </a:r>
            <a:r>
              <a:rPr sz="1500" spc="70" dirty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2400" spc="-37" baseline="-34722" dirty="0">
                <a:solidFill>
                  <a:srgbClr val="314456"/>
                </a:solidFill>
                <a:latin typeface="Arial"/>
                <a:cs typeface="Arial"/>
              </a:rPr>
              <a:t>',</a:t>
            </a:r>
            <a:endParaRPr sz="2400" baseline="-34722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93710" y="8106833"/>
            <a:ext cx="4508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63611" y="8106833"/>
            <a:ext cx="4381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2015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08039" y="8106833"/>
            <a:ext cx="4508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2016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71738" y="4391884"/>
            <a:ext cx="8801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631190" algn="l"/>
              </a:tabLst>
            </a:pPr>
            <a:r>
              <a:rPr sz="2400" baseline="20833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r>
              <a:rPr sz="2400" spc="195" baseline="20833" dirty="0">
                <a:solidFill>
                  <a:srgbClr val="31445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343431"/>
                </a:solidFill>
                <a:latin typeface="Arial"/>
                <a:cs typeface="Arial"/>
              </a:rPr>
              <a:t>247</a:t>
            </a:r>
            <a:r>
              <a:rPr sz="1500" dirty="0">
                <a:solidFill>
                  <a:srgbClr val="343431"/>
                </a:solidFill>
                <a:latin typeface="Arial"/>
                <a:cs typeface="Arial"/>
              </a:rPr>
              <a:t>	</a:t>
            </a:r>
            <a:r>
              <a:rPr sz="1500" spc="-25" dirty="0">
                <a:solidFill>
                  <a:srgbClr val="343431"/>
                </a:solidFill>
                <a:latin typeface="Arial"/>
                <a:cs typeface="Arial"/>
              </a:rPr>
              <a:t>32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37675" y="4583377"/>
            <a:ext cx="139827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5920" algn="l"/>
                <a:tab pos="736600" algn="l"/>
              </a:tabLst>
            </a:pPr>
            <a:r>
              <a:rPr sz="1450" spc="-25" dirty="0">
                <a:solidFill>
                  <a:srgbClr val="343431"/>
                </a:solidFill>
                <a:latin typeface="Arial"/>
                <a:cs typeface="Arial"/>
              </a:rPr>
              <a:t>,4</a:t>
            </a:r>
            <a:r>
              <a:rPr sz="1450" dirty="0">
                <a:solidFill>
                  <a:srgbClr val="343431"/>
                </a:solidFill>
                <a:latin typeface="Arial"/>
                <a:cs typeface="Arial"/>
              </a:rPr>
              <a:t>	</a:t>
            </a:r>
            <a:r>
              <a:rPr sz="150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r>
              <a:rPr sz="1500" spc="300" dirty="0">
                <a:solidFill>
                  <a:srgbClr val="314456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314456"/>
                </a:solidFill>
                <a:latin typeface="Arial"/>
                <a:cs typeface="Arial"/>
              </a:rPr>
              <a:t>'</a:t>
            </a:r>
            <a:r>
              <a:rPr sz="1500" dirty="0">
                <a:solidFill>
                  <a:srgbClr val="314456"/>
                </a:solidFill>
                <a:latin typeface="Arial"/>
                <a:cs typeface="Arial"/>
              </a:rPr>
              <a:t>	</a:t>
            </a:r>
            <a:r>
              <a:rPr sz="1500" spc="-105" dirty="0">
                <a:solidFill>
                  <a:srgbClr val="343431"/>
                </a:solidFill>
                <a:latin typeface="Arial"/>
                <a:cs typeface="Arial"/>
              </a:rPr>
              <a:t>·232,711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77939" y="8106833"/>
            <a:ext cx="4381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2017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222367" y="8106833"/>
            <a:ext cx="4508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2018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292268" y="8106833"/>
            <a:ext cx="4381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343431"/>
                </a:solidFill>
                <a:latin typeface="Arial"/>
                <a:cs typeface="Arial"/>
              </a:rPr>
              <a:t>2019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7044" y="8213417"/>
            <a:ext cx="11393805" cy="92392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373505" algn="ctr">
              <a:lnSpc>
                <a:spcPct val="100000"/>
              </a:lnSpc>
              <a:spcBef>
                <a:spcPts val="980"/>
              </a:spcBef>
            </a:pPr>
            <a:r>
              <a:rPr sz="1900" spc="-20" dirty="0">
                <a:solidFill>
                  <a:srgbClr val="1C1C1A"/>
                </a:solidFill>
                <a:latin typeface="Arial"/>
                <a:cs typeface="Arial"/>
              </a:rPr>
              <a:t>Year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350" spc="60" dirty="0">
                <a:solidFill>
                  <a:srgbClr val="4D4F4F"/>
                </a:solidFill>
                <a:latin typeface="Arial"/>
                <a:cs typeface="Arial"/>
              </a:rPr>
              <a:t>If</a:t>
            </a:r>
            <a:r>
              <a:rPr sz="2350" spc="-31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4D4F4F"/>
                </a:solidFill>
                <a:latin typeface="Arial"/>
                <a:cs typeface="Arial"/>
              </a:rPr>
              <a:t>arrest</a:t>
            </a:r>
            <a:r>
              <a:rPr sz="2350" spc="-19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4D4F4F"/>
                </a:solidFill>
                <a:latin typeface="Arial"/>
                <a:cs typeface="Arial"/>
              </a:rPr>
              <a:t>volumes</a:t>
            </a:r>
            <a:r>
              <a:rPr sz="2350" spc="-229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50" dirty="0">
                <a:solidFill>
                  <a:srgbClr val="4D4F4F"/>
                </a:solidFill>
                <a:latin typeface="Arial"/>
                <a:cs typeface="Arial"/>
              </a:rPr>
              <a:t>aresodi</a:t>
            </a:r>
            <a:r>
              <a:rPr sz="2350" spc="50" dirty="0">
                <a:solidFill>
                  <a:srgbClr val="343431"/>
                </a:solidFill>
                <a:latin typeface="Arial"/>
                <a:cs typeface="Arial"/>
              </a:rPr>
              <a:t>ff</a:t>
            </a:r>
            <a:r>
              <a:rPr sz="2350" spc="50" dirty="0">
                <a:solidFill>
                  <a:srgbClr val="4D4F4F"/>
                </a:solidFill>
                <a:latin typeface="Arial"/>
                <a:cs typeface="Arial"/>
              </a:rPr>
              <a:t>erent,</a:t>
            </a:r>
            <a:r>
              <a:rPr sz="2350" spc="-35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why</a:t>
            </a:r>
            <a:r>
              <a:rPr sz="2350" spc="-36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are</a:t>
            </a:r>
            <a:r>
              <a:rPr sz="2350" spc="-40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4D4F4F"/>
                </a:solidFill>
                <a:latin typeface="Arial"/>
                <a:cs typeface="Arial"/>
              </a:rPr>
              <a:t>the</a:t>
            </a:r>
            <a:r>
              <a:rPr sz="2350" spc="-30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4D4F4F"/>
                </a:solidFill>
                <a:latin typeface="Arial"/>
                <a:cs typeface="Arial"/>
              </a:rPr>
              <a:t>temporal</a:t>
            </a:r>
            <a:r>
              <a:rPr sz="2350" spc="-26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patte</a:t>
            </a:r>
            <a:r>
              <a:rPr sz="2350" dirty="0">
                <a:solidFill>
                  <a:srgbClr val="343431"/>
                </a:solidFill>
                <a:latin typeface="Arial"/>
                <a:cs typeface="Arial"/>
              </a:rPr>
              <a:t>r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ns</a:t>
            </a:r>
            <a:r>
              <a:rPr sz="2350" spc="-33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4D4F4F"/>
                </a:solidFill>
                <a:latin typeface="Arial"/>
                <a:cs typeface="Arial"/>
              </a:rPr>
              <a:t>so</a:t>
            </a:r>
            <a:r>
              <a:rPr sz="2350" spc="-34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4D4F4F"/>
                </a:solidFill>
                <a:latin typeface="Arial"/>
                <a:cs typeface="Arial"/>
              </a:rPr>
              <a:t>similar?</a:t>
            </a:r>
            <a:r>
              <a:rPr sz="2350" spc="-204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This</a:t>
            </a:r>
            <a:r>
              <a:rPr sz="2350" spc="-26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4D4F4F"/>
                </a:solidFill>
                <a:latin typeface="Arial"/>
                <a:cs typeface="Arial"/>
              </a:rPr>
              <a:t>suggests</a:t>
            </a:r>
            <a:endParaRPr sz="23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7355" y="9121741"/>
            <a:ext cx="893953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the</a:t>
            </a:r>
            <a:r>
              <a:rPr sz="2350" spc="-35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answe</a:t>
            </a:r>
            <a:r>
              <a:rPr sz="2350" dirty="0">
                <a:solidFill>
                  <a:srgbClr val="343431"/>
                </a:solidFill>
                <a:latin typeface="Arial"/>
                <a:cs typeface="Arial"/>
              </a:rPr>
              <a:t>r</a:t>
            </a:r>
            <a:r>
              <a:rPr sz="2350" dirty="0">
                <a:solidFill>
                  <a:srgbClr val="4D4F4F"/>
                </a:solidFill>
                <a:latin typeface="Arial"/>
                <a:cs typeface="Arial"/>
              </a:rPr>
              <a:t>lies</a:t>
            </a:r>
            <a:r>
              <a:rPr sz="2350" spc="-25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4D4F4F"/>
                </a:solidFill>
                <a:latin typeface="Arial"/>
                <a:cs typeface="Arial"/>
              </a:rPr>
              <a:t>beyond</a:t>
            </a:r>
            <a:r>
              <a:rPr sz="2350" spc="-29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4D4F4F"/>
                </a:solidFill>
                <a:latin typeface="Arial"/>
                <a:cs typeface="Arial"/>
              </a:rPr>
              <a:t>simple</a:t>
            </a:r>
            <a:r>
              <a:rPr sz="2350" spc="-16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4D4F4F"/>
                </a:solidFill>
                <a:latin typeface="Arial"/>
                <a:cs typeface="Arial"/>
              </a:rPr>
              <a:t>policing</a:t>
            </a:r>
            <a:r>
              <a:rPr sz="2350" spc="-15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4D4F4F"/>
                </a:solidFill>
                <a:latin typeface="Arial"/>
                <a:cs typeface="Arial"/>
              </a:rPr>
              <a:t>schedu</a:t>
            </a:r>
            <a:r>
              <a:rPr sz="2350" spc="-25" dirty="0">
                <a:solidFill>
                  <a:srgbClr val="343431"/>
                </a:solidFill>
                <a:latin typeface="Arial"/>
                <a:cs typeface="Arial"/>
              </a:rPr>
              <a:t>l</a:t>
            </a:r>
            <a:r>
              <a:rPr sz="2350" spc="-25" dirty="0">
                <a:solidFill>
                  <a:srgbClr val="4D4F4F"/>
                </a:solidFill>
                <a:latin typeface="Arial"/>
                <a:cs typeface="Arial"/>
              </a:rPr>
              <a:t>es</a:t>
            </a:r>
            <a:r>
              <a:rPr sz="2350" spc="-19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50" dirty="0">
                <a:solidFill>
                  <a:srgbClr val="4D4F4F"/>
                </a:solidFill>
                <a:latin typeface="Arial"/>
                <a:cs typeface="Arial"/>
              </a:rPr>
              <a:t>or</a:t>
            </a:r>
            <a:r>
              <a:rPr sz="2350" spc="-180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4D4F4F"/>
                </a:solidFill>
                <a:latin typeface="Arial"/>
                <a:cs typeface="Arial"/>
              </a:rPr>
              <a:t>seasonal</a:t>
            </a:r>
            <a:r>
              <a:rPr sz="2350" spc="-5" dirty="0">
                <a:solidFill>
                  <a:srgbClr val="4D4F4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4D4F4F"/>
                </a:solidFill>
                <a:latin typeface="Arial"/>
                <a:cs typeface="Arial"/>
              </a:rPr>
              <a:t>factors.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610224" y="1430139"/>
            <a:ext cx="4327525" cy="2141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b="1" spc="-90" dirty="0">
                <a:solidFill>
                  <a:srgbClr val="1C1C1A"/>
                </a:solidFill>
                <a:latin typeface="Arial"/>
                <a:cs typeface="Arial"/>
              </a:rPr>
              <a:t>Key</a:t>
            </a:r>
            <a:r>
              <a:rPr sz="2600" b="1" spc="-33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1C1C1A"/>
                </a:solidFill>
                <a:latin typeface="Arial"/>
                <a:cs typeface="Arial"/>
              </a:rPr>
              <a:t>Findings</a:t>
            </a:r>
            <a:endParaRPr sz="2600">
              <a:latin typeface="Arial"/>
              <a:cs typeface="Arial"/>
            </a:endParaRPr>
          </a:p>
          <a:p>
            <a:pPr marL="328930" marR="5080" indent="-307340">
              <a:lnSpc>
                <a:spcPts val="2710"/>
              </a:lnSpc>
              <a:spcBef>
                <a:spcPts val="2740"/>
              </a:spcBef>
              <a:buClr>
                <a:srgbClr val="1C1C1A"/>
              </a:buClr>
              <a:buFont typeface="Arial"/>
              <a:buChar char="•"/>
              <a:tabLst>
                <a:tab pos="332105" algn="l"/>
              </a:tabLst>
            </a:pPr>
            <a:r>
              <a:rPr sz="2300" b="1" spc="-80" dirty="0">
                <a:solidFill>
                  <a:srgbClr val="030503"/>
                </a:solidFill>
                <a:latin typeface="Arial"/>
                <a:cs typeface="Arial"/>
              </a:rPr>
              <a:t>Con</a:t>
            </a:r>
            <a:r>
              <a:rPr sz="2300" b="1" spc="-80" dirty="0">
                <a:solidFill>
                  <a:srgbClr val="1C1C1A"/>
                </a:solidFill>
                <a:latin typeface="Arial"/>
                <a:cs typeface="Arial"/>
              </a:rPr>
              <a:t>s</a:t>
            </a:r>
            <a:r>
              <a:rPr sz="2300" b="1" spc="-80" dirty="0">
                <a:solidFill>
                  <a:srgbClr val="030503"/>
                </a:solidFill>
                <a:latin typeface="Arial"/>
                <a:cs typeface="Arial"/>
              </a:rPr>
              <a:t>i</a:t>
            </a:r>
            <a:r>
              <a:rPr sz="2300" b="1" spc="-80" dirty="0">
                <a:solidFill>
                  <a:srgbClr val="1C1C1A"/>
                </a:solidFill>
                <a:latin typeface="Arial"/>
                <a:cs typeface="Arial"/>
              </a:rPr>
              <a:t>s</a:t>
            </a:r>
            <a:r>
              <a:rPr sz="2300" b="1" spc="-80" dirty="0">
                <a:solidFill>
                  <a:srgbClr val="030503"/>
                </a:solidFill>
                <a:latin typeface="Arial"/>
                <a:cs typeface="Arial"/>
              </a:rPr>
              <a:t>tent</a:t>
            </a:r>
            <a:r>
              <a:rPr sz="2300" b="1" spc="-24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030503"/>
                </a:solidFill>
                <a:latin typeface="Arial"/>
                <a:cs typeface="Arial"/>
              </a:rPr>
              <a:t>Volume</a:t>
            </a:r>
            <a:r>
              <a:rPr sz="2300" b="1" spc="-31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30503"/>
                </a:solidFill>
                <a:latin typeface="Arial"/>
                <a:cs typeface="Arial"/>
              </a:rPr>
              <a:t>Di</a:t>
            </a:r>
            <a:r>
              <a:rPr sz="2300" b="1" spc="-10" dirty="0">
                <a:solidFill>
                  <a:srgbClr val="1C1C1A"/>
                </a:solidFill>
                <a:latin typeface="Arial"/>
                <a:cs typeface="Arial"/>
              </a:rPr>
              <a:t>s</a:t>
            </a:r>
            <a:r>
              <a:rPr sz="2300" b="1" spc="-10" dirty="0">
                <a:solidFill>
                  <a:srgbClr val="030503"/>
                </a:solidFill>
                <a:latin typeface="Arial"/>
                <a:cs typeface="Arial"/>
              </a:rPr>
              <a:t>p</a:t>
            </a:r>
            <a:r>
              <a:rPr sz="2300" b="1" spc="-10" dirty="0">
                <a:solidFill>
                  <a:srgbClr val="1C1C1A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srgbClr val="030503"/>
                </a:solidFill>
                <a:latin typeface="Arial"/>
                <a:cs typeface="Arial"/>
              </a:rPr>
              <a:t>rity</a:t>
            </a:r>
            <a:r>
              <a:rPr sz="2300" b="1" spc="-10" dirty="0">
                <a:solidFill>
                  <a:srgbClr val="343431"/>
                </a:solidFill>
                <a:latin typeface="Arial"/>
                <a:cs typeface="Arial"/>
              </a:rPr>
              <a:t>: 	</a:t>
            </a:r>
            <a:r>
              <a:rPr sz="2350" spc="-160" dirty="0">
                <a:solidFill>
                  <a:srgbClr val="1C1C1A"/>
                </a:solidFill>
                <a:latin typeface="Arial"/>
                <a:cs typeface="Arial"/>
              </a:rPr>
              <a:t>NYPD</a:t>
            </a:r>
            <a:r>
              <a:rPr sz="2350" spc="-27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75" dirty="0">
                <a:solidFill>
                  <a:srgbClr val="1C1C1A"/>
                </a:solidFill>
                <a:latin typeface="Arial"/>
                <a:cs typeface="Arial"/>
              </a:rPr>
              <a:t>consistently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records</a:t>
            </a:r>
            <a:r>
              <a:rPr sz="2350" spc="-33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2</a:t>
            </a:r>
            <a:r>
              <a:rPr sz="2350" spc="-60" dirty="0">
                <a:solidFill>
                  <a:srgbClr val="030503"/>
                </a:solidFill>
                <a:latin typeface="Arial"/>
                <a:cs typeface="Arial"/>
              </a:rPr>
              <a:t>.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5-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3 	</a:t>
            </a:r>
            <a:r>
              <a:rPr sz="2350" spc="-45" dirty="0">
                <a:solidFill>
                  <a:srgbClr val="030503"/>
                </a:solidFill>
                <a:latin typeface="Arial"/>
                <a:cs typeface="Arial"/>
              </a:rPr>
              <a:t>t</a:t>
            </a:r>
            <a:r>
              <a:rPr sz="2350" spc="-45" dirty="0">
                <a:solidFill>
                  <a:srgbClr val="343431"/>
                </a:solidFill>
                <a:latin typeface="Arial"/>
                <a:cs typeface="Arial"/>
              </a:rPr>
              <a:t>imes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more</a:t>
            </a:r>
            <a:r>
              <a:rPr sz="2350" spc="-27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0" dirty="0">
                <a:solidFill>
                  <a:srgbClr val="1C1C1A"/>
                </a:solidFill>
                <a:latin typeface="Arial"/>
                <a:cs typeface="Arial"/>
              </a:rPr>
              <a:t>arrests</a:t>
            </a:r>
            <a:r>
              <a:rPr sz="2350" spc="-27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30503"/>
                </a:solidFill>
                <a:latin typeface="Arial"/>
                <a:cs typeface="Arial"/>
              </a:rPr>
              <a:t>t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hanLAPD 	</a:t>
            </a:r>
            <a:r>
              <a:rPr sz="2350" spc="-75" dirty="0">
                <a:solidFill>
                  <a:srgbClr val="1C1C1A"/>
                </a:solidFill>
                <a:latin typeface="Arial"/>
                <a:cs typeface="Arial"/>
              </a:rPr>
              <a:t>every</a:t>
            </a:r>
            <a:r>
              <a:rPr sz="2350" spc="-19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85" dirty="0">
                <a:solidFill>
                  <a:srgbClr val="1C1C1A"/>
                </a:solidFill>
                <a:latin typeface="Arial"/>
                <a:cs typeface="Arial"/>
              </a:rPr>
              <a:t>single</a:t>
            </a:r>
            <a:r>
              <a:rPr sz="2350" spc="-3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yea</a:t>
            </a:r>
            <a:r>
              <a:rPr sz="2350" spc="-10" dirty="0">
                <a:solidFill>
                  <a:srgbClr val="030503"/>
                </a:solidFill>
                <a:latin typeface="Arial"/>
                <a:cs typeface="Arial"/>
              </a:rPr>
              <a:t>r</a:t>
            </a:r>
            <a:r>
              <a:rPr sz="2350" spc="-10" dirty="0">
                <a:solidFill>
                  <a:srgbClr val="343431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619534" y="3887622"/>
            <a:ext cx="4453890" cy="4419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22580" marR="111125" indent="-310515">
              <a:lnSpc>
                <a:spcPct val="97700"/>
              </a:lnSpc>
              <a:spcBef>
                <a:spcPts val="175"/>
              </a:spcBef>
              <a:buChar char="•"/>
              <a:tabLst>
                <a:tab pos="322580" algn="l"/>
                <a:tab pos="325120" algn="l"/>
              </a:tabLst>
            </a:pPr>
            <a:r>
              <a:rPr sz="2300" dirty="0">
                <a:solidFill>
                  <a:srgbClr val="030503"/>
                </a:solidFill>
                <a:latin typeface="Arial"/>
                <a:cs typeface="Arial"/>
              </a:rPr>
              <a:t>	</a:t>
            </a:r>
            <a:r>
              <a:rPr sz="2300" b="1" spc="-75" dirty="0">
                <a:solidFill>
                  <a:srgbClr val="030503"/>
                </a:solidFill>
                <a:latin typeface="Arial"/>
                <a:cs typeface="Arial"/>
              </a:rPr>
              <a:t>Parallel</a:t>
            </a:r>
            <a:r>
              <a:rPr sz="2300" b="1" spc="-380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030503"/>
                </a:solidFill>
                <a:latin typeface="Arial"/>
                <a:cs typeface="Arial"/>
              </a:rPr>
              <a:t>Declining</a:t>
            </a:r>
            <a:r>
              <a:rPr sz="2300" b="1" spc="-15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30503"/>
                </a:solidFill>
                <a:latin typeface="Arial"/>
                <a:cs typeface="Arial"/>
              </a:rPr>
              <a:t>Trends</a:t>
            </a:r>
            <a:r>
              <a:rPr sz="2300" b="1" spc="-10" dirty="0">
                <a:solidFill>
                  <a:srgbClr val="343431"/>
                </a:solidFill>
                <a:latin typeface="Arial"/>
                <a:cs typeface="Arial"/>
              </a:rPr>
              <a:t>: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Both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departments</a:t>
            </a:r>
            <a:r>
              <a:rPr sz="2350" spc="-21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show</a:t>
            </a:r>
            <a:r>
              <a:rPr sz="2350" spc="-29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aremarkably </a:t>
            </a:r>
            <a:r>
              <a:rPr sz="2350" spc="-100" dirty="0">
                <a:solidFill>
                  <a:srgbClr val="1C1C1A"/>
                </a:solidFill>
                <a:latin typeface="Arial"/>
                <a:cs typeface="Arial"/>
              </a:rPr>
              <a:t>similar</a:t>
            </a:r>
            <a:r>
              <a:rPr sz="2350" spc="-114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85" dirty="0">
                <a:solidFill>
                  <a:srgbClr val="1C1C1A"/>
                </a:solidFill>
                <a:latin typeface="Arial"/>
                <a:cs typeface="Arial"/>
              </a:rPr>
              <a:t>downward</a:t>
            </a:r>
            <a:r>
              <a:rPr sz="2350" spc="-27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80" dirty="0">
                <a:solidFill>
                  <a:srgbClr val="1C1C1A"/>
                </a:solidFill>
                <a:latin typeface="Arial"/>
                <a:cs typeface="Arial"/>
              </a:rPr>
              <a:t>trend.</a:t>
            </a:r>
            <a:r>
              <a:rPr sz="2350" spc="-3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NYP</a:t>
            </a:r>
            <a:r>
              <a:rPr sz="2350" spc="-20" dirty="0">
                <a:solidFill>
                  <a:srgbClr val="030503"/>
                </a:solidFill>
                <a:latin typeface="Arial"/>
                <a:cs typeface="Arial"/>
              </a:rPr>
              <a:t>D 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arres</a:t>
            </a:r>
            <a:r>
              <a:rPr sz="2350" spc="-45" dirty="0">
                <a:solidFill>
                  <a:srgbClr val="030503"/>
                </a:solidFill>
                <a:latin typeface="Arial"/>
                <a:cs typeface="Arial"/>
              </a:rPr>
              <a:t>t</a:t>
            </a:r>
            <a:r>
              <a:rPr sz="2350" spc="-45" dirty="0">
                <a:solidFill>
                  <a:srgbClr val="1C1C1A"/>
                </a:solidFill>
                <a:latin typeface="Arial"/>
                <a:cs typeface="Arial"/>
              </a:rPr>
              <a:t>s</a:t>
            </a:r>
            <a:r>
              <a:rPr sz="2350" spc="-3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0" dirty="0">
                <a:solidFill>
                  <a:srgbClr val="1C1C1A"/>
                </a:solidFill>
                <a:latin typeface="Arial"/>
                <a:cs typeface="Arial"/>
              </a:rPr>
              <a:t>decreased</a:t>
            </a:r>
            <a:r>
              <a:rPr sz="2350" spc="-20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1C1C1A"/>
                </a:solidFill>
                <a:latin typeface="Arial"/>
                <a:cs typeface="Arial"/>
              </a:rPr>
              <a:t>by</a:t>
            </a:r>
            <a:r>
              <a:rPr sz="2350" spc="-30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1C1C1A"/>
                </a:solidFill>
                <a:latin typeface="Arial"/>
                <a:cs typeface="Arial"/>
              </a:rPr>
              <a:t>~49%</a:t>
            </a:r>
            <a:r>
              <a:rPr sz="2350" spc="-35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from </a:t>
            </a:r>
            <a:r>
              <a:rPr sz="2350" spc="-114" dirty="0">
                <a:solidFill>
                  <a:srgbClr val="1C1C1A"/>
                </a:solidFill>
                <a:latin typeface="Arial"/>
                <a:cs typeface="Arial"/>
              </a:rPr>
              <a:t>2010</a:t>
            </a:r>
            <a:r>
              <a:rPr sz="2350" spc="-21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to20</a:t>
            </a:r>
            <a:r>
              <a:rPr sz="2350" spc="-35" dirty="0">
                <a:solidFill>
                  <a:srgbClr val="030503"/>
                </a:solidFill>
                <a:latin typeface="Arial"/>
                <a:cs typeface="Arial"/>
              </a:rPr>
              <a:t>1</a:t>
            </a:r>
            <a:r>
              <a:rPr sz="2350" spc="-35" dirty="0">
                <a:solidFill>
                  <a:srgbClr val="1C1C1A"/>
                </a:solidFill>
                <a:latin typeface="Arial"/>
                <a:cs typeface="Arial"/>
              </a:rPr>
              <a:t>9,while</a:t>
            </a:r>
            <a:r>
              <a:rPr sz="2350" spc="-3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1C1C1A"/>
                </a:solidFill>
                <a:latin typeface="Arial"/>
                <a:cs typeface="Arial"/>
              </a:rPr>
              <a:t>LAPDarrests </a:t>
            </a:r>
            <a:r>
              <a:rPr sz="2350" dirty="0">
                <a:solidFill>
                  <a:srgbClr val="030503"/>
                </a:solidFill>
                <a:latin typeface="Arial"/>
                <a:cs typeface="Arial"/>
              </a:rPr>
              <a:t>f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ellby</a:t>
            </a:r>
            <a:r>
              <a:rPr sz="2350" spc="-254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~45%.</a:t>
            </a:r>
            <a:endParaRPr sz="2350">
              <a:latin typeface="Arial"/>
              <a:cs typeface="Arial"/>
            </a:endParaRPr>
          </a:p>
          <a:p>
            <a:pPr marL="322580" marR="5080" indent="-310515">
              <a:lnSpc>
                <a:spcPct val="97000"/>
              </a:lnSpc>
              <a:spcBef>
                <a:spcPts val="1590"/>
              </a:spcBef>
              <a:buFont typeface="Arial"/>
              <a:buChar char="•"/>
              <a:tabLst>
                <a:tab pos="322580" algn="l"/>
              </a:tabLst>
            </a:pPr>
            <a:r>
              <a:rPr sz="2300" b="1" spc="-65" dirty="0">
                <a:solidFill>
                  <a:srgbClr val="030503"/>
                </a:solidFill>
                <a:latin typeface="Arial"/>
                <a:cs typeface="Arial"/>
              </a:rPr>
              <a:t>Shared</a:t>
            </a:r>
            <a:r>
              <a:rPr sz="2300" b="1" spc="-355" dirty="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30503"/>
                </a:solidFill>
                <a:latin typeface="Arial"/>
                <a:cs typeface="Arial"/>
              </a:rPr>
              <a:t>Rhythms</a:t>
            </a:r>
            <a:r>
              <a:rPr sz="2300" b="1" spc="-10" dirty="0">
                <a:solidFill>
                  <a:srgbClr val="1C1C1A"/>
                </a:solidFill>
                <a:latin typeface="Arial"/>
                <a:cs typeface="Arial"/>
              </a:rPr>
              <a:t>: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Further 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analysis</a:t>
            </a:r>
            <a:r>
              <a:rPr sz="2350" spc="-204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75" dirty="0">
                <a:solidFill>
                  <a:srgbClr val="1C1C1A"/>
                </a:solidFill>
                <a:latin typeface="Arial"/>
                <a:cs typeface="Arial"/>
              </a:rPr>
              <a:t>shows</a:t>
            </a:r>
            <a:r>
              <a:rPr sz="2350" spc="-32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both</a:t>
            </a:r>
            <a:r>
              <a:rPr sz="2350" spc="-38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cities</a:t>
            </a:r>
            <a:r>
              <a:rPr sz="2350" spc="-40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share </a:t>
            </a:r>
            <a:r>
              <a:rPr sz="2350" spc="-70" dirty="0">
                <a:solidFill>
                  <a:srgbClr val="1C1C1A"/>
                </a:solidFill>
                <a:latin typeface="Arial"/>
                <a:cs typeface="Arial"/>
              </a:rPr>
              <a:t>near-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identicalpatte</a:t>
            </a:r>
            <a:r>
              <a:rPr sz="2350" spc="-50" dirty="0">
                <a:solidFill>
                  <a:srgbClr val="030503"/>
                </a:solidFill>
                <a:latin typeface="Arial"/>
                <a:cs typeface="Arial"/>
              </a:rPr>
              <a:t>r</a:t>
            </a:r>
            <a:r>
              <a:rPr sz="2350" spc="-50" dirty="0">
                <a:solidFill>
                  <a:srgbClr val="1C1C1A"/>
                </a:solidFill>
                <a:latin typeface="Arial"/>
                <a:cs typeface="Arial"/>
              </a:rPr>
              <a:t>ns</a:t>
            </a:r>
            <a:r>
              <a:rPr sz="2350" spc="-18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30503"/>
                </a:solidFill>
                <a:latin typeface="Arial"/>
                <a:cs typeface="Arial"/>
              </a:rPr>
              <a:t>f</a:t>
            </a:r>
            <a:r>
              <a:rPr sz="2350" dirty="0">
                <a:solidFill>
                  <a:srgbClr val="1C1C1A"/>
                </a:solidFill>
                <a:latin typeface="Arial"/>
                <a:cs typeface="Arial"/>
              </a:rPr>
              <a:t>or</a:t>
            </a:r>
            <a:r>
              <a:rPr sz="2350" spc="-29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day-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of-</a:t>
            </a:r>
            <a:r>
              <a:rPr sz="2350" spc="-75" dirty="0">
                <a:solidFill>
                  <a:srgbClr val="1C1C1A"/>
                </a:solidFill>
                <a:latin typeface="Arial"/>
                <a:cs typeface="Arial"/>
              </a:rPr>
              <a:t>week</a:t>
            </a:r>
            <a:r>
              <a:rPr sz="2350" spc="-16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(mid-</a:t>
            </a:r>
            <a:r>
              <a:rPr sz="2350" spc="-114" dirty="0">
                <a:solidFill>
                  <a:srgbClr val="1C1C1A"/>
                </a:solidFill>
                <a:latin typeface="Arial"/>
                <a:cs typeface="Arial"/>
              </a:rPr>
              <a:t>week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1C1C1A"/>
                </a:solidFill>
                <a:latin typeface="Arial"/>
                <a:cs typeface="Arial"/>
              </a:rPr>
              <a:t>peaks)</a:t>
            </a:r>
            <a:r>
              <a:rPr sz="2350" spc="-12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1C1C1A"/>
                </a:solidFill>
                <a:latin typeface="Arial"/>
                <a:cs typeface="Arial"/>
              </a:rPr>
              <a:t>and </a:t>
            </a:r>
            <a:r>
              <a:rPr sz="2350" spc="-65" dirty="0">
                <a:solidFill>
                  <a:srgbClr val="1C1C1A"/>
                </a:solidFill>
                <a:latin typeface="Arial"/>
                <a:cs typeface="Arial"/>
              </a:rPr>
              <a:t>month</a:t>
            </a:r>
            <a:r>
              <a:rPr sz="2350" spc="-14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85" dirty="0">
                <a:solidFill>
                  <a:srgbClr val="1C1C1A"/>
                </a:solidFill>
                <a:latin typeface="Arial"/>
                <a:cs typeface="Arial"/>
              </a:rPr>
              <a:t>(spring</a:t>
            </a:r>
            <a:r>
              <a:rPr sz="2350" spc="-26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95" dirty="0">
                <a:solidFill>
                  <a:srgbClr val="1C1C1A"/>
                </a:solidFill>
                <a:latin typeface="Arial"/>
                <a:cs typeface="Arial"/>
              </a:rPr>
              <a:t>peaks,</a:t>
            </a:r>
            <a:r>
              <a:rPr sz="2350" spc="-285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win</a:t>
            </a:r>
            <a:r>
              <a:rPr sz="2350" spc="-10" dirty="0">
                <a:solidFill>
                  <a:srgbClr val="030503"/>
                </a:solidFill>
                <a:latin typeface="Arial"/>
                <a:cs typeface="Arial"/>
              </a:rPr>
              <a:t>t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er decli</a:t>
            </a:r>
            <a:r>
              <a:rPr sz="2350" spc="-10" dirty="0">
                <a:solidFill>
                  <a:srgbClr val="030503"/>
                </a:solidFill>
                <a:latin typeface="Arial"/>
                <a:cs typeface="Arial"/>
              </a:rPr>
              <a:t>n</a:t>
            </a:r>
            <a:r>
              <a:rPr sz="2350" spc="-10" dirty="0">
                <a:solidFill>
                  <a:srgbClr val="1C1C1A"/>
                </a:solidFill>
                <a:latin typeface="Arial"/>
                <a:cs typeface="Arial"/>
              </a:rPr>
              <a:t>es).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76" y="2247106"/>
            <a:ext cx="7947837" cy="18127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848" y="5847158"/>
            <a:ext cx="7336464" cy="18638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9323" y="2170508"/>
            <a:ext cx="1936012" cy="15574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58375" y="6306739"/>
            <a:ext cx="764215" cy="8170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39648" y="5847158"/>
            <a:ext cx="1350112" cy="10978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41766" y="6562063"/>
            <a:ext cx="2445487" cy="56171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1667018" y="2885412"/>
            <a:ext cx="5095240" cy="0"/>
          </a:xfrm>
          <a:custGeom>
            <a:avLst/>
            <a:gdLst/>
            <a:ahLst/>
            <a:cxnLst/>
            <a:rect l="l" t="t" r="r" b="b"/>
            <a:pathLst>
              <a:path w="5095240">
                <a:moveTo>
                  <a:pt x="0" y="0"/>
                </a:moveTo>
                <a:lnTo>
                  <a:pt x="509476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22591" y="6408868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89762" y="6408868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4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22591" y="6779086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838814" y="6945045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4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0890066" y="3274779"/>
            <a:ext cx="5948680" cy="38735"/>
            <a:chOff x="10890066" y="3274779"/>
            <a:chExt cx="5948680" cy="38735"/>
          </a:xfrm>
        </p:grpSpPr>
        <p:sp>
          <p:nvSpPr>
            <p:cNvPr id="14" name="object 14"/>
            <p:cNvSpPr/>
            <p:nvPr/>
          </p:nvSpPr>
          <p:spPr>
            <a:xfrm>
              <a:off x="10890066" y="3293929"/>
              <a:ext cx="5502910" cy="0"/>
            </a:xfrm>
            <a:custGeom>
              <a:avLst/>
              <a:gdLst/>
              <a:ahLst/>
              <a:cxnLst/>
              <a:rect l="l" t="t" r="r" b="b"/>
              <a:pathLst>
                <a:path w="5502909">
                  <a:moveTo>
                    <a:pt x="0" y="0"/>
                  </a:moveTo>
                  <a:lnTo>
                    <a:pt x="550234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92415" y="3293929"/>
              <a:ext cx="446405" cy="0"/>
            </a:xfrm>
            <a:custGeom>
              <a:avLst/>
              <a:gdLst/>
              <a:ahLst/>
              <a:cxnLst/>
              <a:rect l="l" t="t" r="r" b="b"/>
              <a:pathLst>
                <a:path w="446405">
                  <a:moveTo>
                    <a:pt x="0" y="0"/>
                  </a:moveTo>
                  <a:lnTo>
                    <a:pt x="445792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96776" y="268420"/>
            <a:ext cx="13162280" cy="883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600" dirty="0">
                <a:solidFill>
                  <a:srgbClr val="010100"/>
                </a:solidFill>
              </a:rPr>
              <a:t>A</a:t>
            </a:r>
            <a:r>
              <a:rPr sz="5600" spc="-795" dirty="0">
                <a:solidFill>
                  <a:srgbClr val="010100"/>
                </a:solidFill>
              </a:rPr>
              <a:t> </a:t>
            </a:r>
            <a:r>
              <a:rPr sz="5600" spc="-40" dirty="0">
                <a:solidFill>
                  <a:srgbClr val="010100"/>
                </a:solidFill>
              </a:rPr>
              <a:t>Deeper</a:t>
            </a:r>
            <a:r>
              <a:rPr sz="5600" spc="-340" dirty="0">
                <a:solidFill>
                  <a:srgbClr val="010100"/>
                </a:solidFill>
              </a:rPr>
              <a:t> </a:t>
            </a:r>
            <a:r>
              <a:rPr sz="5600" spc="-110" dirty="0">
                <a:solidFill>
                  <a:srgbClr val="010100"/>
                </a:solidFill>
              </a:rPr>
              <a:t>Look</a:t>
            </a:r>
            <a:r>
              <a:rPr sz="5600" spc="-575" dirty="0">
                <a:solidFill>
                  <a:srgbClr val="010100"/>
                </a:solidFill>
              </a:rPr>
              <a:t> </a:t>
            </a:r>
            <a:r>
              <a:rPr sz="5600" spc="95" dirty="0">
                <a:solidFill>
                  <a:srgbClr val="010100"/>
                </a:solidFill>
              </a:rPr>
              <a:t>at</a:t>
            </a:r>
            <a:r>
              <a:rPr sz="5600" spc="-695" dirty="0">
                <a:solidFill>
                  <a:srgbClr val="010100"/>
                </a:solidFill>
              </a:rPr>
              <a:t> </a:t>
            </a:r>
            <a:r>
              <a:rPr sz="5600" spc="80" dirty="0">
                <a:solidFill>
                  <a:srgbClr val="010100"/>
                </a:solidFill>
              </a:rPr>
              <a:t>the</a:t>
            </a:r>
            <a:r>
              <a:rPr sz="5600" spc="-825" dirty="0">
                <a:solidFill>
                  <a:srgbClr val="010100"/>
                </a:solidFill>
              </a:rPr>
              <a:t> </a:t>
            </a:r>
            <a:r>
              <a:rPr sz="5600" spc="-140" dirty="0">
                <a:solidFill>
                  <a:srgbClr val="010100"/>
                </a:solidFill>
              </a:rPr>
              <a:t>Temporal</a:t>
            </a:r>
            <a:r>
              <a:rPr sz="5600" spc="-480" dirty="0">
                <a:solidFill>
                  <a:srgbClr val="010100"/>
                </a:solidFill>
              </a:rPr>
              <a:t> </a:t>
            </a:r>
            <a:r>
              <a:rPr sz="5600" spc="-45" dirty="0">
                <a:solidFill>
                  <a:srgbClr val="010100"/>
                </a:solidFill>
              </a:rPr>
              <a:t>Evidence</a:t>
            </a:r>
            <a:endParaRPr sz="5600"/>
          </a:p>
        </p:txBody>
      </p:sp>
      <p:sp>
        <p:nvSpPr>
          <p:cNvPr id="17" name="object 17"/>
          <p:cNvSpPr txBox="1"/>
          <p:nvPr/>
        </p:nvSpPr>
        <p:spPr>
          <a:xfrm>
            <a:off x="492452" y="1449288"/>
            <a:ext cx="5222240" cy="8083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b="1" spc="-110" dirty="0">
                <a:solidFill>
                  <a:srgbClr val="010100"/>
                </a:solidFill>
                <a:latin typeface="Arial"/>
                <a:cs typeface="Arial"/>
              </a:rPr>
              <a:t>Crime</a:t>
            </a:r>
            <a:r>
              <a:rPr sz="2850" b="1" spc="-33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40" dirty="0">
                <a:solidFill>
                  <a:srgbClr val="010100"/>
                </a:solidFill>
                <a:latin typeface="Arial"/>
                <a:cs typeface="Arial"/>
              </a:rPr>
              <a:t>Frequency</a:t>
            </a:r>
            <a:r>
              <a:rPr sz="2850" b="1" spc="-18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95" dirty="0">
                <a:solidFill>
                  <a:srgbClr val="010100"/>
                </a:solidFill>
                <a:latin typeface="Arial"/>
                <a:cs typeface="Arial"/>
              </a:rPr>
              <a:t>by</a:t>
            </a:r>
            <a:r>
              <a:rPr sz="2850" b="1" spc="-45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00" dirty="0">
                <a:solidFill>
                  <a:srgbClr val="010100"/>
                </a:solidFill>
                <a:latin typeface="Arial"/>
                <a:cs typeface="Arial"/>
              </a:rPr>
              <a:t>Day</a:t>
            </a:r>
            <a:r>
              <a:rPr sz="2850" b="1" spc="-33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60" dirty="0">
                <a:solidFill>
                  <a:srgbClr val="010100"/>
                </a:solidFill>
                <a:latin typeface="Arial"/>
                <a:cs typeface="Arial"/>
              </a:rPr>
              <a:t>of</a:t>
            </a:r>
            <a:r>
              <a:rPr sz="2850" b="1" spc="-33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35" dirty="0">
                <a:solidFill>
                  <a:srgbClr val="010100"/>
                </a:solidFill>
                <a:latin typeface="Arial"/>
                <a:cs typeface="Arial"/>
              </a:rPr>
              <a:t>Week</a:t>
            </a:r>
            <a:endParaRPr sz="2850">
              <a:latin typeface="Arial"/>
              <a:cs typeface="Arial"/>
            </a:endParaRPr>
          </a:p>
          <a:p>
            <a:pPr marL="417195">
              <a:lnSpc>
                <a:spcPct val="100000"/>
              </a:lnSpc>
              <a:spcBef>
                <a:spcPts val="1045"/>
              </a:spcBef>
            </a:pPr>
            <a:r>
              <a:rPr sz="1400" spc="-50" dirty="0">
                <a:solidFill>
                  <a:srgbClr val="282824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9394" y="1921636"/>
            <a:ext cx="159639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0029" indent="-231775">
              <a:lnSpc>
                <a:spcPct val="100000"/>
              </a:lnSpc>
              <a:spcBef>
                <a:spcPts val="114"/>
              </a:spcBef>
              <a:buClr>
                <a:srgbClr val="0A3659"/>
              </a:buClr>
              <a:buSzPct val="196551"/>
              <a:buChar char="■"/>
              <a:tabLst>
                <a:tab pos="240029" algn="l"/>
              </a:tabLst>
            </a:pP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NYPD</a:t>
            </a:r>
            <a:r>
              <a:rPr sz="1450" spc="47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E45011"/>
                </a:solidFill>
                <a:latin typeface="Arial"/>
                <a:cs typeface="Arial"/>
              </a:rPr>
              <a:t>■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LAPD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4131" y="3906771"/>
            <a:ext cx="1257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B3D38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6784" y="4016461"/>
            <a:ext cx="4067810" cy="6934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600"/>
              </a:spcBef>
              <a:tabLst>
                <a:tab pos="1249680" algn="l"/>
                <a:tab pos="2181225" algn="l"/>
                <a:tab pos="3338195" algn="l"/>
              </a:tabLst>
            </a:pPr>
            <a:r>
              <a:rPr sz="1450" spc="-10" dirty="0">
                <a:solidFill>
                  <a:srgbClr val="282824"/>
                </a:solidFill>
                <a:latin typeface="Arial"/>
                <a:cs typeface="Arial"/>
              </a:rPr>
              <a:t>Monday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Tuesday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Wednesday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55" dirty="0">
                <a:solidFill>
                  <a:srgbClr val="3B3D38"/>
                </a:solidFill>
                <a:latin typeface="Arial"/>
                <a:cs typeface="Arial"/>
              </a:rPr>
              <a:t>Thursday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950" spc="-65" dirty="0">
                <a:solidFill>
                  <a:srgbClr val="282824"/>
                </a:solidFill>
                <a:latin typeface="Arial"/>
                <a:cs typeface="Arial"/>
              </a:rPr>
              <a:t>Mid-</a:t>
            </a:r>
            <a:r>
              <a:rPr sz="1950" spc="-75" dirty="0">
                <a:solidFill>
                  <a:srgbClr val="282824"/>
                </a:solidFill>
                <a:latin typeface="Arial"/>
                <a:cs typeface="Arial"/>
              </a:rPr>
              <a:t>week</a:t>
            </a:r>
            <a:r>
              <a:rPr sz="1950" spc="-12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35" dirty="0">
                <a:solidFill>
                  <a:srgbClr val="282824"/>
                </a:solidFill>
                <a:latin typeface="Arial"/>
                <a:cs typeface="Arial"/>
              </a:rPr>
              <a:t>activitypeaks</a:t>
            </a:r>
            <a:r>
              <a:rPr sz="1950" spc="-14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B3D38"/>
                </a:solidFill>
                <a:latin typeface="Arial"/>
                <a:cs typeface="Arial"/>
              </a:rPr>
              <a:t>in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bothcities.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052" y="5074873"/>
            <a:ext cx="4024629" cy="8477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850" b="1" spc="-90" dirty="0">
                <a:solidFill>
                  <a:srgbClr val="010100"/>
                </a:solidFill>
                <a:latin typeface="Arial"/>
                <a:cs typeface="Arial"/>
              </a:rPr>
              <a:t>Crime</a:t>
            </a:r>
            <a:r>
              <a:rPr sz="2850" b="1" spc="-41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40" dirty="0">
                <a:solidFill>
                  <a:srgbClr val="010100"/>
                </a:solidFill>
                <a:latin typeface="Arial"/>
                <a:cs typeface="Arial"/>
              </a:rPr>
              <a:t>Frequency</a:t>
            </a:r>
            <a:r>
              <a:rPr sz="2850" b="1" spc="-18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95" dirty="0">
                <a:solidFill>
                  <a:srgbClr val="010100"/>
                </a:solidFill>
                <a:latin typeface="Arial"/>
                <a:cs typeface="Arial"/>
              </a:rPr>
              <a:t>by</a:t>
            </a:r>
            <a:r>
              <a:rPr sz="2850" b="1" spc="-32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60" dirty="0">
                <a:solidFill>
                  <a:srgbClr val="010100"/>
                </a:solidFill>
                <a:latin typeface="Arial"/>
                <a:cs typeface="Arial"/>
              </a:rPr>
              <a:t>Year</a:t>
            </a:r>
            <a:endParaRPr sz="28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95"/>
              </a:spcBef>
            </a:pPr>
            <a:r>
              <a:rPr sz="3675" spc="-15" baseline="-29478" dirty="0">
                <a:solidFill>
                  <a:srgbClr val="282824"/>
                </a:solidFill>
                <a:latin typeface="Arial"/>
                <a:cs typeface="Arial"/>
              </a:rPr>
              <a:t>.,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250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1202" y="6019568"/>
            <a:ext cx="54356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" dirty="0">
                <a:solidFill>
                  <a:srgbClr val="282824"/>
                </a:solidFill>
                <a:latin typeface="Arial"/>
                <a:cs typeface="Arial"/>
              </a:rPr>
              <a:t>'lii200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1427" y="6332338"/>
            <a:ext cx="55499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b="1" spc="-90" dirty="0">
                <a:solidFill>
                  <a:srgbClr val="282824"/>
                </a:solidFill>
                <a:latin typeface="Arial"/>
                <a:cs typeface="Arial"/>
              </a:rPr>
              <a:t>.li</a:t>
            </a:r>
            <a:r>
              <a:rPr sz="2000" b="1" spc="-16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150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943" y="6147230"/>
            <a:ext cx="201295" cy="758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">
              <a:lnSpc>
                <a:spcPts val="1260"/>
              </a:lnSpc>
              <a:spcBef>
                <a:spcPts val="110"/>
              </a:spcBef>
            </a:pPr>
            <a:r>
              <a:rPr sz="1750" spc="5" dirty="0">
                <a:solidFill>
                  <a:srgbClr val="282824"/>
                </a:solidFill>
                <a:latin typeface="Times New Roman"/>
                <a:cs typeface="Times New Roman"/>
              </a:rPr>
              <a:t>f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ts val="4500"/>
              </a:lnSpc>
            </a:pPr>
            <a:r>
              <a:rPr sz="4450" spc="-1435" dirty="0">
                <a:solidFill>
                  <a:srgbClr val="282824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6896" y="6625959"/>
            <a:ext cx="946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solidFill>
                  <a:srgbClr val="282824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9391" y="7015327"/>
            <a:ext cx="1549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 dirty="0">
                <a:solidFill>
                  <a:srgbClr val="282824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1028" y="6735572"/>
            <a:ext cx="610870" cy="10623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600"/>
              </a:spcBef>
            </a:pP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�</a:t>
            </a:r>
            <a:r>
              <a:rPr sz="1450" spc="32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282824"/>
                </a:solidFill>
                <a:latin typeface="Arial"/>
                <a:cs typeface="Arial"/>
              </a:rPr>
              <a:t>100</a:t>
            </a:r>
            <a:endParaRPr sz="145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625"/>
              </a:spcBef>
              <a:tabLst>
                <a:tab pos="346075" algn="l"/>
              </a:tabLst>
            </a:pPr>
            <a:r>
              <a:rPr sz="2700" b="1" spc="-750" baseline="-27777" dirty="0">
                <a:solidFill>
                  <a:srgbClr val="11110F"/>
                </a:solidFill>
                <a:latin typeface="Times New Roman"/>
                <a:cs typeface="Times New Roman"/>
              </a:rPr>
              <a:t>z</a:t>
            </a:r>
            <a:r>
              <a:rPr sz="1450" spc="204" dirty="0">
                <a:solidFill>
                  <a:srgbClr val="282824"/>
                </a:solidFill>
                <a:latin typeface="Arial"/>
                <a:cs typeface="Arial"/>
              </a:rPr>
              <a:t>:</a:t>
            </a:r>
            <a:r>
              <a:rPr sz="1450" spc="215" dirty="0">
                <a:solidFill>
                  <a:srgbClr val="282824"/>
                </a:solidFill>
                <a:latin typeface="Arial"/>
                <a:cs typeface="Arial"/>
              </a:rPr>
              <a:t>,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50</a:t>
            </a:r>
            <a:endParaRPr sz="1450">
              <a:latin typeface="Arial"/>
              <a:cs typeface="Arial"/>
            </a:endParaRPr>
          </a:p>
          <a:p>
            <a:pPr marR="57785" algn="r">
              <a:lnSpc>
                <a:spcPct val="100000"/>
              </a:lnSpc>
              <a:spcBef>
                <a:spcPts val="1455"/>
              </a:spcBef>
            </a:pPr>
            <a:r>
              <a:rPr sz="1400" spc="-50" dirty="0">
                <a:solidFill>
                  <a:srgbClr val="282824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63663" y="4079113"/>
            <a:ext cx="51815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Friday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5581" y="4079113"/>
            <a:ext cx="7054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60" dirty="0">
                <a:solidFill>
                  <a:srgbClr val="3B3D38"/>
                </a:solidFill>
                <a:latin typeface="Arial"/>
                <a:cs typeface="Arial"/>
              </a:rPr>
              <a:t>Saturday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3692" y="4079113"/>
            <a:ext cx="60833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5" dirty="0">
                <a:solidFill>
                  <a:srgbClr val="3B3D38"/>
                </a:solidFill>
                <a:latin typeface="Arial"/>
                <a:cs typeface="Arial"/>
              </a:rPr>
              <a:t>Sunday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89394" y="5738712"/>
            <a:ext cx="768350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029" indent="-231775">
              <a:lnSpc>
                <a:spcPts val="1950"/>
              </a:lnSpc>
              <a:buClr>
                <a:srgbClr val="0A3659"/>
              </a:buClr>
              <a:buSzPct val="196551"/>
              <a:buChar char="■"/>
              <a:tabLst>
                <a:tab pos="240029" algn="l"/>
              </a:tabLst>
            </a:pPr>
            <a:r>
              <a:rPr sz="1450" spc="-20" dirty="0">
                <a:solidFill>
                  <a:srgbClr val="282824"/>
                </a:solidFill>
                <a:latin typeface="Arial"/>
                <a:cs typeface="Arial"/>
              </a:rPr>
              <a:t>NYPD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42768" y="5738712"/>
            <a:ext cx="743585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31775">
              <a:lnSpc>
                <a:spcPts val="1950"/>
              </a:lnSpc>
              <a:buClr>
                <a:srgbClr val="E45011"/>
              </a:buClr>
              <a:buSzPct val="196551"/>
              <a:buChar char="■"/>
              <a:tabLst>
                <a:tab pos="241300" algn="l"/>
              </a:tabLst>
            </a:pP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LAPD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3055" y="7677072"/>
            <a:ext cx="7220584" cy="6711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525"/>
              </a:spcBef>
              <a:tabLst>
                <a:tab pos="949325" algn="l"/>
                <a:tab pos="1662430" algn="l"/>
                <a:tab pos="2400935" algn="l"/>
                <a:tab pos="3140075" algn="l"/>
                <a:tab pos="3878579" algn="l"/>
                <a:tab pos="4617720" algn="l"/>
                <a:tab pos="5356225" algn="l"/>
                <a:tab pos="6082030" algn="l"/>
                <a:tab pos="6821170" algn="l"/>
              </a:tabLst>
            </a:pP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2012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2013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2014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2015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2016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2017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2018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45" dirty="0">
                <a:solidFill>
                  <a:srgbClr val="3B3D38"/>
                </a:solidFill>
                <a:latin typeface="Arial"/>
                <a:cs typeface="Arial"/>
              </a:rPr>
              <a:t>2019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950" spc="-45" dirty="0">
                <a:solidFill>
                  <a:srgbClr val="282824"/>
                </a:solidFill>
                <a:latin typeface="Arial"/>
                <a:cs typeface="Arial"/>
              </a:rPr>
              <a:t>A</a:t>
            </a:r>
            <a:r>
              <a:rPr sz="1950" spc="-21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85" dirty="0">
                <a:solidFill>
                  <a:srgbClr val="282824"/>
                </a:solidFill>
                <a:latin typeface="Arial"/>
                <a:cs typeface="Arial"/>
              </a:rPr>
              <a:t>decade-</a:t>
            </a:r>
            <a:r>
              <a:rPr sz="1950" spc="-70" dirty="0">
                <a:solidFill>
                  <a:srgbClr val="282824"/>
                </a:solidFill>
                <a:latin typeface="Arial"/>
                <a:cs typeface="Arial"/>
              </a:rPr>
              <a:t>long,</a:t>
            </a:r>
            <a:r>
              <a:rPr sz="1950" spc="-21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75" dirty="0">
                <a:solidFill>
                  <a:srgbClr val="282824"/>
                </a:solidFill>
                <a:latin typeface="Arial"/>
                <a:cs typeface="Arial"/>
              </a:rPr>
              <a:t>parallel</a:t>
            </a:r>
            <a:r>
              <a:rPr sz="1950" spc="-27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75" dirty="0">
                <a:solidFill>
                  <a:srgbClr val="282824"/>
                </a:solidFill>
                <a:latin typeface="Arial"/>
                <a:cs typeface="Arial"/>
              </a:rPr>
              <a:t>decline</a:t>
            </a:r>
            <a:r>
              <a:rPr sz="1950" spc="-26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in</a:t>
            </a:r>
            <a:r>
              <a:rPr sz="1950" spc="-10" dirty="0">
                <a:solidFill>
                  <a:srgbClr val="3B3D38"/>
                </a:solidFill>
                <a:latin typeface="Arial"/>
                <a:cs typeface="Arial"/>
              </a:rPr>
              <a:t>arrests.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66687" y="1203385"/>
            <a:ext cx="4342130" cy="1412875"/>
          </a:xfrm>
          <a:prstGeom prst="rect">
            <a:avLst/>
          </a:prstGeom>
        </p:spPr>
        <p:txBody>
          <a:bodyPr vert="horz" wrap="square" lIns="0" tIns="26035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2050"/>
              </a:spcBef>
            </a:pPr>
            <a:r>
              <a:rPr sz="2850" b="1" spc="-90" dirty="0">
                <a:solidFill>
                  <a:srgbClr val="010100"/>
                </a:solidFill>
                <a:latin typeface="Arial"/>
                <a:cs typeface="Arial"/>
              </a:rPr>
              <a:t>Crime</a:t>
            </a:r>
            <a:r>
              <a:rPr sz="2850" b="1" spc="-409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40" dirty="0">
                <a:solidFill>
                  <a:srgbClr val="010100"/>
                </a:solidFill>
                <a:latin typeface="Arial"/>
                <a:cs typeface="Arial"/>
              </a:rPr>
              <a:t>Frequency</a:t>
            </a:r>
            <a:r>
              <a:rPr sz="2850" b="1" spc="-18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95" dirty="0">
                <a:solidFill>
                  <a:srgbClr val="010100"/>
                </a:solidFill>
                <a:latin typeface="Arial"/>
                <a:cs typeface="Arial"/>
              </a:rPr>
              <a:t>by</a:t>
            </a:r>
            <a:r>
              <a:rPr sz="2850" b="1" spc="-434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35" dirty="0">
                <a:solidFill>
                  <a:srgbClr val="010100"/>
                </a:solidFill>
                <a:latin typeface="Arial"/>
                <a:cs typeface="Arial"/>
              </a:rPr>
              <a:t>Month</a:t>
            </a:r>
            <a:endParaRPr sz="28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994"/>
              </a:spcBef>
            </a:pP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300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50" spc="-50" dirty="0">
                <a:solidFill>
                  <a:srgbClr val="282824"/>
                </a:solidFill>
                <a:latin typeface="Arial"/>
                <a:cs typeface="Arial"/>
              </a:rPr>
              <a:t>�</a:t>
            </a:r>
            <a:endParaRPr sz="1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96820" y="2611007"/>
            <a:ext cx="518159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25" b="1" spc="-637" baseline="-28673" dirty="0">
                <a:solidFill>
                  <a:srgbClr val="282824"/>
                </a:solidFill>
                <a:latin typeface="Arial"/>
                <a:cs typeface="Arial"/>
              </a:rPr>
              <a:t>c</a:t>
            </a:r>
            <a:r>
              <a:rPr sz="1300" spc="-245" dirty="0">
                <a:solidFill>
                  <a:srgbClr val="282824"/>
                </a:solidFill>
                <a:latin typeface="Arial"/>
                <a:cs typeface="Arial"/>
              </a:rPr>
              <a:t>t</a:t>
            </a:r>
            <a:r>
              <a:rPr sz="2325" b="1" spc="-1470" baseline="-28673" dirty="0">
                <a:solidFill>
                  <a:srgbClr val="282824"/>
                </a:solidFill>
                <a:latin typeface="Arial"/>
                <a:cs typeface="Arial"/>
              </a:rPr>
              <a:t>o</a:t>
            </a:r>
            <a:r>
              <a:rPr sz="1300" spc="-130" dirty="0">
                <a:solidFill>
                  <a:srgbClr val="282824"/>
                </a:solidFill>
                <a:latin typeface="Arial"/>
                <a:cs typeface="Arial"/>
              </a:rPr>
              <a:t>:</a:t>
            </a:r>
            <a:r>
              <a:rPr sz="1300" spc="-10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2325" b="1" spc="-315" baseline="-28673" dirty="0">
                <a:solidFill>
                  <a:srgbClr val="282824"/>
                </a:solidFill>
                <a:latin typeface="Arial"/>
                <a:cs typeface="Arial"/>
              </a:rPr>
              <a:t>:</a:t>
            </a:r>
            <a:r>
              <a:rPr sz="2325" b="1" spc="22" baseline="-28673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300" dirty="0">
                <a:solidFill>
                  <a:srgbClr val="282824"/>
                </a:solidFill>
                <a:latin typeface="Arial"/>
                <a:cs typeface="Arial"/>
              </a:rPr>
              <a:t>200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45637" y="3019524"/>
            <a:ext cx="1085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745" dirty="0">
                <a:solidFill>
                  <a:srgbClr val="11110F"/>
                </a:solidFill>
                <a:latin typeface="Arial"/>
                <a:cs typeface="Arial"/>
              </a:rPr>
              <a:t>�</a:t>
            </a:r>
            <a:endParaRPr sz="1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25434" y="3217399"/>
            <a:ext cx="59563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dirty="0">
                <a:solidFill>
                  <a:srgbClr val="282824"/>
                </a:solidFill>
                <a:latin typeface="Arial"/>
                <a:cs typeface="Arial"/>
              </a:rPr>
              <a:t>,8</a:t>
            </a:r>
            <a:r>
              <a:rPr sz="1700" i="1" spc="7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100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58278" y="3364210"/>
            <a:ext cx="1739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0" dirty="0">
                <a:solidFill>
                  <a:srgbClr val="282824"/>
                </a:solidFill>
                <a:latin typeface="Arial"/>
                <a:cs typeface="Arial"/>
              </a:rPr>
              <a:t>§</a:t>
            </a:r>
            <a:endParaRPr sz="2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28055" y="3574851"/>
            <a:ext cx="12953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50" dirty="0">
                <a:solidFill>
                  <a:srgbClr val="282824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12941" y="2540794"/>
            <a:ext cx="207010" cy="726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594">
              <a:lnSpc>
                <a:spcPts val="685"/>
              </a:lnSpc>
              <a:spcBef>
                <a:spcPts val="105"/>
              </a:spcBef>
            </a:pPr>
            <a:r>
              <a:rPr sz="1000" spc="-155" dirty="0">
                <a:solidFill>
                  <a:srgbClr val="282824"/>
                </a:solidFill>
                <a:latin typeface="Arial"/>
                <a:cs typeface="Arial"/>
              </a:rPr>
              <a:t>Cl&gt;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4825"/>
              </a:lnSpc>
            </a:pPr>
            <a:r>
              <a:rPr sz="4450" spc="-1440" dirty="0">
                <a:solidFill>
                  <a:srgbClr val="11110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56078" y="3906771"/>
            <a:ext cx="127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B3D38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410395" y="1921636"/>
            <a:ext cx="159639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0029" indent="-231775">
              <a:lnSpc>
                <a:spcPct val="100000"/>
              </a:lnSpc>
              <a:spcBef>
                <a:spcPts val="114"/>
              </a:spcBef>
              <a:buClr>
                <a:srgbClr val="0A3659"/>
              </a:buClr>
              <a:buSzPct val="196551"/>
              <a:buChar char="■"/>
              <a:tabLst>
                <a:tab pos="240029" algn="l"/>
              </a:tabLst>
            </a:pP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NYPD</a:t>
            </a:r>
            <a:r>
              <a:rPr sz="1450" spc="47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E45011"/>
                </a:solidFill>
                <a:latin typeface="Arial"/>
                <a:cs typeface="Arial"/>
              </a:rPr>
              <a:t>■</a:t>
            </a:r>
            <a:r>
              <a:rPr sz="1450" spc="-10" dirty="0">
                <a:solidFill>
                  <a:srgbClr val="282824"/>
                </a:solidFill>
                <a:latin typeface="Arial"/>
                <a:cs typeface="Arial"/>
              </a:rPr>
              <a:t>LAPD</a:t>
            </a:r>
            <a:endParaRPr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27893" y="2987608"/>
            <a:ext cx="10033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solidFill>
                  <a:srgbClr val="282824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739017" y="3089738"/>
            <a:ext cx="882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E45011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342234" y="3536486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953612" y="358755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1895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304133" y="3045056"/>
            <a:ext cx="846455" cy="600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48970" algn="l"/>
              </a:tabLst>
            </a:pPr>
            <a:r>
              <a:rPr sz="3750" spc="25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r>
              <a:rPr sz="3750" dirty="0">
                <a:solidFill>
                  <a:srgbClr val="E45011"/>
                </a:solidFill>
                <a:latin typeface="Arial"/>
                <a:cs typeface="Arial"/>
              </a:rPr>
              <a:t>	</a:t>
            </a:r>
            <a:r>
              <a:rPr sz="5625" spc="-75" baseline="-5925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endParaRPr sz="5625" baseline="-5925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552247" y="3600316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4163619" y="3625849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3539545" y="3108887"/>
            <a:ext cx="814069" cy="600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23570" algn="l"/>
              </a:tabLst>
            </a:pPr>
            <a:r>
              <a:rPr sz="3750" spc="25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r>
              <a:rPr sz="3750" dirty="0">
                <a:solidFill>
                  <a:srgbClr val="E45011"/>
                </a:solidFill>
                <a:latin typeface="Arial"/>
                <a:cs typeface="Arial"/>
              </a:rPr>
              <a:t>	</a:t>
            </a:r>
            <a:r>
              <a:rPr sz="5625" spc="37" baseline="-2962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endParaRPr sz="5625" baseline="-2962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4773642" y="3715211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5385014" y="3740744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E450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4760930" y="3198250"/>
            <a:ext cx="813435" cy="630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23570" algn="l"/>
              </a:tabLst>
            </a:pPr>
            <a:r>
              <a:rPr sz="3950" spc="-50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r>
              <a:rPr sz="3950" dirty="0">
                <a:solidFill>
                  <a:srgbClr val="E45011"/>
                </a:solidFill>
                <a:latin typeface="Arial"/>
                <a:cs typeface="Arial"/>
              </a:rPr>
              <a:t>	</a:t>
            </a:r>
            <a:r>
              <a:rPr sz="5925" spc="-75" baseline="-2812" dirty="0">
                <a:solidFill>
                  <a:srgbClr val="E45011"/>
                </a:solidFill>
                <a:latin typeface="Arial"/>
                <a:cs typeface="Arial"/>
              </a:rPr>
              <a:t>•</a:t>
            </a:r>
            <a:endParaRPr sz="5925" baseline="-2812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641885" y="3325911"/>
            <a:ext cx="7209155" cy="630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353810" algn="l"/>
                <a:tab pos="6965315" algn="l"/>
              </a:tabLst>
            </a:pPr>
            <a:r>
              <a:rPr sz="3950" u="heavy" dirty="0">
                <a:solidFill>
                  <a:srgbClr val="E4501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3950" u="heavy" spc="-50" dirty="0">
                <a:solidFill>
                  <a:srgbClr val="E4501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</a:t>
            </a:r>
            <a:r>
              <a:rPr sz="3950" u="heavy" dirty="0">
                <a:solidFill>
                  <a:srgbClr val="E4501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5925" u="heavy" spc="-75" baseline="-2812" dirty="0">
                <a:solidFill>
                  <a:srgbClr val="E4501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 </a:t>
            </a:r>
            <a:endParaRPr sz="5925" baseline="-2812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239100" y="4079113"/>
            <a:ext cx="28047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5160" algn="l"/>
                <a:tab pos="1282065" algn="l"/>
                <a:tab pos="1860550" algn="l"/>
                <a:tab pos="2463165" algn="l"/>
              </a:tabLst>
            </a:pP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May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2175" spc="-37" baseline="-3831" dirty="0">
                <a:solidFill>
                  <a:srgbClr val="282824"/>
                </a:solidFill>
                <a:latin typeface="Arial"/>
                <a:cs typeface="Arial"/>
              </a:rPr>
              <a:t>Jun</a:t>
            </a:r>
            <a:r>
              <a:rPr sz="2175" baseline="-3831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2175" spc="-37" baseline="-3831" dirty="0">
                <a:solidFill>
                  <a:srgbClr val="3B3D38"/>
                </a:solidFill>
                <a:latin typeface="Arial"/>
                <a:cs typeface="Arial"/>
              </a:rPr>
              <a:t>Jul</a:t>
            </a:r>
            <a:r>
              <a:rPr sz="2175" baseline="-3831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Aug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Sep</a:t>
            </a:r>
            <a:endParaRPr sz="14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815088" y="4091880"/>
            <a:ext cx="70573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3410" algn="l"/>
                <a:tab pos="1226185" algn="l"/>
                <a:tab pos="1851660" algn="l"/>
                <a:tab pos="5511165" algn="l"/>
                <a:tab pos="6104255" algn="l"/>
                <a:tab pos="6715759" algn="l"/>
              </a:tabLst>
            </a:pP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Jan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Feb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Mar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Apr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Oct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Nov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Dec</a:t>
            </a:r>
            <a:endParaRPr sz="14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630459" y="4385502"/>
            <a:ext cx="403225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95" dirty="0">
                <a:solidFill>
                  <a:srgbClr val="282824"/>
                </a:solidFill>
                <a:latin typeface="Arial"/>
                <a:cs typeface="Arial"/>
              </a:rPr>
              <a:t>Seasonal</a:t>
            </a:r>
            <a:r>
              <a:rPr sz="1950" spc="-204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45" dirty="0">
                <a:solidFill>
                  <a:srgbClr val="282824"/>
                </a:solidFill>
                <a:latin typeface="Arial"/>
                <a:cs typeface="Arial"/>
              </a:rPr>
              <a:t>trends</a:t>
            </a:r>
            <a:r>
              <a:rPr sz="1950" spc="-229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50" dirty="0">
                <a:solidFill>
                  <a:srgbClr val="282824"/>
                </a:solidFill>
                <a:latin typeface="Arial"/>
                <a:cs typeface="Arial"/>
              </a:rPr>
              <a:t>are</a:t>
            </a:r>
            <a:r>
              <a:rPr sz="1950" spc="-29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60" dirty="0">
                <a:solidFill>
                  <a:srgbClr val="3B3D38"/>
                </a:solidFill>
                <a:latin typeface="Arial"/>
                <a:cs typeface="Arial"/>
              </a:rPr>
              <a:t>strongly</a:t>
            </a:r>
            <a:r>
              <a:rPr sz="1950" spc="-22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1950" spc="-45" dirty="0">
                <a:solidFill>
                  <a:srgbClr val="282824"/>
                </a:solidFill>
                <a:latin typeface="Arial"/>
                <a:cs typeface="Arial"/>
              </a:rPr>
              <a:t>correlated.</a:t>
            </a:r>
            <a:endParaRPr sz="19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054075" y="5834460"/>
            <a:ext cx="17462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-75" dirty="0">
                <a:solidFill>
                  <a:srgbClr val="282824"/>
                </a:solidFill>
                <a:latin typeface="Arial"/>
                <a:cs typeface="Arial"/>
              </a:rPr>
              <a:t>"'</a:t>
            </a:r>
            <a:endParaRPr sz="25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013451" y="5074873"/>
            <a:ext cx="5342255" cy="12230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b="1" spc="-90" dirty="0">
                <a:solidFill>
                  <a:srgbClr val="010100"/>
                </a:solidFill>
                <a:latin typeface="Arial"/>
                <a:cs typeface="Arial"/>
              </a:rPr>
              <a:t>Crime</a:t>
            </a:r>
            <a:r>
              <a:rPr sz="2850" b="1" spc="-41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40" dirty="0">
                <a:solidFill>
                  <a:srgbClr val="010100"/>
                </a:solidFill>
                <a:latin typeface="Arial"/>
                <a:cs typeface="Arial"/>
              </a:rPr>
              <a:t>Frequency</a:t>
            </a:r>
            <a:r>
              <a:rPr sz="2850" b="1" spc="-18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95" dirty="0">
                <a:solidFill>
                  <a:srgbClr val="010100"/>
                </a:solidFill>
                <a:latin typeface="Arial"/>
                <a:cs typeface="Arial"/>
              </a:rPr>
              <a:t>by</a:t>
            </a:r>
            <a:r>
              <a:rPr sz="2850" b="1" spc="-455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100" dirty="0">
                <a:solidFill>
                  <a:srgbClr val="010100"/>
                </a:solidFill>
                <a:latin typeface="Arial"/>
                <a:cs typeface="Arial"/>
              </a:rPr>
              <a:t>Day</a:t>
            </a:r>
            <a:r>
              <a:rPr sz="2850" b="1" spc="-44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60" dirty="0">
                <a:solidFill>
                  <a:srgbClr val="010100"/>
                </a:solidFill>
                <a:latin typeface="Arial"/>
                <a:cs typeface="Arial"/>
              </a:rPr>
              <a:t>of</a:t>
            </a:r>
            <a:r>
              <a:rPr sz="2850" b="1" spc="-330" dirty="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sz="2850" b="1" spc="-40" dirty="0">
                <a:solidFill>
                  <a:srgbClr val="010100"/>
                </a:solidFill>
                <a:latin typeface="Arial"/>
                <a:cs typeface="Arial"/>
              </a:rPr>
              <a:t>Month</a:t>
            </a:r>
            <a:endParaRPr sz="2850">
              <a:latin typeface="Arial"/>
              <a:cs typeface="Arial"/>
            </a:endParaRPr>
          </a:p>
          <a:p>
            <a:pPr marL="266065">
              <a:lnSpc>
                <a:spcPct val="100000"/>
              </a:lnSpc>
              <a:spcBef>
                <a:spcPts val="1095"/>
              </a:spcBef>
            </a:pP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250</a:t>
            </a:r>
            <a:endParaRPr sz="145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575"/>
              </a:spcBef>
              <a:tabLst>
                <a:tab pos="266065" algn="l"/>
              </a:tabLst>
            </a:pPr>
            <a:r>
              <a:rPr sz="2150" b="1" spc="-50" dirty="0">
                <a:solidFill>
                  <a:srgbClr val="282824"/>
                </a:solidFill>
                <a:latin typeface="Times New Roman"/>
                <a:cs typeface="Times New Roman"/>
              </a:rPr>
              <a:t>j</a:t>
            </a:r>
            <a:r>
              <a:rPr sz="2150" b="1" dirty="0">
                <a:solidFill>
                  <a:srgbClr val="282824"/>
                </a:solidFill>
                <a:latin typeface="Times New Roman"/>
                <a:cs typeface="Times New Roman"/>
              </a:rPr>
              <a:t>	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200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005994" y="6236592"/>
            <a:ext cx="61214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i="1" spc="-30" dirty="0">
                <a:solidFill>
                  <a:srgbClr val="282824"/>
                </a:solidFill>
                <a:latin typeface="Arial"/>
                <a:cs typeface="Arial"/>
              </a:rPr>
              <a:t>:i</a:t>
            </a:r>
            <a:r>
              <a:rPr sz="2750" b="1" i="1" spc="-15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282824"/>
                </a:solidFill>
                <a:latin typeface="Arial"/>
                <a:cs typeface="Arial"/>
              </a:rPr>
              <a:t>150</a:t>
            </a:r>
            <a:endParaRPr sz="14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12941" y="6198295"/>
            <a:ext cx="202565" cy="707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spc="-1455" dirty="0">
                <a:solidFill>
                  <a:srgbClr val="282824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025969" y="6625959"/>
            <a:ext cx="10033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282824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034715" y="6689791"/>
            <a:ext cx="56769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240" dirty="0">
                <a:solidFill>
                  <a:srgbClr val="282824"/>
                </a:solidFill>
                <a:latin typeface="Arial"/>
                <a:cs typeface="Arial"/>
              </a:rPr>
              <a:t>_!</a:t>
            </a:r>
            <a:r>
              <a:rPr sz="2200" spc="-6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11110F"/>
                </a:solidFill>
                <a:latin typeface="Arial"/>
                <a:cs typeface="Arial"/>
              </a:rPr>
              <a:t>10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53126" y="7015327"/>
            <a:ext cx="15367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 dirty="0">
                <a:solidFill>
                  <a:srgbClr val="282824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89749" y="7079158"/>
            <a:ext cx="62738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389255" algn="l"/>
              </a:tabLst>
            </a:pPr>
            <a:r>
              <a:rPr sz="2925" b="1" spc="-712" baseline="-25641" dirty="0">
                <a:solidFill>
                  <a:srgbClr val="282824"/>
                </a:solidFill>
                <a:latin typeface="Times New Roman"/>
                <a:cs typeface="Times New Roman"/>
              </a:rPr>
              <a:t>z</a:t>
            </a:r>
            <a:r>
              <a:rPr sz="1450" spc="195" dirty="0">
                <a:solidFill>
                  <a:srgbClr val="282824"/>
                </a:solidFill>
                <a:latin typeface="Arial"/>
                <a:cs typeface="Arial"/>
              </a:rPr>
              <a:t>:</a:t>
            </a:r>
            <a:r>
              <a:rPr sz="1450" spc="204" dirty="0">
                <a:solidFill>
                  <a:srgbClr val="282824"/>
                </a:solidFill>
                <a:latin typeface="Arial"/>
                <a:cs typeface="Arial"/>
              </a:rPr>
              <a:t>,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50</a:t>
            </a:r>
            <a:endParaRPr sz="14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410395" y="5547221"/>
            <a:ext cx="159639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0029" indent="-231775">
              <a:lnSpc>
                <a:spcPct val="100000"/>
              </a:lnSpc>
              <a:spcBef>
                <a:spcPts val="114"/>
              </a:spcBef>
              <a:buClr>
                <a:srgbClr val="0A3659"/>
              </a:buClr>
              <a:buSzPct val="196551"/>
              <a:buChar char="■"/>
              <a:tabLst>
                <a:tab pos="240029" algn="l"/>
              </a:tabLst>
            </a:pP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NYPD</a:t>
            </a:r>
            <a:r>
              <a:rPr sz="1450" spc="459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2950" spc="-20" dirty="0">
                <a:solidFill>
                  <a:srgbClr val="E45011"/>
                </a:solidFill>
                <a:latin typeface="Arial"/>
                <a:cs typeface="Arial"/>
              </a:rPr>
              <a:t>■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LAPD</a:t>
            </a:r>
            <a:endParaRPr sz="14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428515" y="7347247"/>
            <a:ext cx="7519034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250" dirty="0">
                <a:solidFill>
                  <a:srgbClr val="3B3D38"/>
                </a:solidFill>
                <a:latin typeface="Courier New"/>
                <a:cs typeface="Courier New"/>
              </a:rPr>
              <a:t>0</a:t>
            </a:r>
            <a:r>
              <a:rPr sz="3350" spc="250" dirty="0">
                <a:solidFill>
                  <a:srgbClr val="93938E"/>
                </a:solidFill>
                <a:latin typeface="Courier New"/>
                <a:cs typeface="Courier New"/>
              </a:rPr>
              <a:t>------------------------</a:t>
            </a:r>
            <a:r>
              <a:rPr sz="3350" spc="190" dirty="0">
                <a:solidFill>
                  <a:srgbClr val="93938E"/>
                </a:solidFill>
                <a:latin typeface="Courier New"/>
                <a:cs typeface="Courier New"/>
              </a:rPr>
              <a:t>-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665875" y="7730232"/>
            <a:ext cx="740664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4370" algn="l"/>
                <a:tab pos="1375410" algn="l"/>
                <a:tab pos="2050414" algn="l"/>
                <a:tab pos="2725420" algn="l"/>
                <a:tab pos="3413125" algn="l"/>
                <a:tab pos="4100829" algn="l"/>
                <a:tab pos="4775835" algn="l"/>
                <a:tab pos="5463540" algn="l"/>
                <a:tab pos="6151245" algn="l"/>
                <a:tab pos="6852284" algn="l"/>
              </a:tabLst>
            </a:pP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20" dirty="0">
                <a:solidFill>
                  <a:srgbClr val="282824"/>
                </a:solidFill>
                <a:latin typeface="Arial"/>
                <a:cs typeface="Arial"/>
              </a:rPr>
              <a:t>1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b="1" spc="-20" dirty="0">
                <a:solidFill>
                  <a:srgbClr val="3B3D38"/>
                </a:solidFill>
                <a:latin typeface="Arial"/>
                <a:cs typeface="Arial"/>
              </a:rPr>
              <a:t>4</a:t>
            </a:r>
            <a:r>
              <a:rPr sz="1450" b="1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20" dirty="0">
                <a:solidFill>
                  <a:srgbClr val="282824"/>
                </a:solidFill>
                <a:latin typeface="Arial"/>
                <a:cs typeface="Arial"/>
              </a:rPr>
              <a:t>7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Day11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20" dirty="0">
                <a:solidFill>
                  <a:srgbClr val="282824"/>
                </a:solidFill>
                <a:latin typeface="Arial"/>
                <a:cs typeface="Arial"/>
              </a:rPr>
              <a:t>13</a:t>
            </a:r>
            <a:r>
              <a:rPr sz="1450" dirty="0">
                <a:solidFill>
                  <a:srgbClr val="282824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Day17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Day19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5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19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23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5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19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25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3B3D38"/>
                </a:solidFill>
                <a:latin typeface="Arial"/>
                <a:cs typeface="Arial"/>
              </a:rPr>
              <a:t>Day30</a:t>
            </a:r>
            <a:r>
              <a:rPr sz="1450" dirty="0">
                <a:solidFill>
                  <a:srgbClr val="3B3D38"/>
                </a:solidFill>
                <a:latin typeface="Arial"/>
                <a:cs typeface="Arial"/>
              </a:rPr>
              <a:t>	</a:t>
            </a:r>
            <a:r>
              <a:rPr sz="1450" spc="-50" dirty="0">
                <a:solidFill>
                  <a:srgbClr val="3B3D38"/>
                </a:solidFill>
                <a:latin typeface="Arial"/>
                <a:cs typeface="Arial"/>
              </a:rPr>
              <a:t>Day</a:t>
            </a:r>
            <a:r>
              <a:rPr sz="1450" spc="-21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3B3D38"/>
                </a:solidFill>
                <a:latin typeface="Arial"/>
                <a:cs typeface="Arial"/>
              </a:rPr>
              <a:t>31</a:t>
            </a:r>
            <a:endParaRPr sz="14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633687" y="8023852"/>
            <a:ext cx="6720840" cy="6051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905">
              <a:lnSpc>
                <a:spcPts val="2210"/>
              </a:lnSpc>
              <a:spcBef>
                <a:spcPts val="290"/>
              </a:spcBef>
            </a:pPr>
            <a:r>
              <a:rPr sz="1950" spc="-135" dirty="0">
                <a:solidFill>
                  <a:srgbClr val="282824"/>
                </a:solidFill>
                <a:latin typeface="Arial"/>
                <a:cs typeface="Arial"/>
              </a:rPr>
              <a:t>NYPD</a:t>
            </a:r>
            <a:r>
              <a:rPr sz="1950" spc="-33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70" dirty="0">
                <a:solidFill>
                  <a:srgbClr val="282824"/>
                </a:solidFill>
                <a:latin typeface="Arial"/>
                <a:cs typeface="Arial"/>
              </a:rPr>
              <a:t>peaks</a:t>
            </a:r>
            <a:r>
              <a:rPr sz="1950" spc="-229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90" dirty="0">
                <a:solidFill>
                  <a:srgbClr val="282824"/>
                </a:solidFill>
                <a:latin typeface="Arial"/>
                <a:cs typeface="Arial"/>
              </a:rPr>
              <a:t>onday11;</a:t>
            </a:r>
            <a:r>
              <a:rPr sz="1950" spc="-26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65" dirty="0">
                <a:solidFill>
                  <a:srgbClr val="282824"/>
                </a:solidFill>
                <a:latin typeface="Arial"/>
                <a:cs typeface="Arial"/>
              </a:rPr>
              <a:t>LAPDpeaks</a:t>
            </a:r>
            <a:r>
              <a:rPr sz="1950" spc="-24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85" dirty="0">
                <a:solidFill>
                  <a:srgbClr val="282824"/>
                </a:solidFill>
                <a:latin typeface="Arial"/>
                <a:cs typeface="Arial"/>
              </a:rPr>
              <a:t>earlier</a:t>
            </a:r>
            <a:r>
              <a:rPr sz="1950" spc="-11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onday</a:t>
            </a:r>
            <a:r>
              <a:rPr sz="1950" spc="-17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190" dirty="0">
                <a:solidFill>
                  <a:srgbClr val="282824"/>
                </a:solidFill>
                <a:latin typeface="Arial"/>
                <a:cs typeface="Arial"/>
              </a:rPr>
              <a:t>4-</a:t>
            </a:r>
            <a:r>
              <a:rPr sz="1950" spc="200" dirty="0">
                <a:solidFill>
                  <a:srgbClr val="282824"/>
                </a:solidFill>
                <a:latin typeface="Arial"/>
                <a:cs typeface="Arial"/>
              </a:rPr>
              <a:t>the</a:t>
            </a:r>
            <a:r>
              <a:rPr sz="1950" spc="-32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50" dirty="0">
                <a:solidFill>
                  <a:srgbClr val="282824"/>
                </a:solidFill>
                <a:latin typeface="Arial"/>
                <a:cs typeface="Arial"/>
              </a:rPr>
              <a:t>on</a:t>
            </a:r>
            <a:r>
              <a:rPr sz="1950" spc="-50" dirty="0">
                <a:solidFill>
                  <a:srgbClr val="010100"/>
                </a:solidFill>
                <a:latin typeface="Arial"/>
                <a:cs typeface="Arial"/>
              </a:rPr>
              <a:t>l</a:t>
            </a:r>
            <a:r>
              <a:rPr sz="1950" spc="-50" dirty="0">
                <a:solidFill>
                  <a:srgbClr val="282824"/>
                </a:solidFill>
                <a:latin typeface="Arial"/>
                <a:cs typeface="Arial"/>
              </a:rPr>
              <a:t>y</a:t>
            </a:r>
            <a:r>
              <a:rPr sz="1950" spc="-32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slight </a:t>
            </a:r>
            <a:r>
              <a:rPr sz="1950" spc="-80" dirty="0">
                <a:solidFill>
                  <a:srgbClr val="282824"/>
                </a:solidFill>
                <a:latin typeface="Arial"/>
                <a:cs typeface="Arial"/>
              </a:rPr>
              <a:t>divergence</a:t>
            </a:r>
            <a:r>
              <a:rPr sz="1950" spc="-9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40" dirty="0">
                <a:solidFill>
                  <a:srgbClr val="3B3D38"/>
                </a:solidFill>
                <a:latin typeface="Arial"/>
                <a:cs typeface="Arial"/>
              </a:rPr>
              <a:t>in</a:t>
            </a:r>
            <a:r>
              <a:rPr sz="1950" spc="-40" dirty="0">
                <a:solidFill>
                  <a:srgbClr val="282824"/>
                </a:solidFill>
                <a:latin typeface="Arial"/>
                <a:cs typeface="Arial"/>
              </a:rPr>
              <a:t>temporal</a:t>
            </a:r>
            <a:r>
              <a:rPr sz="1950" spc="-204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patterns.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68650" y="8866419"/>
            <a:ext cx="10165080" cy="6305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912494" marR="5080" indent="-900430">
              <a:lnSpc>
                <a:spcPct val="103099"/>
              </a:lnSpc>
              <a:spcBef>
                <a:spcPts val="35"/>
              </a:spcBef>
            </a:pPr>
            <a:r>
              <a:rPr sz="1950" spc="-25" dirty="0">
                <a:solidFill>
                  <a:srgbClr val="282824"/>
                </a:solidFill>
                <a:latin typeface="Arial"/>
                <a:cs typeface="Arial"/>
              </a:rPr>
              <a:t>Across</a:t>
            </a:r>
            <a:r>
              <a:rPr sz="1950" spc="-24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years,months</a:t>
            </a:r>
            <a:r>
              <a:rPr sz="1950" dirty="0">
                <a:solidFill>
                  <a:srgbClr val="54544F"/>
                </a:solidFill>
                <a:latin typeface="Arial"/>
                <a:cs typeface="Arial"/>
              </a:rPr>
              <a:t>,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and</a:t>
            </a:r>
            <a:r>
              <a:rPr sz="1950" spc="-254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weeks,therhythm</a:t>
            </a:r>
            <a:r>
              <a:rPr sz="1950" spc="-21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282824"/>
                </a:solidFill>
                <a:latin typeface="Arial"/>
                <a:cs typeface="Arial"/>
              </a:rPr>
              <a:t>of</a:t>
            </a:r>
            <a:r>
              <a:rPr sz="1950" spc="-24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arrestsis</a:t>
            </a:r>
            <a:r>
              <a:rPr sz="1950" spc="-3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282824"/>
                </a:solidFill>
                <a:latin typeface="Arial"/>
                <a:cs typeface="Arial"/>
              </a:rPr>
              <a:t>strikingly</a:t>
            </a:r>
            <a:r>
              <a:rPr sz="1950" spc="-18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60" dirty="0">
                <a:solidFill>
                  <a:srgbClr val="282824"/>
                </a:solidFill>
                <a:latin typeface="Arial"/>
                <a:cs typeface="Arial"/>
              </a:rPr>
              <a:t>similar.</a:t>
            </a:r>
            <a:r>
              <a:rPr sz="1950" spc="-24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The</a:t>
            </a:r>
            <a:r>
              <a:rPr sz="1950" spc="-19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primary</a:t>
            </a:r>
            <a:r>
              <a:rPr sz="1950" spc="-23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difference </a:t>
            </a:r>
            <a:r>
              <a:rPr sz="1950" spc="-20" dirty="0">
                <a:solidFill>
                  <a:srgbClr val="3B3D38"/>
                </a:solidFill>
                <a:latin typeface="Arial"/>
                <a:cs typeface="Arial"/>
              </a:rPr>
              <a:t>is</a:t>
            </a:r>
            <a:r>
              <a:rPr sz="1950" spc="-160" dirty="0">
                <a:solidFill>
                  <a:srgbClr val="3B3D38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not</a:t>
            </a:r>
            <a:r>
              <a:rPr sz="1950" spc="-29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800" i="1" spc="70" dirty="0">
                <a:solidFill>
                  <a:srgbClr val="282824"/>
                </a:solidFill>
                <a:latin typeface="Arial"/>
                <a:cs typeface="Arial"/>
              </a:rPr>
              <a:t>when</a:t>
            </a:r>
            <a:r>
              <a:rPr sz="1800" i="1" spc="-16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282824"/>
                </a:solidFill>
                <a:latin typeface="Arial"/>
                <a:cs typeface="Arial"/>
              </a:rPr>
              <a:t>arrests</a:t>
            </a:r>
            <a:r>
              <a:rPr sz="1950" spc="-24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40" dirty="0">
                <a:solidFill>
                  <a:srgbClr val="282824"/>
                </a:solidFill>
                <a:latin typeface="Arial"/>
                <a:cs typeface="Arial"/>
              </a:rPr>
              <a:t>happen,</a:t>
            </a:r>
            <a:r>
              <a:rPr sz="1950" spc="-204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282824"/>
                </a:solidFill>
                <a:latin typeface="Arial"/>
                <a:cs typeface="Arial"/>
              </a:rPr>
              <a:t>but</a:t>
            </a:r>
            <a:r>
              <a:rPr sz="1950" spc="-29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282824"/>
                </a:solidFill>
                <a:latin typeface="Arial"/>
                <a:cs typeface="Arial"/>
              </a:rPr>
              <a:t>the</a:t>
            </a:r>
            <a:r>
              <a:rPr sz="1950" spc="-29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35" dirty="0">
                <a:solidFill>
                  <a:srgbClr val="282824"/>
                </a:solidFill>
                <a:latin typeface="Arial"/>
                <a:cs typeface="Arial"/>
              </a:rPr>
              <a:t>sheer</a:t>
            </a:r>
            <a:r>
              <a:rPr sz="1950" spc="-18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82824"/>
                </a:solidFill>
                <a:latin typeface="Arial"/>
                <a:cs typeface="Arial"/>
              </a:rPr>
              <a:t>volume</a:t>
            </a:r>
            <a:r>
              <a:rPr sz="1800" i="1" spc="-22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3B3D38"/>
                </a:solidFill>
                <a:latin typeface="Arial"/>
                <a:cs typeface="Arial"/>
              </a:rPr>
              <a:t>in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which</a:t>
            </a:r>
            <a:r>
              <a:rPr sz="1950" spc="-24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282824"/>
                </a:solidFill>
                <a:latin typeface="Arial"/>
                <a:cs typeface="Arial"/>
              </a:rPr>
              <a:t>they</a:t>
            </a:r>
            <a:r>
              <a:rPr sz="1950" spc="-270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950" spc="-40" dirty="0">
                <a:solidFill>
                  <a:srgbClr val="282824"/>
                </a:solidFill>
                <a:latin typeface="Arial"/>
                <a:cs typeface="Arial"/>
              </a:rPr>
              <a:t>happen.</a:t>
            </a:r>
            <a:r>
              <a:rPr sz="1950" spc="-305" dirty="0">
                <a:solidFill>
                  <a:srgbClr val="282824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6E6E67"/>
                </a:solidFill>
                <a:latin typeface="Arial"/>
                <a:cs typeface="Arial"/>
              </a:rPr>
              <a:t>in</a:t>
            </a:r>
            <a:r>
              <a:rPr sz="1650" spc="-110" dirty="0">
                <a:solidFill>
                  <a:srgbClr val="6E6E67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E6E67"/>
                </a:solidFill>
                <a:latin typeface="Arial"/>
                <a:cs typeface="Arial"/>
              </a:rPr>
              <a:t>Graph</a:t>
            </a:r>
            <a:r>
              <a:rPr sz="1650" spc="-10" dirty="0">
                <a:solidFill>
                  <a:srgbClr val="54544F"/>
                </a:solidFill>
                <a:latin typeface="Arial"/>
                <a:cs typeface="Arial"/>
              </a:rPr>
              <a:t>i</a:t>
            </a:r>
            <a:r>
              <a:rPr sz="1650" spc="-10" dirty="0">
                <a:solidFill>
                  <a:srgbClr val="6E6E67"/>
                </a:solidFill>
                <a:latin typeface="Arial"/>
                <a:cs typeface="Arial"/>
              </a:rPr>
              <a:t>k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589" y="2655623"/>
            <a:ext cx="6470354" cy="32681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2688" y="2834349"/>
            <a:ext cx="7463834" cy="32936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3216" y="274803"/>
            <a:ext cx="14384019" cy="2118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475"/>
              </a:lnSpc>
              <a:spcBef>
                <a:spcPts val="125"/>
              </a:spcBef>
            </a:pPr>
            <a:r>
              <a:rPr sz="4850" b="1" spc="-145" dirty="0">
                <a:solidFill>
                  <a:srgbClr val="1A1A16"/>
                </a:solidFill>
                <a:latin typeface="Arial"/>
                <a:cs typeface="Arial"/>
              </a:rPr>
              <a:t>Clue</a:t>
            </a:r>
            <a:r>
              <a:rPr sz="4850" b="1" spc="-3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850" b="1" dirty="0">
                <a:solidFill>
                  <a:srgbClr val="1A1A16"/>
                </a:solidFill>
                <a:latin typeface="Arial"/>
                <a:cs typeface="Arial"/>
              </a:rPr>
              <a:t>#2:</a:t>
            </a:r>
            <a:r>
              <a:rPr sz="4850" b="1" spc="-89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850" b="1" spc="-55" dirty="0">
                <a:solidFill>
                  <a:srgbClr val="1A1A16"/>
                </a:solidFill>
                <a:latin typeface="Arial"/>
                <a:cs typeface="Arial"/>
              </a:rPr>
              <a:t>Arrest</a:t>
            </a:r>
            <a:r>
              <a:rPr sz="4850" b="1" spc="-459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850" b="1" spc="-95" dirty="0">
                <a:solidFill>
                  <a:srgbClr val="1A1A16"/>
                </a:solidFill>
                <a:latin typeface="Arial"/>
                <a:cs typeface="Arial"/>
              </a:rPr>
              <a:t>Demographics</a:t>
            </a:r>
            <a:r>
              <a:rPr sz="4850" b="1" spc="-36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850" b="1" spc="-65" dirty="0">
                <a:solidFill>
                  <a:srgbClr val="1A1A16"/>
                </a:solidFill>
                <a:latin typeface="Arial"/>
                <a:cs typeface="Arial"/>
              </a:rPr>
              <a:t>Diverge</a:t>
            </a:r>
            <a:r>
              <a:rPr sz="4850" b="1" spc="-44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850" b="1" spc="-65" dirty="0">
                <a:solidFill>
                  <a:srgbClr val="1A1A16"/>
                </a:solidFill>
                <a:latin typeface="Arial"/>
                <a:cs typeface="Arial"/>
              </a:rPr>
              <a:t>Significantly</a:t>
            </a:r>
            <a:endParaRPr sz="4850">
              <a:latin typeface="Arial"/>
              <a:cs typeface="Arial"/>
            </a:endParaRPr>
          </a:p>
          <a:p>
            <a:pPr marL="41275">
              <a:lnSpc>
                <a:spcPts val="5355"/>
              </a:lnSpc>
            </a:pPr>
            <a:r>
              <a:rPr sz="4750" b="1" spc="125" dirty="0">
                <a:solidFill>
                  <a:srgbClr val="1A1A16"/>
                </a:solidFill>
                <a:latin typeface="Times New Roman"/>
                <a:cs typeface="Times New Roman"/>
              </a:rPr>
              <a:t>by</a:t>
            </a:r>
            <a:r>
              <a:rPr sz="4750" b="1" spc="-665" dirty="0">
                <a:solidFill>
                  <a:srgbClr val="1A1A16"/>
                </a:solidFill>
                <a:latin typeface="Times New Roman"/>
                <a:cs typeface="Times New Roman"/>
              </a:rPr>
              <a:t> </a:t>
            </a:r>
            <a:r>
              <a:rPr sz="4300" b="1" spc="175" dirty="0">
                <a:solidFill>
                  <a:srgbClr val="1A1A16"/>
                </a:solidFill>
                <a:latin typeface="Arial"/>
                <a:cs typeface="Arial"/>
              </a:rPr>
              <a:t>Race,</a:t>
            </a:r>
            <a:r>
              <a:rPr sz="4300" b="1" spc="-66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300" b="1" spc="165" dirty="0">
                <a:solidFill>
                  <a:srgbClr val="1A1A16"/>
                </a:solidFill>
                <a:latin typeface="Arial"/>
                <a:cs typeface="Arial"/>
              </a:rPr>
              <a:t>But</a:t>
            </a:r>
            <a:r>
              <a:rPr sz="4300" b="1" spc="-55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300" b="1" spc="235" dirty="0">
                <a:solidFill>
                  <a:srgbClr val="1A1A16"/>
                </a:solidFill>
                <a:latin typeface="Arial"/>
                <a:cs typeface="Arial"/>
              </a:rPr>
              <a:t>Not</a:t>
            </a:r>
            <a:r>
              <a:rPr sz="4300" b="1" spc="-35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4750" b="1" spc="125" dirty="0">
                <a:solidFill>
                  <a:srgbClr val="1A1A16"/>
                </a:solidFill>
                <a:latin typeface="Times New Roman"/>
                <a:cs typeface="Times New Roman"/>
              </a:rPr>
              <a:t>by</a:t>
            </a:r>
            <a:r>
              <a:rPr sz="4750" b="1" spc="-545" dirty="0">
                <a:solidFill>
                  <a:srgbClr val="1A1A16"/>
                </a:solidFill>
                <a:latin typeface="Times New Roman"/>
                <a:cs typeface="Times New Roman"/>
              </a:rPr>
              <a:t> </a:t>
            </a:r>
            <a:r>
              <a:rPr sz="4300" b="1" spc="155" dirty="0">
                <a:solidFill>
                  <a:srgbClr val="1A1A16"/>
                </a:solidFill>
                <a:latin typeface="Arial"/>
                <a:cs typeface="Arial"/>
              </a:rPr>
              <a:t>Age</a:t>
            </a:r>
            <a:endParaRPr sz="43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380"/>
              </a:spcBef>
              <a:tabLst>
                <a:tab pos="8587740" algn="l"/>
              </a:tabLst>
            </a:pPr>
            <a:r>
              <a:rPr sz="2700" b="1" spc="-60" dirty="0">
                <a:solidFill>
                  <a:srgbClr val="010101"/>
                </a:solidFill>
                <a:latin typeface="Arial"/>
                <a:cs typeface="Arial"/>
              </a:rPr>
              <a:t>Race</a:t>
            </a:r>
            <a:r>
              <a:rPr sz="2700" b="1" spc="-3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100" dirty="0">
                <a:solidFill>
                  <a:srgbClr val="010101"/>
                </a:solidFill>
                <a:latin typeface="Arial"/>
                <a:cs typeface="Arial"/>
              </a:rPr>
              <a:t>Distribution</a:t>
            </a:r>
            <a:r>
              <a:rPr sz="2700" b="1" spc="-1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45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2700" b="1" spc="-1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010101"/>
                </a:solidFill>
                <a:latin typeface="Arial"/>
                <a:cs typeface="Arial"/>
              </a:rPr>
              <a:t>Arrestees</a:t>
            </a:r>
            <a:r>
              <a:rPr sz="2700" b="1" dirty="0">
                <a:solidFill>
                  <a:srgbClr val="010101"/>
                </a:solidFill>
                <a:latin typeface="Arial"/>
                <a:cs typeface="Arial"/>
              </a:rPr>
              <a:t>	</a:t>
            </a:r>
            <a:r>
              <a:rPr sz="2700" b="1" spc="-80" dirty="0">
                <a:solidFill>
                  <a:srgbClr val="010101"/>
                </a:solidFill>
                <a:latin typeface="Arial"/>
                <a:cs typeface="Arial"/>
              </a:rPr>
              <a:t>Age</a:t>
            </a:r>
            <a:r>
              <a:rPr sz="2700" b="1" spc="-4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110" dirty="0">
                <a:solidFill>
                  <a:srgbClr val="010101"/>
                </a:solidFill>
                <a:latin typeface="Arial"/>
                <a:cs typeface="Arial"/>
              </a:rPr>
              <a:t>Distribution</a:t>
            </a:r>
            <a:r>
              <a:rPr sz="2700" b="1" spc="-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45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2700" b="1" spc="-2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010101"/>
                </a:solidFill>
                <a:latin typeface="Arial"/>
                <a:cs typeface="Arial"/>
              </a:rPr>
              <a:t>Arrestees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3790" y="2904629"/>
            <a:ext cx="57912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30" dirty="0">
                <a:solidFill>
                  <a:srgbClr val="2A2A26"/>
                </a:solidFill>
                <a:latin typeface="Arial"/>
                <a:cs typeface="Arial"/>
              </a:rPr>
              <a:t>Black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219" y="3747194"/>
            <a:ext cx="88582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40" dirty="0">
                <a:solidFill>
                  <a:srgbClr val="2A2A26"/>
                </a:solidFill>
                <a:latin typeface="Arial"/>
                <a:cs typeface="Arial"/>
              </a:rPr>
              <a:t>Hispan</a:t>
            </a:r>
            <a:r>
              <a:rPr sz="1850" spc="-40" dirty="0">
                <a:solidFill>
                  <a:srgbClr val="010101"/>
                </a:solidFill>
                <a:latin typeface="Arial"/>
                <a:cs typeface="Arial"/>
              </a:rPr>
              <a:t>i</a:t>
            </a:r>
            <a:r>
              <a:rPr sz="1850" spc="-40" dirty="0">
                <a:solidFill>
                  <a:srgbClr val="2A2A26"/>
                </a:solidFill>
                <a:latin typeface="Arial"/>
                <a:cs typeface="Arial"/>
              </a:rPr>
              <a:t>c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690" y="4589760"/>
            <a:ext cx="59753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40" dirty="0">
                <a:solidFill>
                  <a:srgbClr val="2A2A26"/>
                </a:solidFill>
                <a:latin typeface="Arial"/>
                <a:cs typeface="Arial"/>
              </a:rPr>
              <a:t>White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874" y="5317430"/>
            <a:ext cx="1307465" cy="5645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ts val="2115"/>
              </a:lnSpc>
              <a:spcBef>
                <a:spcPts val="110"/>
              </a:spcBef>
            </a:pPr>
            <a:r>
              <a:rPr sz="1850" spc="-40" dirty="0">
                <a:solidFill>
                  <a:srgbClr val="2A2A26"/>
                </a:solidFill>
                <a:latin typeface="Arial"/>
                <a:cs typeface="Arial"/>
              </a:rPr>
              <a:t>Asian/Pacific</a:t>
            </a:r>
            <a:endParaRPr sz="1850">
              <a:latin typeface="Arial"/>
              <a:cs typeface="Arial"/>
            </a:endParaRPr>
          </a:p>
          <a:p>
            <a:pPr marR="6985" algn="r">
              <a:lnSpc>
                <a:spcPts val="2115"/>
              </a:lnSpc>
            </a:pPr>
            <a:r>
              <a:rPr sz="1850" spc="-10" dirty="0">
                <a:solidFill>
                  <a:srgbClr val="2A2A26"/>
                </a:solidFill>
                <a:latin typeface="Arial"/>
                <a:cs typeface="Arial"/>
              </a:rPr>
              <a:t>Islander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551" y="2496113"/>
            <a:ext cx="35814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40" dirty="0">
                <a:solidFill>
                  <a:srgbClr val="2A2A26"/>
                </a:solidFill>
                <a:latin typeface="Courier New"/>
                <a:cs typeface="Courier New"/>
              </a:rPr>
              <a:t>50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29984" y="2521643"/>
            <a:ext cx="50228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320" dirty="0">
                <a:solidFill>
                  <a:srgbClr val="2A2A26"/>
                </a:solidFill>
                <a:latin typeface="Courier New"/>
                <a:cs typeface="Courier New"/>
              </a:rPr>
              <a:t>46.5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7956" y="2700370"/>
            <a:ext cx="5143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95" dirty="0">
                <a:solidFill>
                  <a:srgbClr val="2A2A26"/>
                </a:solidFill>
                <a:latin typeface="Courier New"/>
                <a:cs typeface="Courier New"/>
              </a:rPr>
              <a:t>48.3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31516" y="2821649"/>
            <a:ext cx="64960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7050" spc="-517" baseline="-31914" dirty="0">
                <a:solidFill>
                  <a:srgbClr val="2A2A26"/>
                </a:solidFill>
                <a:latin typeface="Times New Roman"/>
                <a:cs typeface="Times New Roman"/>
              </a:rPr>
              <a:t>-</a:t>
            </a:r>
            <a:r>
              <a:rPr sz="7050" spc="277" baseline="-31914" dirty="0">
                <a:solidFill>
                  <a:srgbClr val="2A2A26"/>
                </a:solidFill>
                <a:latin typeface="Times New Roman"/>
                <a:cs typeface="Times New Roman"/>
              </a:rPr>
              <a:t> </a:t>
            </a:r>
            <a:r>
              <a:rPr sz="2050" spc="-300" dirty="0">
                <a:solidFill>
                  <a:srgbClr val="2A2A26"/>
                </a:solidFill>
                <a:latin typeface="Courier New"/>
                <a:cs typeface="Courier New"/>
              </a:rPr>
              <a:t>40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34874" y="3555702"/>
            <a:ext cx="208279" cy="646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50" i="1" spc="-1490" dirty="0">
                <a:solidFill>
                  <a:srgbClr val="2A2A26"/>
                </a:solidFill>
                <a:latin typeface="Arial"/>
                <a:cs typeface="Arial"/>
              </a:rPr>
              <a:t>*</a:t>
            </a:r>
            <a:endParaRPr sz="4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53521" y="3338678"/>
            <a:ext cx="219710" cy="845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50" spc="-1300" dirty="0">
                <a:solidFill>
                  <a:srgbClr val="2A2A26"/>
                </a:solidFill>
                <a:latin typeface="Times New Roman"/>
                <a:cs typeface="Times New Roman"/>
              </a:rPr>
              <a:t>-</a:t>
            </a:r>
            <a:endParaRPr sz="5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4765" y="3823791"/>
            <a:ext cx="467359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330" dirty="0">
                <a:solidFill>
                  <a:srgbClr val="2A2A26"/>
                </a:solidFill>
                <a:latin typeface="Courier New"/>
                <a:cs typeface="Courier New"/>
              </a:rPr>
              <a:t>&lt;l1</a:t>
            </a:r>
            <a:r>
              <a:rPr sz="1250" spc="40" dirty="0">
                <a:solidFill>
                  <a:srgbClr val="2A2A26"/>
                </a:solidFill>
                <a:latin typeface="Courier New"/>
                <a:cs typeface="Courier New"/>
              </a:rPr>
              <a:t> </a:t>
            </a:r>
            <a:r>
              <a:rPr sz="2050" spc="-560" dirty="0">
                <a:solidFill>
                  <a:srgbClr val="2A2A26"/>
                </a:solidFill>
                <a:latin typeface="Courier New"/>
                <a:cs typeface="Courier New"/>
              </a:rPr>
              <a:t>30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27325" y="4066348"/>
            <a:ext cx="8699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160" dirty="0">
                <a:solidFill>
                  <a:srgbClr val="2A2A26"/>
                </a:solidFill>
                <a:latin typeface="Arial"/>
                <a:cs typeface="Arial"/>
              </a:rPr>
              <a:t>0)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25682" y="4187626"/>
            <a:ext cx="1917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2A2A26"/>
                </a:solidFill>
                <a:latin typeface="Arial"/>
                <a:cs typeface="Arial"/>
              </a:rPr>
              <a:t>Oil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82847" y="3791875"/>
            <a:ext cx="262255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00" spc="-1764" dirty="0">
                <a:solidFill>
                  <a:srgbClr val="2A2A26"/>
                </a:solidFill>
                <a:latin typeface="Arial"/>
                <a:cs typeface="Arial"/>
              </a:rPr>
              <a:t>-</a:t>
            </a:r>
            <a:endParaRPr sz="6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26988" y="4372735"/>
            <a:ext cx="10604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85" dirty="0">
                <a:solidFill>
                  <a:srgbClr val="2A2A26"/>
                </a:solidFill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19613" y="4525929"/>
            <a:ext cx="6388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370" dirty="0">
                <a:solidFill>
                  <a:srgbClr val="2A2A26"/>
                </a:solidFill>
                <a:latin typeface="Courier New"/>
                <a:cs typeface="Courier New"/>
              </a:rPr>
              <a:t>�</a:t>
            </a:r>
            <a:r>
              <a:rPr sz="2050" spc="-10" dirty="0">
                <a:solidFill>
                  <a:srgbClr val="2A2A26"/>
                </a:solidFill>
                <a:latin typeface="Courier New"/>
                <a:cs typeface="Courier New"/>
              </a:rPr>
              <a:t> </a:t>
            </a:r>
            <a:r>
              <a:rPr sz="2050" spc="-290" dirty="0">
                <a:solidFill>
                  <a:srgbClr val="2A2A26"/>
                </a:solidFill>
                <a:latin typeface="Courier New"/>
                <a:cs typeface="Courier New"/>
              </a:rPr>
              <a:t>20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25025" y="4819551"/>
            <a:ext cx="14541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25" dirty="0">
                <a:solidFill>
                  <a:srgbClr val="2A2A26"/>
                </a:solidFill>
                <a:latin typeface="Arial"/>
                <a:cs typeface="Arial"/>
              </a:rPr>
              <a:t>(!)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86401" y="4876998"/>
            <a:ext cx="22987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85" dirty="0">
                <a:solidFill>
                  <a:srgbClr val="1A1A16"/>
                </a:solidFill>
                <a:latin typeface="Arial"/>
                <a:cs typeface="Arial"/>
              </a:rPr>
              <a:t>a...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47321" y="5177003"/>
            <a:ext cx="3016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20" dirty="0">
                <a:solidFill>
                  <a:srgbClr val="2A2A26"/>
                </a:solidFill>
                <a:latin typeface="Courier New"/>
                <a:cs typeface="Courier New"/>
              </a:rPr>
              <a:t>10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24523" y="6102548"/>
            <a:ext cx="13779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65" dirty="0">
                <a:solidFill>
                  <a:srgbClr val="2A2A26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914" y="6057867"/>
            <a:ext cx="3016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20" dirty="0">
                <a:solidFill>
                  <a:srgbClr val="2A2A26"/>
                </a:solidFill>
                <a:latin typeface="Courier New"/>
                <a:cs typeface="Courier New"/>
              </a:rPr>
              <a:t>10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45046" y="6050828"/>
            <a:ext cx="1663700" cy="6610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296035" algn="l"/>
              </a:tabLst>
            </a:pPr>
            <a:r>
              <a:rPr sz="2050" spc="30" dirty="0">
                <a:solidFill>
                  <a:srgbClr val="2A2A26"/>
                </a:solidFill>
                <a:latin typeface="Courier New"/>
                <a:cs typeface="Courier New"/>
              </a:rPr>
              <a:t>20</a:t>
            </a:r>
            <a:r>
              <a:rPr sz="2050" dirty="0">
                <a:solidFill>
                  <a:srgbClr val="2A2A26"/>
                </a:solidFill>
                <a:latin typeface="Courier New"/>
                <a:cs typeface="Courier New"/>
              </a:rPr>
              <a:t>	</a:t>
            </a:r>
            <a:r>
              <a:rPr sz="2050" spc="20" dirty="0">
                <a:solidFill>
                  <a:srgbClr val="2A2A26"/>
                </a:solidFill>
                <a:latin typeface="Courier New"/>
                <a:cs typeface="Courier New"/>
              </a:rPr>
              <a:t>30</a:t>
            </a:r>
            <a:endParaRPr sz="2050">
              <a:latin typeface="Courier New"/>
              <a:cs typeface="Courier New"/>
            </a:endParaRPr>
          </a:p>
          <a:p>
            <a:pPr marL="67310">
              <a:lnSpc>
                <a:spcPct val="100000"/>
              </a:lnSpc>
              <a:spcBef>
                <a:spcPts val="155"/>
              </a:spcBef>
            </a:pPr>
            <a:r>
              <a:rPr sz="1850" spc="-60" dirty="0">
                <a:solidFill>
                  <a:srgbClr val="1A1A16"/>
                </a:solidFill>
                <a:latin typeface="Arial"/>
                <a:cs typeface="Arial"/>
              </a:rPr>
              <a:t>Percentage</a:t>
            </a:r>
            <a:r>
              <a:rPr sz="1850" spc="-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2A2A26"/>
                </a:solidFill>
                <a:latin typeface="Arial"/>
                <a:cs typeface="Arial"/>
              </a:rPr>
              <a:t>(</a:t>
            </a:r>
            <a:r>
              <a:rPr sz="1500" spc="-30" baseline="27777" dirty="0">
                <a:solidFill>
                  <a:srgbClr val="2A2A26"/>
                </a:solidFill>
                <a:latin typeface="Arial"/>
                <a:cs typeface="Arial"/>
              </a:rPr>
              <a:t>0</a:t>
            </a:r>
            <a:r>
              <a:rPr sz="1800" spc="-20" dirty="0">
                <a:solidFill>
                  <a:srgbClr val="2A2A26"/>
                </a:solidFill>
                <a:latin typeface="Times New Roman"/>
                <a:cs typeface="Times New Roman"/>
              </a:rPr>
              <a:t>/4)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99739" y="6057867"/>
            <a:ext cx="3606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55" dirty="0">
                <a:solidFill>
                  <a:srgbClr val="2A2A26"/>
                </a:solidFill>
                <a:latin typeface="Courier New"/>
                <a:cs typeface="Courier New"/>
              </a:rPr>
              <a:t>40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63175" y="6070633"/>
            <a:ext cx="35814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40" dirty="0">
                <a:solidFill>
                  <a:srgbClr val="2A2A26"/>
                </a:solidFill>
                <a:latin typeface="Courier New"/>
                <a:cs typeface="Courier New"/>
              </a:rPr>
              <a:t>50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42618" y="6057867"/>
            <a:ext cx="37846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340" dirty="0">
                <a:solidFill>
                  <a:srgbClr val="2A2A26"/>
                </a:solidFill>
                <a:latin typeface="Courier New"/>
                <a:cs typeface="Courier New"/>
              </a:rPr>
              <a:t>&lt;18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25334" y="6057867"/>
            <a:ext cx="6445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65" dirty="0">
                <a:solidFill>
                  <a:srgbClr val="2A2A26"/>
                </a:solidFill>
                <a:latin typeface="Courier New"/>
                <a:cs typeface="Courier New"/>
              </a:rPr>
              <a:t>18-</a:t>
            </a:r>
            <a:r>
              <a:rPr sz="2050" spc="-290" dirty="0">
                <a:solidFill>
                  <a:srgbClr val="2A2A26"/>
                </a:solidFill>
                <a:latin typeface="Courier New"/>
                <a:cs typeface="Courier New"/>
              </a:rPr>
              <a:t>24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033438" y="6057867"/>
            <a:ext cx="72390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40" dirty="0">
                <a:solidFill>
                  <a:srgbClr val="2A2A26"/>
                </a:solidFill>
                <a:latin typeface="Courier New"/>
                <a:cs typeface="Courier New"/>
              </a:rPr>
              <a:t>25</a:t>
            </a:r>
            <a:r>
              <a:rPr sz="2050" spc="-140" dirty="0">
                <a:solidFill>
                  <a:srgbClr val="010101"/>
                </a:solidFill>
                <a:latin typeface="Courier New"/>
                <a:cs typeface="Courier New"/>
              </a:rPr>
              <a:t>-</a:t>
            </a:r>
            <a:r>
              <a:rPr sz="2050" spc="-95" dirty="0">
                <a:solidFill>
                  <a:srgbClr val="2A2A26"/>
                </a:solidFill>
                <a:latin typeface="Courier New"/>
                <a:cs typeface="Courier New"/>
              </a:rPr>
              <a:t>44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454632" y="6057867"/>
            <a:ext cx="7277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35" dirty="0">
                <a:solidFill>
                  <a:srgbClr val="2A2A26"/>
                </a:solidFill>
                <a:latin typeface="Courier New"/>
                <a:cs typeface="Courier New"/>
              </a:rPr>
              <a:t>45</a:t>
            </a:r>
            <a:r>
              <a:rPr sz="2050" spc="-135" dirty="0">
                <a:solidFill>
                  <a:srgbClr val="010101"/>
                </a:solidFill>
                <a:latin typeface="Courier New"/>
                <a:cs typeface="Courier New"/>
              </a:rPr>
              <a:t>-</a:t>
            </a:r>
            <a:r>
              <a:rPr sz="2050" spc="-85" dirty="0">
                <a:solidFill>
                  <a:srgbClr val="2A2A26"/>
                </a:solidFill>
                <a:latin typeface="Courier New"/>
                <a:cs typeface="Courier New"/>
              </a:rPr>
              <a:t>64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039605" y="6083399"/>
            <a:ext cx="43688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25" dirty="0">
                <a:solidFill>
                  <a:srgbClr val="2A2A26"/>
                </a:solidFill>
                <a:latin typeface="Arial"/>
                <a:cs typeface="Arial"/>
              </a:rPr>
              <a:t>65+</a:t>
            </a:r>
            <a:endParaRPr sz="1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3987" y="6777621"/>
            <a:ext cx="4667885" cy="16052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730"/>
              </a:spcBef>
            </a:pPr>
            <a:r>
              <a:rPr sz="2700" b="1" spc="-55" dirty="0">
                <a:solidFill>
                  <a:srgbClr val="1A1A16"/>
                </a:solidFill>
                <a:latin typeface="Arial"/>
                <a:cs typeface="Arial"/>
              </a:rPr>
              <a:t>**Key</a:t>
            </a:r>
            <a:r>
              <a:rPr sz="2700" b="1" spc="-31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010101"/>
                </a:solidFill>
                <a:latin typeface="Arial"/>
                <a:cs typeface="Arial"/>
              </a:rPr>
              <a:t>Findings**</a:t>
            </a:r>
            <a:endParaRPr sz="2700">
              <a:latin typeface="Arial"/>
              <a:cs typeface="Arial"/>
            </a:endParaRPr>
          </a:p>
          <a:p>
            <a:pPr marL="24130">
              <a:lnSpc>
                <a:spcPts val="2680"/>
              </a:lnSpc>
              <a:spcBef>
                <a:spcPts val="525"/>
              </a:spcBef>
            </a:pPr>
            <a:r>
              <a:rPr sz="2250" b="1" spc="-65" dirty="0">
                <a:solidFill>
                  <a:srgbClr val="1A1A16"/>
                </a:solidFill>
                <a:latin typeface="Arial"/>
                <a:cs typeface="Arial"/>
              </a:rPr>
              <a:t>**Divergent</a:t>
            </a:r>
            <a:r>
              <a:rPr sz="2250" b="1" spc="-8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250" b="1" spc="-65" dirty="0">
                <a:solidFill>
                  <a:srgbClr val="010101"/>
                </a:solidFill>
                <a:latin typeface="Arial"/>
                <a:cs typeface="Arial"/>
              </a:rPr>
              <a:t>Racial</a:t>
            </a:r>
            <a:r>
              <a:rPr sz="2250" b="1" spc="-3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010101"/>
                </a:solidFill>
                <a:latin typeface="Arial"/>
                <a:cs typeface="Arial"/>
              </a:rPr>
              <a:t>Patterns**</a:t>
            </a:r>
            <a:endParaRPr sz="2250">
              <a:latin typeface="Arial"/>
              <a:cs typeface="Arial"/>
            </a:endParaRPr>
          </a:p>
          <a:p>
            <a:pPr marL="298450" indent="-285750">
              <a:lnSpc>
                <a:spcPts val="2670"/>
              </a:lnSpc>
              <a:buChar char="•"/>
              <a:tabLst>
                <a:tab pos="298450" algn="l"/>
              </a:tabLst>
            </a:pPr>
            <a:r>
              <a:rPr sz="2300" spc="-140" dirty="0">
                <a:solidFill>
                  <a:srgbClr val="010101"/>
                </a:solidFill>
                <a:latin typeface="Arial"/>
                <a:cs typeface="Arial"/>
              </a:rPr>
              <a:t>NYPD:</a:t>
            </a:r>
            <a:r>
              <a:rPr sz="2300" spc="-2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1A1A16"/>
                </a:solidFill>
                <a:latin typeface="Arial"/>
                <a:cs typeface="Arial"/>
              </a:rPr>
              <a:t>48.3%Black,</a:t>
            </a:r>
            <a:r>
              <a:rPr sz="2300" spc="-36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80" dirty="0">
                <a:solidFill>
                  <a:srgbClr val="1A1A16"/>
                </a:solidFill>
                <a:latin typeface="Arial"/>
                <a:cs typeface="Arial"/>
              </a:rPr>
              <a:t>33.9°/4</a:t>
            </a:r>
            <a:r>
              <a:rPr sz="2300" spc="-1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010101"/>
                </a:solidFill>
                <a:latin typeface="Arial"/>
                <a:cs typeface="Arial"/>
              </a:rPr>
              <a:t>H</a:t>
            </a:r>
            <a:r>
              <a:rPr sz="2300" spc="-40" dirty="0">
                <a:solidFill>
                  <a:srgbClr val="2A2A26"/>
                </a:solidFill>
                <a:latin typeface="Arial"/>
                <a:cs typeface="Arial"/>
              </a:rPr>
              <a:t>ispanic</a:t>
            </a:r>
            <a:endParaRPr sz="2300">
              <a:latin typeface="Arial"/>
              <a:cs typeface="Arial"/>
            </a:endParaRPr>
          </a:p>
          <a:p>
            <a:pPr marL="299720" indent="-287020">
              <a:lnSpc>
                <a:spcPts val="2685"/>
              </a:lnSpc>
              <a:buClr>
                <a:srgbClr val="010101"/>
              </a:buClr>
              <a:buChar char="•"/>
              <a:tabLst>
                <a:tab pos="299720" algn="l"/>
              </a:tabLst>
            </a:pPr>
            <a:r>
              <a:rPr sz="2300" spc="-90" dirty="0">
                <a:solidFill>
                  <a:srgbClr val="1A1A16"/>
                </a:solidFill>
                <a:latin typeface="Arial"/>
                <a:cs typeface="Arial"/>
              </a:rPr>
              <a:t>LAPD:</a:t>
            </a:r>
            <a:r>
              <a:rPr sz="2300" spc="-30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1A1A16"/>
                </a:solidFill>
                <a:latin typeface="Arial"/>
                <a:cs typeface="Arial"/>
              </a:rPr>
              <a:t>46.6%</a:t>
            </a:r>
            <a:r>
              <a:rPr sz="2300" spc="-29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1A1A16"/>
                </a:solidFill>
                <a:latin typeface="Arial"/>
                <a:cs typeface="Arial"/>
              </a:rPr>
              <a:t>Hispanic,</a:t>
            </a:r>
            <a:r>
              <a:rPr sz="2300" spc="-24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30" dirty="0">
                <a:solidFill>
                  <a:srgbClr val="1A1A16"/>
                </a:solidFill>
                <a:latin typeface="Arial"/>
                <a:cs typeface="Arial"/>
              </a:rPr>
              <a:t>28.7%</a:t>
            </a:r>
            <a:r>
              <a:rPr sz="2300" spc="-22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A1A16"/>
                </a:solidFill>
                <a:latin typeface="Arial"/>
                <a:cs typeface="Arial"/>
              </a:rPr>
              <a:t>Black</a:t>
            </a:r>
            <a:endParaRPr sz="2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98904" y="7334481"/>
            <a:ext cx="367982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-65" dirty="0">
                <a:solidFill>
                  <a:srgbClr val="1A1A16"/>
                </a:solidFill>
                <a:latin typeface="Arial"/>
                <a:cs typeface="Arial"/>
              </a:rPr>
              <a:t>**Convergent</a:t>
            </a:r>
            <a:r>
              <a:rPr sz="2250" b="1" spc="-7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250" b="1" spc="-55" dirty="0">
                <a:solidFill>
                  <a:srgbClr val="010101"/>
                </a:solidFill>
                <a:latin typeface="Arial"/>
                <a:cs typeface="Arial"/>
              </a:rPr>
              <a:t>Age</a:t>
            </a:r>
            <a:r>
              <a:rPr sz="2250" b="1" spc="-3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250" b="1" spc="-35" dirty="0">
                <a:solidFill>
                  <a:srgbClr val="010101"/>
                </a:solidFill>
                <a:latin typeface="Arial"/>
                <a:cs typeface="Arial"/>
              </a:rPr>
              <a:t>Patterns**</a:t>
            </a:r>
            <a:endParaRPr sz="2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00127" y="7672783"/>
            <a:ext cx="9887585" cy="709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8610" indent="-295910">
              <a:lnSpc>
                <a:spcPts val="2685"/>
              </a:lnSpc>
              <a:spcBef>
                <a:spcPts val="110"/>
              </a:spcBef>
              <a:buClr>
                <a:srgbClr val="010101"/>
              </a:buClr>
              <a:buChar char="•"/>
              <a:tabLst>
                <a:tab pos="308610" algn="l"/>
              </a:tabLst>
            </a:pPr>
            <a:r>
              <a:rPr sz="2300" spc="-40" dirty="0">
                <a:solidFill>
                  <a:srgbClr val="2A2A26"/>
                </a:solidFill>
                <a:latin typeface="Arial"/>
                <a:cs typeface="Arial"/>
              </a:rPr>
              <a:t>Arrests</a:t>
            </a:r>
            <a:r>
              <a:rPr sz="2300" spc="-33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2A2A26"/>
                </a:solidFill>
                <a:latin typeface="Arial"/>
                <a:cs typeface="Arial"/>
              </a:rPr>
              <a:t>in</a:t>
            </a:r>
            <a:r>
              <a:rPr sz="2300" spc="-42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A1A16"/>
                </a:solidFill>
                <a:latin typeface="Arial"/>
                <a:cs typeface="Arial"/>
              </a:rPr>
              <a:t>both</a:t>
            </a:r>
            <a:r>
              <a:rPr sz="2300" spc="-38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A1A16"/>
                </a:solidFill>
                <a:latin typeface="Arial"/>
                <a:cs typeface="Arial"/>
              </a:rPr>
              <a:t>cities</a:t>
            </a:r>
            <a:r>
              <a:rPr sz="2300" spc="-26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70" dirty="0">
                <a:solidFill>
                  <a:srgbClr val="1A1A16"/>
                </a:solidFill>
                <a:latin typeface="Arial"/>
                <a:cs typeface="Arial"/>
              </a:rPr>
              <a:t>peak</a:t>
            </a:r>
            <a:r>
              <a:rPr sz="2300" spc="-24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1A1A16"/>
                </a:solidFill>
                <a:latin typeface="Arial"/>
                <a:cs typeface="Arial"/>
              </a:rPr>
              <a:t>in</a:t>
            </a:r>
            <a:r>
              <a:rPr sz="2300" spc="-40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2A2A26"/>
                </a:solidFill>
                <a:latin typeface="Arial"/>
                <a:cs typeface="Arial"/>
              </a:rPr>
              <a:t>the25-</a:t>
            </a:r>
            <a:r>
              <a:rPr sz="2300" spc="95" dirty="0">
                <a:solidFill>
                  <a:srgbClr val="2A2A26"/>
                </a:solidFill>
                <a:latin typeface="Arial"/>
                <a:cs typeface="Arial"/>
              </a:rPr>
              <a:t>44</a:t>
            </a:r>
            <a:r>
              <a:rPr sz="2300" spc="-28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A2A26"/>
                </a:solidFill>
                <a:latin typeface="Arial"/>
                <a:cs typeface="Arial"/>
              </a:rPr>
              <a:t>age</a:t>
            </a:r>
            <a:r>
              <a:rPr sz="2300" spc="-28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1A1A16"/>
                </a:solidFill>
                <a:latin typeface="Arial"/>
                <a:cs typeface="Arial"/>
              </a:rPr>
              <a:t>group</a:t>
            </a:r>
            <a:r>
              <a:rPr sz="2300" spc="-34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30" dirty="0">
                <a:solidFill>
                  <a:srgbClr val="1A1A16"/>
                </a:solidFill>
                <a:latin typeface="Arial"/>
                <a:cs typeface="Arial"/>
              </a:rPr>
              <a:t>(NYPD:</a:t>
            </a:r>
            <a:r>
              <a:rPr sz="2300" spc="-28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105" dirty="0">
                <a:solidFill>
                  <a:srgbClr val="1A1A16"/>
                </a:solidFill>
                <a:latin typeface="Arial"/>
                <a:cs typeface="Arial"/>
              </a:rPr>
              <a:t>46.5%,</a:t>
            </a:r>
            <a:r>
              <a:rPr sz="2300" spc="-33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1A1A16"/>
                </a:solidFill>
                <a:latin typeface="Arial"/>
                <a:cs typeface="Arial"/>
              </a:rPr>
              <a:t>LAPD:</a:t>
            </a:r>
            <a:r>
              <a:rPr sz="2300" spc="-31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1A1A16"/>
                </a:solidFill>
                <a:latin typeface="Arial"/>
                <a:cs typeface="Arial"/>
              </a:rPr>
              <a:t>45.4%).</a:t>
            </a:r>
            <a:endParaRPr sz="2300">
              <a:latin typeface="Arial"/>
              <a:cs typeface="Arial"/>
            </a:endParaRPr>
          </a:p>
          <a:p>
            <a:pPr marL="301625" indent="-288925">
              <a:lnSpc>
                <a:spcPts val="2685"/>
              </a:lnSpc>
              <a:buClr>
                <a:srgbClr val="010101"/>
              </a:buClr>
              <a:buChar char="•"/>
              <a:tabLst>
                <a:tab pos="301625" algn="l"/>
              </a:tabLst>
            </a:pPr>
            <a:r>
              <a:rPr sz="2300" spc="-10" dirty="0">
                <a:solidFill>
                  <a:srgbClr val="1A1A16"/>
                </a:solidFill>
                <a:latin typeface="Arial"/>
                <a:cs typeface="Arial"/>
              </a:rPr>
              <a:t>The</a:t>
            </a:r>
            <a:r>
              <a:rPr sz="2300" spc="-40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2A2A26"/>
                </a:solidFill>
                <a:latin typeface="Arial"/>
                <a:cs typeface="Arial"/>
              </a:rPr>
              <a:t>distribution</a:t>
            </a:r>
            <a:r>
              <a:rPr sz="2300" spc="-6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2A2A26"/>
                </a:solidFill>
                <a:latin typeface="Arial"/>
                <a:cs typeface="Arial"/>
              </a:rPr>
              <a:t>across</a:t>
            </a:r>
            <a:r>
              <a:rPr sz="2300" spc="-20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2A2A26"/>
                </a:solidFill>
                <a:latin typeface="Arial"/>
                <a:cs typeface="Arial"/>
              </a:rPr>
              <a:t>all</a:t>
            </a:r>
            <a:r>
              <a:rPr sz="2300" spc="-29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A2A26"/>
                </a:solidFill>
                <a:latin typeface="Arial"/>
                <a:cs typeface="Arial"/>
              </a:rPr>
              <a:t>age</a:t>
            </a:r>
            <a:r>
              <a:rPr sz="2300" spc="-30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2A2A26"/>
                </a:solidFill>
                <a:latin typeface="Arial"/>
                <a:cs typeface="Arial"/>
              </a:rPr>
              <a:t>categories</a:t>
            </a:r>
            <a:r>
              <a:rPr sz="2300" spc="-24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1A1A16"/>
                </a:solidFill>
                <a:latin typeface="Arial"/>
                <a:cs typeface="Arial"/>
              </a:rPr>
              <a:t>is</a:t>
            </a:r>
            <a:r>
              <a:rPr sz="2300" spc="-1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2A2A26"/>
                </a:solidFill>
                <a:latin typeface="Arial"/>
                <a:cs typeface="Arial"/>
              </a:rPr>
              <a:t>remarkably</a:t>
            </a:r>
            <a:r>
              <a:rPr sz="2300" spc="-10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A2A26"/>
                </a:solidFill>
                <a:latin typeface="Arial"/>
                <a:cs typeface="Arial"/>
              </a:rPr>
              <a:t>simi</a:t>
            </a:r>
            <a:r>
              <a:rPr sz="2300" spc="-1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2300" spc="-10" dirty="0">
                <a:solidFill>
                  <a:srgbClr val="2A2A26"/>
                </a:solidFill>
                <a:latin typeface="Arial"/>
                <a:cs typeface="Arial"/>
              </a:rPr>
              <a:t>ar.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9846" y="8566414"/>
            <a:ext cx="14846300" cy="7099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2540">
              <a:lnSpc>
                <a:spcPts val="2610"/>
              </a:lnSpc>
              <a:spcBef>
                <a:spcPts val="320"/>
              </a:spcBef>
            </a:pPr>
            <a:r>
              <a:rPr sz="2300" spc="-35" dirty="0">
                <a:solidFill>
                  <a:srgbClr val="1A1A16"/>
                </a:solidFill>
                <a:latin typeface="Arial"/>
                <a:cs typeface="Arial"/>
              </a:rPr>
              <a:t>The</a:t>
            </a:r>
            <a:r>
              <a:rPr sz="2300" spc="-28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2A2A26"/>
                </a:solidFill>
                <a:latin typeface="Arial"/>
                <a:cs typeface="Arial"/>
              </a:rPr>
              <a:t>similar</a:t>
            </a:r>
            <a:r>
              <a:rPr sz="2300" spc="-15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A2A26"/>
                </a:solidFill>
                <a:latin typeface="Arial"/>
                <a:cs typeface="Arial"/>
              </a:rPr>
              <a:t>age</a:t>
            </a:r>
            <a:r>
              <a:rPr sz="2300" spc="-36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2A2A26"/>
                </a:solidFill>
                <a:latin typeface="Arial"/>
                <a:cs typeface="Arial"/>
              </a:rPr>
              <a:t>profiles</a:t>
            </a:r>
            <a:r>
              <a:rPr sz="2300" spc="-29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A2A26"/>
                </a:solidFill>
                <a:latin typeface="Arial"/>
                <a:cs typeface="Arial"/>
              </a:rPr>
              <a:t>suggest</a:t>
            </a:r>
            <a:r>
              <a:rPr sz="2300" spc="-16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1A1A16"/>
                </a:solidFill>
                <a:latin typeface="Arial"/>
                <a:cs typeface="Arial"/>
              </a:rPr>
              <a:t>universal</a:t>
            </a:r>
            <a:r>
              <a:rPr sz="2300" spc="-15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2A2A26"/>
                </a:solidFill>
                <a:latin typeface="Arial"/>
                <a:cs typeface="Arial"/>
              </a:rPr>
              <a:t>criminologicalconstants.</a:t>
            </a:r>
            <a:r>
              <a:rPr sz="2300" spc="-18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1A1A16"/>
                </a:solidFill>
                <a:latin typeface="Arial"/>
                <a:cs typeface="Arial"/>
              </a:rPr>
              <a:t>The</a:t>
            </a:r>
            <a:r>
              <a:rPr sz="2300" spc="-29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1A1A16"/>
                </a:solidFill>
                <a:latin typeface="Arial"/>
                <a:cs typeface="Arial"/>
              </a:rPr>
              <a:t>different</a:t>
            </a:r>
            <a:r>
              <a:rPr sz="2300" spc="-11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sz="2300" spc="-25" dirty="0">
                <a:solidFill>
                  <a:srgbClr val="2A2A26"/>
                </a:solidFill>
                <a:latin typeface="Arial"/>
                <a:cs typeface="Arial"/>
              </a:rPr>
              <a:t>acial</a:t>
            </a:r>
            <a:r>
              <a:rPr sz="2300" spc="-25" dirty="0">
                <a:solidFill>
                  <a:srgbClr val="1A1A16"/>
                </a:solidFill>
                <a:latin typeface="Arial"/>
                <a:cs typeface="Arial"/>
              </a:rPr>
              <a:t>profiles</a:t>
            </a:r>
            <a:r>
              <a:rPr sz="2300" spc="-27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1A1A16"/>
                </a:solidFill>
                <a:latin typeface="Arial"/>
                <a:cs typeface="Arial"/>
              </a:rPr>
              <a:t>point</a:t>
            </a:r>
            <a:r>
              <a:rPr sz="2300" spc="-12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1A1A16"/>
                </a:solidFill>
                <a:latin typeface="Arial"/>
                <a:cs typeface="Arial"/>
              </a:rPr>
              <a:t>to</a:t>
            </a:r>
            <a:r>
              <a:rPr sz="2300" spc="-3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2A2A26"/>
                </a:solidFill>
                <a:latin typeface="Arial"/>
                <a:cs typeface="Arial"/>
              </a:rPr>
              <a:t>theinfluence</a:t>
            </a:r>
            <a:r>
              <a:rPr sz="2300" spc="-23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A2A26"/>
                </a:solidFill>
                <a:latin typeface="Arial"/>
                <a:cs typeface="Arial"/>
              </a:rPr>
              <a:t>of</a:t>
            </a:r>
            <a:r>
              <a:rPr sz="2300" spc="-31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A2A26"/>
                </a:solidFill>
                <a:latin typeface="Arial"/>
                <a:cs typeface="Arial"/>
              </a:rPr>
              <a:t>local </a:t>
            </a:r>
            <a:r>
              <a:rPr sz="2300" spc="-70" dirty="0">
                <a:solidFill>
                  <a:srgbClr val="1A1A16"/>
                </a:solidFill>
                <a:latin typeface="Arial"/>
                <a:cs typeface="Arial"/>
              </a:rPr>
              <a:t>demographics</a:t>
            </a:r>
            <a:r>
              <a:rPr sz="2300" spc="-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2A2A26"/>
                </a:solidFill>
                <a:latin typeface="Arial"/>
                <a:cs typeface="Arial"/>
              </a:rPr>
              <a:t>and</a:t>
            </a:r>
            <a:r>
              <a:rPr sz="2300" spc="-370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2A2A26"/>
                </a:solidFill>
                <a:latin typeface="Arial"/>
                <a:cs typeface="Arial"/>
              </a:rPr>
              <a:t>enfo</a:t>
            </a:r>
            <a:r>
              <a:rPr sz="2300" spc="-55" dirty="0">
                <a:solidFill>
                  <a:srgbClr val="010101"/>
                </a:solidFill>
                <a:latin typeface="Arial"/>
                <a:cs typeface="Arial"/>
              </a:rPr>
              <a:t>rc</a:t>
            </a:r>
            <a:r>
              <a:rPr sz="2300" spc="-55" dirty="0">
                <a:solidFill>
                  <a:srgbClr val="2A2A26"/>
                </a:solidFill>
                <a:latin typeface="Arial"/>
                <a:cs typeface="Arial"/>
              </a:rPr>
              <a:t>ement</a:t>
            </a:r>
            <a:r>
              <a:rPr sz="2300" spc="-14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1A1A16"/>
                </a:solidFill>
                <a:latin typeface="Arial"/>
                <a:cs typeface="Arial"/>
              </a:rPr>
              <a:t>patterns.</a:t>
            </a:r>
            <a:r>
              <a:rPr sz="2300" spc="-240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1A1A16"/>
                </a:solidFill>
                <a:latin typeface="Arial"/>
                <a:cs typeface="Arial"/>
              </a:rPr>
              <a:t>What</a:t>
            </a:r>
            <a:r>
              <a:rPr sz="2300" spc="-12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2A2A26"/>
                </a:solidFill>
                <a:latin typeface="Arial"/>
                <a:cs typeface="Arial"/>
              </a:rPr>
              <a:t>links</a:t>
            </a:r>
            <a:r>
              <a:rPr sz="2300" spc="-355" dirty="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A1A16"/>
                </a:solidFill>
                <a:latin typeface="Arial"/>
                <a:cs typeface="Arial"/>
              </a:rPr>
              <a:t>them?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838589"/>
            <a:ext cx="4789081" cy="41872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3424" y="1838589"/>
            <a:ext cx="7234570" cy="418729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198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25"/>
              </a:spcBef>
            </a:pPr>
            <a:r>
              <a:rPr sz="5500" spc="165" dirty="0">
                <a:solidFill>
                  <a:srgbClr val="23211F"/>
                </a:solidFill>
              </a:rPr>
              <a:t>Deconstructing</a:t>
            </a:r>
            <a:r>
              <a:rPr sz="5500" spc="-890" dirty="0">
                <a:solidFill>
                  <a:srgbClr val="23211F"/>
                </a:solidFill>
              </a:rPr>
              <a:t> </a:t>
            </a:r>
            <a:r>
              <a:rPr sz="5500" spc="160" dirty="0">
                <a:solidFill>
                  <a:srgbClr val="23211F"/>
                </a:solidFill>
              </a:rPr>
              <a:t>the</a:t>
            </a:r>
            <a:r>
              <a:rPr sz="5500" spc="-320" dirty="0">
                <a:solidFill>
                  <a:srgbClr val="23211F"/>
                </a:solidFill>
              </a:rPr>
              <a:t> </a:t>
            </a:r>
            <a:r>
              <a:rPr sz="5500" spc="114" dirty="0">
                <a:solidFill>
                  <a:srgbClr val="23211F"/>
                </a:solidFill>
              </a:rPr>
              <a:t>Geographic</a:t>
            </a:r>
            <a:r>
              <a:rPr sz="5500" spc="-305" dirty="0">
                <a:solidFill>
                  <a:srgbClr val="23211F"/>
                </a:solidFill>
              </a:rPr>
              <a:t> </a:t>
            </a:r>
            <a:r>
              <a:rPr sz="5500" spc="135" dirty="0">
                <a:solidFill>
                  <a:srgbClr val="23211F"/>
                </a:solidFill>
              </a:rPr>
              <a:t>Evidence</a:t>
            </a:r>
            <a:endParaRPr sz="5500"/>
          </a:p>
        </p:txBody>
      </p:sp>
      <p:sp>
        <p:nvSpPr>
          <p:cNvPr id="5" name="object 5"/>
          <p:cNvSpPr txBox="1"/>
          <p:nvPr/>
        </p:nvSpPr>
        <p:spPr>
          <a:xfrm>
            <a:off x="5455883" y="2630156"/>
            <a:ext cx="2395855" cy="6153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83234" marR="5080" indent="-471170">
              <a:lnSpc>
                <a:spcPts val="2110"/>
              </a:lnSpc>
              <a:spcBef>
                <a:spcPts val="520"/>
              </a:spcBef>
              <a:tabLst>
                <a:tab pos="485775" algn="l"/>
              </a:tabLst>
            </a:pPr>
            <a:r>
              <a:rPr sz="2100" spc="-50" dirty="0">
                <a:solidFill>
                  <a:srgbClr val="80807E"/>
                </a:solidFill>
                <a:latin typeface="Arial"/>
                <a:cs typeface="Arial"/>
              </a:rPr>
              <a:t>-</a:t>
            </a:r>
            <a:r>
              <a:rPr sz="2100" dirty="0">
                <a:solidFill>
                  <a:srgbClr val="80807E"/>
                </a:solidFill>
                <a:latin typeface="Arial"/>
                <a:cs typeface="Arial"/>
              </a:rPr>
              <a:t>		</a:t>
            </a:r>
            <a:r>
              <a:rPr sz="2100" spc="-30" dirty="0">
                <a:solidFill>
                  <a:srgbClr val="525654"/>
                </a:solidFill>
                <a:latin typeface="Arial"/>
                <a:cs typeface="Arial"/>
              </a:rPr>
              <a:t>Transit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-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Or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i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e</a:t>
            </a:r>
            <a:r>
              <a:rPr sz="2100" spc="-20" dirty="0">
                <a:solidFill>
                  <a:srgbClr val="343433"/>
                </a:solidFill>
                <a:latin typeface="Arial"/>
                <a:cs typeface="Arial"/>
              </a:rPr>
              <a:t>n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ted </a:t>
            </a:r>
            <a:r>
              <a:rPr sz="2100" spc="-10" dirty="0">
                <a:solidFill>
                  <a:srgbClr val="525654"/>
                </a:solidFill>
                <a:latin typeface="Arial"/>
                <a:cs typeface="Arial"/>
              </a:rPr>
              <a:t>Hotspots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5883" y="4328053"/>
            <a:ext cx="290766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83234" algn="l"/>
              </a:tabLst>
            </a:pPr>
            <a:r>
              <a:rPr sz="2100" spc="-50" dirty="0">
                <a:solidFill>
                  <a:srgbClr val="525654"/>
                </a:solidFill>
                <a:latin typeface="Arial"/>
                <a:cs typeface="Arial"/>
              </a:rPr>
              <a:t>-</a:t>
            </a:r>
            <a:r>
              <a:rPr sz="2100" dirty="0">
                <a:solidFill>
                  <a:srgbClr val="525654"/>
                </a:solidFill>
                <a:latin typeface="Arial"/>
                <a:cs typeface="Arial"/>
              </a:rPr>
              <a:t>	High-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I</a:t>
            </a:r>
            <a:r>
              <a:rPr sz="2100" dirty="0">
                <a:solidFill>
                  <a:srgbClr val="525654"/>
                </a:solidFill>
                <a:latin typeface="Arial"/>
                <a:cs typeface="Arial"/>
              </a:rPr>
              <a:t>ntens</a:t>
            </a:r>
            <a:r>
              <a:rPr sz="2100" dirty="0">
                <a:solidFill>
                  <a:srgbClr val="343433"/>
                </a:solidFill>
                <a:latin typeface="Arial"/>
                <a:cs typeface="Arial"/>
              </a:rPr>
              <a:t>i</a:t>
            </a:r>
            <a:r>
              <a:rPr sz="2100" dirty="0">
                <a:solidFill>
                  <a:srgbClr val="525654"/>
                </a:solidFill>
                <a:latin typeface="Arial"/>
                <a:cs typeface="Arial"/>
              </a:rPr>
              <a:t>ty</a:t>
            </a:r>
            <a:r>
              <a:rPr sz="2100" spc="-125" dirty="0">
                <a:solidFill>
                  <a:srgbClr val="525654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Zones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410" y="6122609"/>
            <a:ext cx="7655559" cy="303403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3000" b="1" spc="-95" dirty="0">
                <a:solidFill>
                  <a:srgbClr val="0A2B49"/>
                </a:solidFill>
                <a:latin typeface="Arial"/>
                <a:cs typeface="Arial"/>
              </a:rPr>
              <a:t>New</a:t>
            </a:r>
            <a:r>
              <a:rPr sz="3000" b="1" spc="-200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spc="-160" dirty="0">
                <a:solidFill>
                  <a:srgbClr val="0A2B49"/>
                </a:solidFill>
                <a:latin typeface="Arial"/>
                <a:cs typeface="Arial"/>
              </a:rPr>
              <a:t>York</a:t>
            </a:r>
            <a:r>
              <a:rPr sz="3000" b="1" spc="-325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spc="-60" dirty="0">
                <a:solidFill>
                  <a:srgbClr val="0A2B49"/>
                </a:solidFill>
                <a:latin typeface="Arial"/>
                <a:cs typeface="Arial"/>
              </a:rPr>
              <a:t>City:</a:t>
            </a:r>
            <a:r>
              <a:rPr sz="3000" b="1" spc="-480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A2B49"/>
                </a:solidFill>
                <a:latin typeface="Arial"/>
                <a:cs typeface="Arial"/>
              </a:rPr>
              <a:t>A</a:t>
            </a:r>
            <a:r>
              <a:rPr sz="3000" b="1" spc="-380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spc="-90" dirty="0">
                <a:solidFill>
                  <a:srgbClr val="0A2B49"/>
                </a:solidFill>
                <a:latin typeface="Arial"/>
                <a:cs typeface="Arial"/>
              </a:rPr>
              <a:t>Story</a:t>
            </a:r>
            <a:r>
              <a:rPr sz="3000" b="1" spc="-310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spc="-95" dirty="0">
                <a:solidFill>
                  <a:srgbClr val="0A2B49"/>
                </a:solidFill>
                <a:latin typeface="Arial"/>
                <a:cs typeface="Arial"/>
              </a:rPr>
              <a:t>of</a:t>
            </a:r>
            <a:r>
              <a:rPr sz="3000" b="1" spc="-185" dirty="0">
                <a:solidFill>
                  <a:srgbClr val="0A2B49"/>
                </a:solidFill>
                <a:latin typeface="Arial"/>
                <a:cs typeface="Arial"/>
              </a:rPr>
              <a:t> </a:t>
            </a:r>
            <a:r>
              <a:rPr sz="3000" b="1" spc="-35" dirty="0">
                <a:solidFill>
                  <a:srgbClr val="0A2B49"/>
                </a:solidFill>
                <a:latin typeface="Arial"/>
                <a:cs typeface="Arial"/>
              </a:rPr>
              <a:t>Concentration</a:t>
            </a:r>
            <a:endParaRPr sz="3000">
              <a:latin typeface="Arial"/>
              <a:cs typeface="Arial"/>
            </a:endParaRPr>
          </a:p>
          <a:p>
            <a:pPr marL="249554" marR="331470" indent="-236220">
              <a:lnSpc>
                <a:spcPts val="2310"/>
              </a:lnSpc>
              <a:spcBef>
                <a:spcPts val="1070"/>
              </a:spcBef>
              <a:buChar char="•"/>
              <a:tabLst>
                <a:tab pos="249554" algn="l"/>
                <a:tab pos="250825" algn="l"/>
              </a:tabLst>
            </a:pPr>
            <a:r>
              <a:rPr sz="2100" dirty="0">
                <a:solidFill>
                  <a:srgbClr val="080807"/>
                </a:solidFill>
                <a:latin typeface="Arial"/>
                <a:cs typeface="Arial"/>
              </a:rPr>
              <a:t>	</a:t>
            </a:r>
            <a:r>
              <a:rPr sz="2100" b="1" spc="-85" dirty="0">
                <a:solidFill>
                  <a:srgbClr val="080807"/>
                </a:solidFill>
                <a:latin typeface="Arial"/>
                <a:cs typeface="Arial"/>
              </a:rPr>
              <a:t>Tran</a:t>
            </a:r>
            <a:r>
              <a:rPr sz="2100" b="1" spc="-85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b="1" spc="-85" dirty="0">
                <a:solidFill>
                  <a:srgbClr val="080807"/>
                </a:solidFill>
                <a:latin typeface="Arial"/>
                <a:cs typeface="Arial"/>
              </a:rPr>
              <a:t>it-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Or</a:t>
            </a:r>
            <a:r>
              <a:rPr sz="2100" b="1" spc="-95" dirty="0">
                <a:solidFill>
                  <a:srgbClr val="23211F"/>
                </a:solidFill>
                <a:latin typeface="Arial"/>
                <a:cs typeface="Arial"/>
              </a:rPr>
              <a:t>ie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nted</a:t>
            </a:r>
            <a:r>
              <a:rPr sz="2100" b="1" spc="-25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100" dirty="0">
                <a:solidFill>
                  <a:srgbClr val="080807"/>
                </a:solidFill>
                <a:latin typeface="Arial"/>
                <a:cs typeface="Arial"/>
              </a:rPr>
              <a:t>Hot</a:t>
            </a:r>
            <a:r>
              <a:rPr sz="2100" b="1" spc="-100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b="1" spc="-100" dirty="0">
                <a:solidFill>
                  <a:srgbClr val="080807"/>
                </a:solidFill>
                <a:latin typeface="Arial"/>
                <a:cs typeface="Arial"/>
              </a:rPr>
              <a:t>pots</a:t>
            </a:r>
            <a:r>
              <a:rPr sz="2100" b="1" spc="-100" dirty="0">
                <a:solidFill>
                  <a:srgbClr val="23211F"/>
                </a:solidFill>
                <a:latin typeface="Arial"/>
                <a:cs typeface="Arial"/>
              </a:rPr>
              <a:t>:</a:t>
            </a:r>
            <a:r>
              <a:rPr sz="2100" b="1" spc="-3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Arrest</a:t>
            </a:r>
            <a:r>
              <a:rPr sz="2100" spc="-11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density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forms</a:t>
            </a:r>
            <a:r>
              <a:rPr sz="2100" spc="-14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3211F"/>
                </a:solidFill>
                <a:latin typeface="Arial"/>
                <a:cs typeface="Arial"/>
              </a:rPr>
              <a:t>linear</a:t>
            </a:r>
            <a:r>
              <a:rPr sz="2100" spc="1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patterns </a:t>
            </a:r>
            <a:r>
              <a:rPr sz="2100" spc="-50" dirty="0">
                <a:solidFill>
                  <a:srgbClr val="23211F"/>
                </a:solidFill>
                <a:latin typeface="Arial"/>
                <a:cs typeface="Arial"/>
              </a:rPr>
              <a:t>along</a:t>
            </a:r>
            <a:r>
              <a:rPr sz="2100" spc="-17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major </a:t>
            </a:r>
            <a:r>
              <a:rPr sz="2100" spc="-25" dirty="0">
                <a:solidFill>
                  <a:srgbClr val="23211F"/>
                </a:solidFill>
                <a:latin typeface="Arial"/>
                <a:cs typeface="Arial"/>
              </a:rPr>
              <a:t>transit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corridors,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with</a:t>
            </a:r>
            <a:r>
              <a:rPr sz="2100" spc="-22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3211F"/>
                </a:solidFill>
                <a:latin typeface="Arial"/>
                <a:cs typeface="Arial"/>
              </a:rPr>
              <a:t>extreme</a:t>
            </a:r>
            <a:r>
              <a:rPr sz="2100" spc="-19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concentrations</a:t>
            </a:r>
            <a:r>
              <a:rPr sz="2100" spc="-35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40" dirty="0">
                <a:solidFill>
                  <a:srgbClr val="23211F"/>
                </a:solidFill>
                <a:latin typeface="Arial"/>
                <a:cs typeface="Arial"/>
              </a:rPr>
              <a:t>in </a:t>
            </a:r>
            <a:r>
              <a:rPr sz="2100" spc="-75" dirty="0">
                <a:solidFill>
                  <a:srgbClr val="23211F"/>
                </a:solidFill>
                <a:latin typeface="Arial"/>
                <a:cs typeface="Arial"/>
              </a:rPr>
              <a:t>Manhattan's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core</a:t>
            </a:r>
            <a:r>
              <a:rPr sz="2100" spc="-20" dirty="0">
                <a:solidFill>
                  <a:srgbClr val="080807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250825" marR="845185" indent="-237490">
              <a:lnSpc>
                <a:spcPts val="2310"/>
              </a:lnSpc>
              <a:spcBef>
                <a:spcPts val="810"/>
              </a:spcBef>
              <a:buFont typeface="Arial"/>
              <a:buChar char="•"/>
              <a:tabLst>
                <a:tab pos="259079" algn="l"/>
              </a:tabLst>
            </a:pPr>
            <a:r>
              <a:rPr sz="2100" b="1" spc="-75" dirty="0">
                <a:solidFill>
                  <a:srgbClr val="080807"/>
                </a:solidFill>
                <a:latin typeface="Arial"/>
                <a:cs typeface="Arial"/>
              </a:rPr>
              <a:t>The</a:t>
            </a:r>
            <a:r>
              <a:rPr sz="2100" b="1" spc="-204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I</a:t>
            </a:r>
            <a:r>
              <a:rPr sz="2100" b="1" spc="-95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land</a:t>
            </a:r>
            <a:r>
              <a:rPr sz="2100" b="1" spc="-265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60" dirty="0">
                <a:solidFill>
                  <a:srgbClr val="080807"/>
                </a:solidFill>
                <a:latin typeface="Arial"/>
                <a:cs typeface="Arial"/>
              </a:rPr>
              <a:t>Effect</a:t>
            </a:r>
            <a:r>
              <a:rPr sz="2100" b="1" spc="-60" dirty="0">
                <a:solidFill>
                  <a:srgbClr val="23211F"/>
                </a:solidFill>
                <a:latin typeface="Arial"/>
                <a:cs typeface="Arial"/>
              </a:rPr>
              <a:t>: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Manhattan's</a:t>
            </a:r>
            <a:r>
              <a:rPr sz="2100" spc="-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3211F"/>
                </a:solidFill>
                <a:latin typeface="Arial"/>
                <a:cs typeface="Arial"/>
              </a:rPr>
              <a:t>geography</a:t>
            </a:r>
            <a:r>
              <a:rPr sz="2100" spc="-8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3211F"/>
                </a:solidFill>
                <a:latin typeface="Arial"/>
                <a:cs typeface="Arial"/>
              </a:rPr>
              <a:t>acts</a:t>
            </a:r>
            <a:r>
              <a:rPr sz="2100" spc="-13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20" dirty="0">
                <a:solidFill>
                  <a:srgbClr val="23211F"/>
                </a:solidFill>
                <a:latin typeface="Arial"/>
                <a:cs typeface="Arial"/>
              </a:rPr>
              <a:t>as</a:t>
            </a:r>
            <a:r>
              <a:rPr sz="2100" spc="-15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a</a:t>
            </a:r>
            <a:r>
              <a:rPr sz="2100" spc="-27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natural 	</a:t>
            </a:r>
            <a:r>
              <a:rPr sz="2100" spc="-45" dirty="0">
                <a:solidFill>
                  <a:srgbClr val="23211F"/>
                </a:solidFill>
                <a:latin typeface="Arial"/>
                <a:cs typeface="Arial"/>
              </a:rPr>
              <a:t>co</a:t>
            </a:r>
            <a:r>
              <a:rPr sz="2100" spc="-45" dirty="0">
                <a:solidFill>
                  <a:srgbClr val="080807"/>
                </a:solidFill>
                <a:latin typeface="Arial"/>
                <a:cs typeface="Arial"/>
              </a:rPr>
              <a:t>n</a:t>
            </a:r>
            <a:r>
              <a:rPr sz="2100" spc="-45" dirty="0">
                <a:solidFill>
                  <a:srgbClr val="23211F"/>
                </a:solidFill>
                <a:latin typeface="Arial"/>
                <a:cs typeface="Arial"/>
              </a:rPr>
              <a:t>tainer,</a:t>
            </a:r>
            <a:r>
              <a:rPr sz="2100" spc="-27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intensify</a:t>
            </a:r>
            <a:r>
              <a:rPr sz="2100" spc="-20" dirty="0">
                <a:solidFill>
                  <a:srgbClr val="080807"/>
                </a:solidFill>
                <a:latin typeface="Arial"/>
                <a:cs typeface="Arial"/>
              </a:rPr>
              <a:t>i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ng</a:t>
            </a:r>
            <a:r>
              <a:rPr sz="2100" spc="-15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activity</a:t>
            </a:r>
            <a:r>
              <a:rPr sz="2100" spc="-2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within</a:t>
            </a:r>
            <a:r>
              <a:rPr sz="2100" spc="-26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70" dirty="0">
                <a:solidFill>
                  <a:srgbClr val="23211F"/>
                </a:solidFill>
                <a:latin typeface="Arial"/>
                <a:cs typeface="Arial"/>
              </a:rPr>
              <a:t>its</a:t>
            </a:r>
            <a:r>
              <a:rPr sz="2100" spc="-26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boundaries</a:t>
            </a:r>
            <a:r>
              <a:rPr sz="2100" spc="-10" dirty="0">
                <a:solidFill>
                  <a:srgbClr val="080807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250190" marR="5080" indent="-236854">
              <a:lnSpc>
                <a:spcPts val="2210"/>
              </a:lnSpc>
              <a:spcBef>
                <a:spcPts val="1085"/>
              </a:spcBef>
              <a:buFont typeface="Arial"/>
              <a:buChar char="•"/>
              <a:tabLst>
                <a:tab pos="252095" algn="l"/>
              </a:tabLst>
            </a:pPr>
            <a:r>
              <a:rPr sz="2100" b="1" spc="-75" dirty="0">
                <a:solidFill>
                  <a:srgbClr val="080807"/>
                </a:solidFill>
                <a:latin typeface="Arial"/>
                <a:cs typeface="Arial"/>
              </a:rPr>
              <a:t>High-</a:t>
            </a:r>
            <a:r>
              <a:rPr sz="2100" b="1" spc="-70" dirty="0">
                <a:solidFill>
                  <a:srgbClr val="080807"/>
                </a:solidFill>
                <a:latin typeface="Arial"/>
                <a:cs typeface="Arial"/>
              </a:rPr>
              <a:t>Intensity</a:t>
            </a:r>
            <a:r>
              <a:rPr sz="2100" b="1" spc="-27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114" dirty="0">
                <a:solidFill>
                  <a:srgbClr val="080807"/>
                </a:solidFill>
                <a:latin typeface="Arial"/>
                <a:cs typeface="Arial"/>
              </a:rPr>
              <a:t>Zone</a:t>
            </a:r>
            <a:r>
              <a:rPr sz="2100" b="1" spc="-114" dirty="0">
                <a:solidFill>
                  <a:srgbClr val="23211F"/>
                </a:solidFill>
                <a:latin typeface="Arial"/>
                <a:cs typeface="Arial"/>
              </a:rPr>
              <a:t>s:</a:t>
            </a:r>
            <a:r>
              <a:rPr sz="2100" spc="-114" dirty="0">
                <a:solidFill>
                  <a:srgbClr val="23211F"/>
                </a:solidFill>
                <a:latin typeface="Arial"/>
                <a:cs typeface="Arial"/>
              </a:rPr>
              <a:t>NYC</a:t>
            </a:r>
            <a:r>
              <a:rPr sz="2100" spc="-19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23211F"/>
                </a:solidFill>
                <a:latin typeface="Arial"/>
                <a:cs typeface="Arial"/>
              </a:rPr>
              <a:t>exhibits</a:t>
            </a:r>
            <a:r>
              <a:rPr sz="2100" spc="-8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numerous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"white-hot"</a:t>
            </a:r>
            <a:r>
              <a:rPr sz="2100" spc="-7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spots, 	indicating</a:t>
            </a:r>
            <a:r>
              <a:rPr sz="2100" spc="-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a</a:t>
            </a:r>
            <a:r>
              <a:rPr sz="2100" spc="-29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3211F"/>
                </a:solidFill>
                <a:latin typeface="Arial"/>
                <a:cs typeface="Arial"/>
              </a:rPr>
              <a:t>much</a:t>
            </a:r>
            <a:r>
              <a:rPr sz="2100" spc="-17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5" dirty="0">
                <a:solidFill>
                  <a:srgbClr val="23211F"/>
                </a:solidFill>
                <a:latin typeface="Arial"/>
                <a:cs typeface="Arial"/>
              </a:rPr>
              <a:t>higher</a:t>
            </a:r>
            <a:r>
              <a:rPr sz="2100" spc="-1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concentration</a:t>
            </a:r>
            <a:r>
              <a:rPr sz="2100" spc="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50" dirty="0">
                <a:solidFill>
                  <a:srgbClr val="23211F"/>
                </a:solidFill>
                <a:latin typeface="Arial"/>
                <a:cs typeface="Arial"/>
              </a:rPr>
              <a:t>of</a:t>
            </a:r>
            <a:r>
              <a:rPr sz="2100" spc="-15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arrests</a:t>
            </a:r>
            <a:r>
              <a:rPr sz="2100" spc="-18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per</a:t>
            </a:r>
            <a:r>
              <a:rPr sz="2100" spc="-15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75" dirty="0">
                <a:solidFill>
                  <a:srgbClr val="23211F"/>
                </a:solidFill>
                <a:latin typeface="Arial"/>
                <a:cs typeface="Arial"/>
              </a:rPr>
              <a:t>square</a:t>
            </a:r>
            <a:r>
              <a:rPr sz="2100" spc="-19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mile.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13192" y="2630156"/>
            <a:ext cx="2649220" cy="6153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22605" marR="5080" indent="-510540">
              <a:lnSpc>
                <a:spcPts val="2110"/>
              </a:lnSpc>
              <a:spcBef>
                <a:spcPts val="520"/>
              </a:spcBef>
              <a:tabLst>
                <a:tab pos="521334" algn="l"/>
              </a:tabLst>
            </a:pPr>
            <a:r>
              <a:rPr sz="2100" spc="-50" dirty="0">
                <a:solidFill>
                  <a:srgbClr val="80807E"/>
                </a:solidFill>
                <a:latin typeface="Arial"/>
                <a:cs typeface="Arial"/>
              </a:rPr>
              <a:t>-</a:t>
            </a:r>
            <a:r>
              <a:rPr sz="2100" dirty="0">
                <a:solidFill>
                  <a:srgbClr val="80807E"/>
                </a:solidFill>
                <a:latin typeface="Arial"/>
                <a:cs typeface="Arial"/>
              </a:rPr>
              <a:t>	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H</a:t>
            </a:r>
            <a:r>
              <a:rPr sz="2100" spc="-20" dirty="0">
                <a:solidFill>
                  <a:srgbClr val="343433"/>
                </a:solidFill>
                <a:latin typeface="Arial"/>
                <a:cs typeface="Arial"/>
              </a:rPr>
              <a:t>igh</a:t>
            </a:r>
            <a:r>
              <a:rPr sz="2100" spc="-20" dirty="0">
                <a:solidFill>
                  <a:srgbClr val="525654"/>
                </a:solidFill>
                <a:latin typeface="Arial"/>
                <a:cs typeface="Arial"/>
              </a:rPr>
              <a:t>way</a:t>
            </a:r>
            <a:r>
              <a:rPr sz="2100" spc="-20" dirty="0">
                <a:solidFill>
                  <a:srgbClr val="343433"/>
                </a:solidFill>
                <a:latin typeface="Arial"/>
                <a:cs typeface="Arial"/>
              </a:rPr>
              <a:t>-</a:t>
            </a:r>
            <a:r>
              <a:rPr sz="2100" spc="-10" dirty="0">
                <a:solidFill>
                  <a:srgbClr val="525654"/>
                </a:solidFill>
                <a:latin typeface="Arial"/>
                <a:cs typeface="Arial"/>
              </a:rPr>
              <a:t>Oriented Patterns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6776" y="6268508"/>
            <a:ext cx="7421245" cy="288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b="1" spc="-135" dirty="0">
                <a:solidFill>
                  <a:srgbClr val="CD4B1C"/>
                </a:solidFill>
                <a:latin typeface="Arial"/>
                <a:cs typeface="Arial"/>
              </a:rPr>
              <a:t>Los</a:t>
            </a:r>
            <a:r>
              <a:rPr sz="3000" b="1" spc="-340" dirty="0">
                <a:solidFill>
                  <a:srgbClr val="CD4B1C"/>
                </a:solidFill>
                <a:latin typeface="Arial"/>
                <a:cs typeface="Arial"/>
              </a:rPr>
              <a:t> </a:t>
            </a:r>
            <a:r>
              <a:rPr sz="3000" b="1" spc="-135" dirty="0">
                <a:solidFill>
                  <a:srgbClr val="CD4B1C"/>
                </a:solidFill>
                <a:latin typeface="Arial"/>
                <a:cs typeface="Arial"/>
              </a:rPr>
              <a:t>Angeles:</a:t>
            </a:r>
            <a:r>
              <a:rPr sz="3000" b="1" spc="-254" dirty="0">
                <a:solidFill>
                  <a:srgbClr val="CD4B1C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CD4B1C"/>
                </a:solidFill>
                <a:latin typeface="Arial"/>
                <a:cs typeface="Arial"/>
              </a:rPr>
              <a:t>A</a:t>
            </a:r>
            <a:r>
              <a:rPr sz="3000" b="1" spc="-380" dirty="0">
                <a:solidFill>
                  <a:srgbClr val="CD4B1C"/>
                </a:solidFill>
                <a:latin typeface="Arial"/>
                <a:cs typeface="Arial"/>
              </a:rPr>
              <a:t> </a:t>
            </a:r>
            <a:r>
              <a:rPr sz="3000" b="1" spc="-105" dirty="0">
                <a:solidFill>
                  <a:srgbClr val="CD4B1C"/>
                </a:solidFill>
                <a:latin typeface="Arial"/>
                <a:cs typeface="Arial"/>
              </a:rPr>
              <a:t>Story</a:t>
            </a:r>
            <a:r>
              <a:rPr sz="3000" b="1" spc="-220" dirty="0">
                <a:solidFill>
                  <a:srgbClr val="CD4B1C"/>
                </a:solidFill>
                <a:latin typeface="Arial"/>
                <a:cs typeface="Arial"/>
              </a:rPr>
              <a:t> </a:t>
            </a:r>
            <a:r>
              <a:rPr sz="3000" b="1" spc="-95" dirty="0">
                <a:solidFill>
                  <a:srgbClr val="CD4B1C"/>
                </a:solidFill>
                <a:latin typeface="Arial"/>
                <a:cs typeface="Arial"/>
              </a:rPr>
              <a:t>of</a:t>
            </a:r>
            <a:r>
              <a:rPr sz="3000" b="1" spc="-265" dirty="0">
                <a:solidFill>
                  <a:srgbClr val="CD4B1C"/>
                </a:solidFill>
                <a:latin typeface="Arial"/>
                <a:cs typeface="Arial"/>
              </a:rPr>
              <a:t> </a:t>
            </a:r>
            <a:r>
              <a:rPr sz="3000" b="1" spc="-30" dirty="0">
                <a:solidFill>
                  <a:srgbClr val="CD4B1C"/>
                </a:solidFill>
                <a:latin typeface="Arial"/>
                <a:cs typeface="Arial"/>
              </a:rPr>
              <a:t>Dispersion</a:t>
            </a:r>
            <a:endParaRPr sz="3000">
              <a:latin typeface="Arial"/>
              <a:cs typeface="Arial"/>
            </a:endParaRPr>
          </a:p>
          <a:p>
            <a:pPr marL="251460" marR="364490" indent="-236854">
              <a:lnSpc>
                <a:spcPts val="2310"/>
              </a:lnSpc>
              <a:spcBef>
                <a:spcPts val="1875"/>
              </a:spcBef>
              <a:buFont typeface="Arial"/>
              <a:buChar char="•"/>
              <a:tabLst>
                <a:tab pos="253365" algn="l"/>
              </a:tabLst>
            </a:pP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Highway</a:t>
            </a:r>
            <a:r>
              <a:rPr sz="2100" b="1" spc="-95" dirty="0">
                <a:solidFill>
                  <a:srgbClr val="23211F"/>
                </a:solidFill>
                <a:latin typeface="Arial"/>
                <a:cs typeface="Arial"/>
              </a:rPr>
              <a:t>-</a:t>
            </a:r>
            <a:r>
              <a:rPr sz="2100" b="1" spc="-90" dirty="0">
                <a:solidFill>
                  <a:srgbClr val="080807"/>
                </a:solidFill>
                <a:latin typeface="Arial"/>
                <a:cs typeface="Arial"/>
              </a:rPr>
              <a:t>Oriented</a:t>
            </a:r>
            <a:r>
              <a:rPr sz="2100" b="1" spc="-25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85" dirty="0">
                <a:solidFill>
                  <a:srgbClr val="080807"/>
                </a:solidFill>
                <a:latin typeface="Arial"/>
                <a:cs typeface="Arial"/>
              </a:rPr>
              <a:t>Patterns</a:t>
            </a:r>
            <a:r>
              <a:rPr sz="2100" b="1" spc="-85" dirty="0">
                <a:solidFill>
                  <a:srgbClr val="23211F"/>
                </a:solidFill>
                <a:latin typeface="Arial"/>
                <a:cs typeface="Arial"/>
              </a:rPr>
              <a:t>:</a:t>
            </a:r>
            <a:r>
              <a:rPr sz="2100" b="1" spc="-21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Arrest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locations</a:t>
            </a:r>
            <a:r>
              <a:rPr sz="2100" spc="-1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create</a:t>
            </a:r>
            <a:r>
              <a:rPr sz="2100" spc="-9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70" dirty="0">
                <a:solidFill>
                  <a:srgbClr val="23211F"/>
                </a:solidFill>
                <a:latin typeface="Arial"/>
                <a:cs typeface="Arial"/>
              </a:rPr>
              <a:t>web-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like 	</a:t>
            </a:r>
            <a:r>
              <a:rPr sz="2100" spc="-35" dirty="0">
                <a:solidFill>
                  <a:srgbClr val="23211F"/>
                </a:solidFill>
                <a:latin typeface="Arial"/>
                <a:cs typeface="Arial"/>
              </a:rPr>
              <a:t>patterns</a:t>
            </a:r>
            <a:r>
              <a:rPr sz="2100" spc="-9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that</a:t>
            </a:r>
            <a:r>
              <a:rPr sz="2100" spc="-11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mirror</a:t>
            </a:r>
            <a:r>
              <a:rPr sz="2100" spc="-5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the</a:t>
            </a:r>
            <a:r>
              <a:rPr sz="2100" spc="-28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city</a:t>
            </a:r>
            <a:r>
              <a:rPr sz="2100" dirty="0">
                <a:solidFill>
                  <a:srgbClr val="424644"/>
                </a:solidFill>
                <a:latin typeface="Arial"/>
                <a:cs typeface="Arial"/>
              </a:rPr>
              <a:t>'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spc="-24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sprawling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highway</a:t>
            </a:r>
            <a:r>
              <a:rPr sz="2100" spc="-8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system.</a:t>
            </a:r>
            <a:endParaRPr sz="2100">
              <a:latin typeface="Arial"/>
              <a:cs typeface="Arial"/>
            </a:endParaRPr>
          </a:p>
          <a:p>
            <a:pPr marL="251460" marR="5080" indent="-236854">
              <a:lnSpc>
                <a:spcPts val="2310"/>
              </a:lnSpc>
              <a:spcBef>
                <a:spcPts val="1810"/>
              </a:spcBef>
              <a:buFont typeface="Arial"/>
              <a:buChar char="•"/>
              <a:tabLst>
                <a:tab pos="261620" algn="l"/>
              </a:tabLst>
            </a:pP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Di</a:t>
            </a:r>
            <a:r>
              <a:rPr sz="2100" b="1" spc="-95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persed</a:t>
            </a:r>
            <a:r>
              <a:rPr sz="2100" b="1" spc="-31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45" dirty="0">
                <a:solidFill>
                  <a:srgbClr val="080807"/>
                </a:solidFill>
                <a:latin typeface="Arial"/>
                <a:cs typeface="Arial"/>
              </a:rPr>
              <a:t>A</a:t>
            </a:r>
            <a:r>
              <a:rPr sz="2100" b="1" spc="-45" dirty="0">
                <a:solidFill>
                  <a:srgbClr val="23211F"/>
                </a:solidFill>
                <a:latin typeface="Arial"/>
                <a:cs typeface="Arial"/>
              </a:rPr>
              <a:t>c</a:t>
            </a:r>
            <a:r>
              <a:rPr sz="2100" b="1" spc="-45" dirty="0">
                <a:solidFill>
                  <a:srgbClr val="080807"/>
                </a:solidFill>
                <a:latin typeface="Arial"/>
                <a:cs typeface="Arial"/>
              </a:rPr>
              <a:t>tivity</a:t>
            </a:r>
            <a:r>
              <a:rPr sz="2100" b="1" spc="-45" dirty="0">
                <a:solidFill>
                  <a:srgbClr val="23211F"/>
                </a:solidFill>
                <a:latin typeface="Arial"/>
                <a:cs typeface="Arial"/>
              </a:rPr>
              <a:t>:</a:t>
            </a:r>
            <a:r>
              <a:rPr sz="2100" spc="-45" dirty="0">
                <a:solidFill>
                  <a:srgbClr val="23211F"/>
                </a:solidFill>
                <a:latin typeface="Arial"/>
                <a:cs typeface="Arial"/>
              </a:rPr>
              <a:t>Hotspots</a:t>
            </a:r>
            <a:r>
              <a:rPr sz="2100" spc="2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3211F"/>
                </a:solidFill>
                <a:latin typeface="Arial"/>
                <a:cs typeface="Arial"/>
              </a:rPr>
              <a:t>are</a:t>
            </a:r>
            <a:r>
              <a:rPr sz="2100" spc="-20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70" dirty="0">
                <a:solidFill>
                  <a:srgbClr val="23211F"/>
                </a:solidFill>
                <a:latin typeface="Arial"/>
                <a:cs typeface="Arial"/>
              </a:rPr>
              <a:t>fewer,</a:t>
            </a:r>
            <a:r>
              <a:rPr sz="2100" spc="-2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less</a:t>
            </a:r>
            <a:r>
              <a:rPr sz="2100" spc="-19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3211F"/>
                </a:solidFill>
                <a:latin typeface="Arial"/>
                <a:cs typeface="Arial"/>
              </a:rPr>
              <a:t>intense,</a:t>
            </a:r>
            <a:r>
              <a:rPr sz="2100" spc="-15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5" dirty="0">
                <a:solidFill>
                  <a:srgbClr val="23211F"/>
                </a:solidFill>
                <a:latin typeface="Arial"/>
                <a:cs typeface="Arial"/>
              </a:rPr>
              <a:t>and</a:t>
            </a:r>
            <a:r>
              <a:rPr sz="2100" spc="-20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spread 	</a:t>
            </a:r>
            <a:r>
              <a:rPr sz="2100" spc="-80" dirty="0">
                <a:solidFill>
                  <a:srgbClr val="23211F"/>
                </a:solidFill>
                <a:latin typeface="Arial"/>
                <a:cs typeface="Arial"/>
              </a:rPr>
              <a:t>across</a:t>
            </a:r>
            <a:r>
              <a:rPr sz="2100" spc="-1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3211F"/>
                </a:solidFill>
                <a:latin typeface="Arial"/>
                <a:cs typeface="Arial"/>
              </a:rPr>
              <a:t>a</a:t>
            </a:r>
            <a:r>
              <a:rPr sz="2100" spc="-28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3211F"/>
                </a:solidFill>
                <a:latin typeface="Arial"/>
                <a:cs typeface="Arial"/>
              </a:rPr>
              <a:t>vast</a:t>
            </a:r>
            <a:r>
              <a:rPr sz="2100" spc="-9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geographic</a:t>
            </a:r>
            <a:r>
              <a:rPr sz="2100" spc="-1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14" dirty="0">
                <a:solidFill>
                  <a:srgbClr val="23211F"/>
                </a:solidFill>
                <a:latin typeface="Arial"/>
                <a:cs typeface="Arial"/>
              </a:rPr>
              <a:t>area</a:t>
            </a:r>
            <a:r>
              <a:rPr sz="2100" spc="-11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3211F"/>
                </a:solidFill>
                <a:latin typeface="Arial"/>
                <a:cs typeface="Arial"/>
              </a:rPr>
              <a:t>from</a:t>
            </a:r>
            <a:r>
              <a:rPr sz="2100" spc="-18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3211F"/>
                </a:solidFill>
                <a:latin typeface="Arial"/>
                <a:cs typeface="Arial"/>
              </a:rPr>
              <a:t>Downtown</a:t>
            </a:r>
            <a:r>
              <a:rPr sz="2100" spc="-7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to</a:t>
            </a:r>
            <a:r>
              <a:rPr sz="2100" spc="-1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Hollywood.</a:t>
            </a:r>
            <a:endParaRPr sz="2100">
              <a:latin typeface="Arial"/>
              <a:cs typeface="Arial"/>
            </a:endParaRPr>
          </a:p>
          <a:p>
            <a:pPr marL="250190" marR="257175" indent="-235585">
              <a:lnSpc>
                <a:spcPts val="2210"/>
              </a:lnSpc>
              <a:spcBef>
                <a:spcPts val="1595"/>
              </a:spcBef>
              <a:buFont typeface="Arial"/>
              <a:buChar char="•"/>
              <a:tabLst>
                <a:tab pos="254000" algn="l"/>
              </a:tabLst>
            </a:pPr>
            <a:r>
              <a:rPr sz="2100" b="1" spc="-125" dirty="0">
                <a:solidFill>
                  <a:srgbClr val="080807"/>
                </a:solidFill>
                <a:latin typeface="Arial"/>
                <a:cs typeface="Arial"/>
              </a:rPr>
              <a:t>Lower</a:t>
            </a:r>
            <a:r>
              <a:rPr sz="2100" b="1" spc="-215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Overall</a:t>
            </a:r>
            <a:r>
              <a:rPr sz="2100" b="1" spc="-145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b="1" spc="-95" dirty="0">
                <a:solidFill>
                  <a:srgbClr val="080807"/>
                </a:solidFill>
                <a:latin typeface="Arial"/>
                <a:cs typeface="Arial"/>
              </a:rPr>
              <a:t>Intensity:</a:t>
            </a:r>
            <a:r>
              <a:rPr sz="2100" b="1" spc="-7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100" spc="-130" dirty="0">
                <a:solidFill>
                  <a:srgbClr val="23211F"/>
                </a:solidFill>
                <a:latin typeface="Arial"/>
                <a:cs typeface="Arial"/>
              </a:rPr>
              <a:t>Even</a:t>
            </a:r>
            <a:r>
              <a:rPr sz="2100" spc="-14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95" dirty="0">
                <a:solidFill>
                  <a:srgbClr val="23211F"/>
                </a:solidFill>
                <a:latin typeface="Arial"/>
                <a:cs typeface="Arial"/>
              </a:rPr>
              <a:t>LA</a:t>
            </a:r>
            <a:r>
              <a:rPr sz="2100" spc="-95" dirty="0">
                <a:solidFill>
                  <a:srgbClr val="424644"/>
                </a:solidFill>
                <a:latin typeface="Arial"/>
                <a:cs typeface="Arial"/>
              </a:rPr>
              <a:t>'</a:t>
            </a:r>
            <a:r>
              <a:rPr sz="2100" spc="-95" dirty="0">
                <a:solidFill>
                  <a:srgbClr val="23211F"/>
                </a:solidFill>
                <a:latin typeface="Arial"/>
                <a:cs typeface="Arial"/>
              </a:rPr>
              <a:t>s</a:t>
            </a:r>
            <a:r>
              <a:rPr sz="2100" spc="-25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75" dirty="0">
                <a:solidFill>
                  <a:srgbClr val="23211F"/>
                </a:solidFill>
                <a:latin typeface="Arial"/>
                <a:cs typeface="Arial"/>
              </a:rPr>
              <a:t>densest</a:t>
            </a:r>
            <a:r>
              <a:rPr sz="2100" spc="3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5" dirty="0">
                <a:solidFill>
                  <a:srgbClr val="23211F"/>
                </a:solidFill>
                <a:latin typeface="Arial"/>
                <a:cs typeface="Arial"/>
              </a:rPr>
              <a:t>areas</a:t>
            </a:r>
            <a:r>
              <a:rPr sz="2100" spc="-6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do</a:t>
            </a:r>
            <a:r>
              <a:rPr sz="2100" spc="-23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not</a:t>
            </a:r>
            <a:r>
              <a:rPr sz="2100" spc="-15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reach 	</a:t>
            </a:r>
            <a:r>
              <a:rPr sz="2100" dirty="0">
                <a:solidFill>
                  <a:srgbClr val="23211F"/>
                </a:solidFill>
                <a:latin typeface="Arial"/>
                <a:cs typeface="Arial"/>
              </a:rPr>
              <a:t>the</a:t>
            </a:r>
            <a:r>
              <a:rPr sz="2100" spc="-22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80" dirty="0">
                <a:solidFill>
                  <a:srgbClr val="23211F"/>
                </a:solidFill>
                <a:latin typeface="Arial"/>
                <a:cs typeface="Arial"/>
              </a:rPr>
              <a:t>peak</a:t>
            </a:r>
            <a:r>
              <a:rPr sz="2100" spc="-75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3211F"/>
                </a:solidFill>
                <a:latin typeface="Arial"/>
                <a:cs typeface="Arial"/>
              </a:rPr>
              <a:t>intensity</a:t>
            </a:r>
            <a:r>
              <a:rPr sz="2100" spc="-4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70" dirty="0">
                <a:solidFill>
                  <a:srgbClr val="23211F"/>
                </a:solidFill>
                <a:latin typeface="Arial"/>
                <a:cs typeface="Arial"/>
              </a:rPr>
              <a:t>seen</a:t>
            </a:r>
            <a:r>
              <a:rPr sz="2100" spc="-254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70" dirty="0">
                <a:solidFill>
                  <a:srgbClr val="23211F"/>
                </a:solidFill>
                <a:latin typeface="Arial"/>
                <a:cs typeface="Arial"/>
              </a:rPr>
              <a:t>in</a:t>
            </a:r>
            <a:r>
              <a:rPr sz="2100" spc="-260" dirty="0">
                <a:solidFill>
                  <a:srgbClr val="23211F"/>
                </a:solidFill>
                <a:latin typeface="Arial"/>
                <a:cs typeface="Arial"/>
              </a:rPr>
              <a:t> </a:t>
            </a:r>
            <a:r>
              <a:rPr sz="2100" spc="-150" dirty="0">
                <a:solidFill>
                  <a:srgbClr val="23211F"/>
                </a:solidFill>
                <a:latin typeface="Arial"/>
                <a:cs typeface="Arial"/>
              </a:rPr>
              <a:t>NYC's </a:t>
            </a:r>
            <a:r>
              <a:rPr sz="2100" spc="-10" dirty="0">
                <a:solidFill>
                  <a:srgbClr val="23211F"/>
                </a:solidFill>
                <a:latin typeface="Arial"/>
                <a:cs typeface="Arial"/>
              </a:rPr>
              <a:t>core.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47383" y="7404627"/>
            <a:ext cx="0" cy="1404620"/>
          </a:xfrm>
          <a:custGeom>
            <a:avLst/>
            <a:gdLst/>
            <a:ahLst/>
            <a:cxnLst/>
            <a:rect l="l" t="t" r="r" b="b"/>
            <a:pathLst>
              <a:path h="1404620">
                <a:moveTo>
                  <a:pt x="0" y="140427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87716" y="6230141"/>
            <a:ext cx="0" cy="996315"/>
          </a:xfrm>
          <a:custGeom>
            <a:avLst/>
            <a:gdLst/>
            <a:ahLst/>
            <a:cxnLst/>
            <a:rect l="l" t="t" r="r" b="b"/>
            <a:pathLst>
              <a:path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20772" y="6791852"/>
            <a:ext cx="0" cy="434340"/>
          </a:xfrm>
          <a:custGeom>
            <a:avLst/>
            <a:gdLst/>
            <a:ahLst/>
            <a:cxnLst/>
            <a:rect l="l" t="t" r="r" b="b"/>
            <a:pathLst>
              <a:path h="434340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5093" y="4698205"/>
            <a:ext cx="0" cy="1532255"/>
          </a:xfrm>
          <a:custGeom>
            <a:avLst/>
            <a:gdLst/>
            <a:ahLst/>
            <a:cxnLst/>
            <a:rect l="l" t="t" r="r" b="b"/>
            <a:pathLst>
              <a:path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0885" y="4698205"/>
            <a:ext cx="0" cy="1532255"/>
          </a:xfrm>
          <a:custGeom>
            <a:avLst/>
            <a:gdLst/>
            <a:ahLst/>
            <a:cxnLst/>
            <a:rect l="l" t="t" r="r" b="b"/>
            <a:pathLst>
              <a:path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06366" y="7404627"/>
            <a:ext cx="0" cy="1404620"/>
          </a:xfrm>
          <a:custGeom>
            <a:avLst/>
            <a:gdLst/>
            <a:ahLst/>
            <a:cxnLst/>
            <a:rect l="l" t="t" r="r" b="b"/>
            <a:pathLst>
              <a:path h="1404620">
                <a:moveTo>
                  <a:pt x="0" y="140427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8262" y="6230141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209096" y="4653523"/>
            <a:ext cx="2675255" cy="1602740"/>
            <a:chOff x="7209096" y="4653523"/>
            <a:chExt cx="2675255" cy="1602740"/>
          </a:xfrm>
        </p:grpSpPr>
        <p:sp>
          <p:nvSpPr>
            <p:cNvPr id="10" name="object 10"/>
            <p:cNvSpPr/>
            <p:nvPr/>
          </p:nvSpPr>
          <p:spPr>
            <a:xfrm>
              <a:off x="9871112" y="4672672"/>
              <a:ext cx="0" cy="1557655"/>
            </a:xfrm>
            <a:custGeom>
              <a:avLst/>
              <a:gdLst/>
              <a:ahLst/>
              <a:cxnLst/>
              <a:rect l="l" t="t" r="r" b="b"/>
              <a:pathLst>
                <a:path h="1557654">
                  <a:moveTo>
                    <a:pt x="0" y="155746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9096" y="4659906"/>
              <a:ext cx="2675255" cy="0"/>
            </a:xfrm>
            <a:custGeom>
              <a:avLst/>
              <a:gdLst/>
              <a:ahLst/>
              <a:cxnLst/>
              <a:rect l="l" t="t" r="r" b="b"/>
              <a:pathLst>
                <a:path w="2675254">
                  <a:moveTo>
                    <a:pt x="0" y="0"/>
                  </a:moveTo>
                  <a:lnTo>
                    <a:pt x="267475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9096" y="6242907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27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858983" y="6766319"/>
            <a:ext cx="2649855" cy="0"/>
          </a:xfrm>
          <a:custGeom>
            <a:avLst/>
            <a:gdLst/>
            <a:ahLst/>
            <a:cxnLst/>
            <a:rect l="l" t="t" r="r" b="b"/>
            <a:pathLst>
              <a:path w="2649854">
                <a:moveTo>
                  <a:pt x="0" y="0"/>
                </a:moveTo>
                <a:lnTo>
                  <a:pt x="264927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47383" y="7404627"/>
            <a:ext cx="5884545" cy="0"/>
          </a:xfrm>
          <a:custGeom>
            <a:avLst/>
            <a:gdLst/>
            <a:ahLst/>
            <a:cxnLst/>
            <a:rect l="l" t="t" r="r" b="b"/>
            <a:pathLst>
              <a:path w="5884545">
                <a:moveTo>
                  <a:pt x="0" y="0"/>
                </a:moveTo>
                <a:lnTo>
                  <a:pt x="58844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47383" y="8783370"/>
            <a:ext cx="5884545" cy="0"/>
          </a:xfrm>
          <a:custGeom>
            <a:avLst/>
            <a:gdLst/>
            <a:ahLst/>
            <a:cxnLst/>
            <a:rect l="l" t="t" r="r" b="b"/>
            <a:pathLst>
              <a:path w="5884545">
                <a:moveTo>
                  <a:pt x="0" y="0"/>
                </a:moveTo>
                <a:lnTo>
                  <a:pt x="588445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41697" y="3536486"/>
            <a:ext cx="2866390" cy="581025"/>
            <a:chOff x="2241697" y="3536486"/>
            <a:chExt cx="2866390" cy="581025"/>
          </a:xfrm>
        </p:grpSpPr>
        <p:sp>
          <p:nvSpPr>
            <p:cNvPr id="17" name="object 17"/>
            <p:cNvSpPr/>
            <p:nvPr/>
          </p:nvSpPr>
          <p:spPr>
            <a:xfrm>
              <a:off x="2241697" y="4098196"/>
              <a:ext cx="1515745" cy="0"/>
            </a:xfrm>
            <a:custGeom>
              <a:avLst/>
              <a:gdLst/>
              <a:ahLst/>
              <a:cxnLst/>
              <a:rect l="l" t="t" r="r" b="b"/>
              <a:pathLst>
                <a:path w="1515745">
                  <a:moveTo>
                    <a:pt x="0" y="0"/>
                  </a:moveTo>
                  <a:lnTo>
                    <a:pt x="1515693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57391" y="4098196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11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82030" y="3536486"/>
              <a:ext cx="0" cy="574675"/>
            </a:xfrm>
            <a:custGeom>
              <a:avLst/>
              <a:gdLst/>
              <a:ahLst/>
              <a:cxnLst/>
              <a:rect l="l" t="t" r="r" b="b"/>
              <a:pathLst>
                <a:path h="574675">
                  <a:moveTo>
                    <a:pt x="0" y="574476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374980" y="3536486"/>
            <a:ext cx="0" cy="1034415"/>
          </a:xfrm>
          <a:custGeom>
            <a:avLst/>
            <a:gdLst/>
            <a:ahLst/>
            <a:cxnLst/>
            <a:rect l="l" t="t" r="r" b="b"/>
            <a:pathLst>
              <a:path h="1034414">
                <a:moveTo>
                  <a:pt x="0" y="103405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655192" y="3536486"/>
            <a:ext cx="2840355" cy="581025"/>
            <a:chOff x="5655192" y="3536486"/>
            <a:chExt cx="2840355" cy="581025"/>
          </a:xfrm>
        </p:grpSpPr>
        <p:sp>
          <p:nvSpPr>
            <p:cNvPr id="22" name="object 22"/>
            <p:cNvSpPr/>
            <p:nvPr/>
          </p:nvSpPr>
          <p:spPr>
            <a:xfrm>
              <a:off x="5655192" y="3536486"/>
              <a:ext cx="1325245" cy="561975"/>
            </a:xfrm>
            <a:custGeom>
              <a:avLst/>
              <a:gdLst/>
              <a:ahLst/>
              <a:cxnLst/>
              <a:rect l="l" t="t" r="r" b="b"/>
              <a:pathLst>
                <a:path w="1325245" h="561975">
                  <a:moveTo>
                    <a:pt x="12736" y="561710"/>
                  </a:moveTo>
                  <a:lnTo>
                    <a:pt x="12736" y="0"/>
                  </a:lnTo>
                </a:path>
                <a:path w="1325245" h="561975">
                  <a:moveTo>
                    <a:pt x="0" y="561710"/>
                  </a:moveTo>
                  <a:lnTo>
                    <a:pt x="1324639" y="56171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79831" y="4098196"/>
              <a:ext cx="1515745" cy="0"/>
            </a:xfrm>
            <a:custGeom>
              <a:avLst/>
              <a:gdLst/>
              <a:ahLst/>
              <a:cxnLst/>
              <a:rect l="l" t="t" r="r" b="b"/>
              <a:pathLst>
                <a:path w="1515745">
                  <a:moveTo>
                    <a:pt x="0" y="0"/>
                  </a:moveTo>
                  <a:lnTo>
                    <a:pt x="1515693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2241697" y="4085430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95524" y="4085430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41697" y="4327986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495524" y="4327986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99392" y="4659906"/>
            <a:ext cx="2726055" cy="1576705"/>
          </a:xfrm>
          <a:custGeom>
            <a:avLst/>
            <a:gdLst/>
            <a:ahLst/>
            <a:cxnLst/>
            <a:rect l="l" t="t" r="r" b="b"/>
            <a:pathLst>
              <a:path w="2726054" h="1576704">
                <a:moveTo>
                  <a:pt x="12736" y="1570235"/>
                </a:moveTo>
                <a:lnTo>
                  <a:pt x="12736" y="0"/>
                </a:lnTo>
              </a:path>
              <a:path w="2726054" h="1576704">
                <a:moveTo>
                  <a:pt x="0" y="0"/>
                </a:moveTo>
                <a:lnTo>
                  <a:pt x="2725700" y="0"/>
                </a:lnTo>
              </a:path>
              <a:path w="2726054" h="1576704">
                <a:moveTo>
                  <a:pt x="0" y="1576618"/>
                </a:moveTo>
                <a:lnTo>
                  <a:pt x="2725700" y="1576618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848850" y="498209"/>
            <a:ext cx="11062970" cy="13944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indent="3810">
              <a:lnSpc>
                <a:spcPts val="5230"/>
              </a:lnSpc>
              <a:spcBef>
                <a:spcPts val="515"/>
              </a:spcBef>
            </a:pPr>
            <a:r>
              <a:rPr sz="4600" dirty="0">
                <a:solidFill>
                  <a:srgbClr val="161615"/>
                </a:solidFill>
              </a:rPr>
              <a:t>The</a:t>
            </a:r>
            <a:r>
              <a:rPr sz="4600" spc="300" dirty="0">
                <a:solidFill>
                  <a:srgbClr val="161615"/>
                </a:solidFill>
              </a:rPr>
              <a:t> </a:t>
            </a:r>
            <a:r>
              <a:rPr sz="4600" spc="105" dirty="0">
                <a:solidFill>
                  <a:srgbClr val="161615"/>
                </a:solidFill>
              </a:rPr>
              <a:t>Verdict:</a:t>
            </a:r>
            <a:r>
              <a:rPr sz="4600" spc="-440" dirty="0">
                <a:solidFill>
                  <a:srgbClr val="161615"/>
                </a:solidFill>
              </a:rPr>
              <a:t> </a:t>
            </a:r>
            <a:r>
              <a:rPr sz="4600" spc="130" dirty="0">
                <a:solidFill>
                  <a:srgbClr val="161615"/>
                </a:solidFill>
              </a:rPr>
              <a:t>The</a:t>
            </a:r>
            <a:r>
              <a:rPr sz="4600" spc="-40" dirty="0">
                <a:solidFill>
                  <a:srgbClr val="161615"/>
                </a:solidFill>
              </a:rPr>
              <a:t> </a:t>
            </a:r>
            <a:r>
              <a:rPr sz="4600" spc="150" dirty="0">
                <a:solidFill>
                  <a:srgbClr val="161615"/>
                </a:solidFill>
              </a:rPr>
              <a:t>'Density</a:t>
            </a:r>
            <a:r>
              <a:rPr sz="4600" spc="-430" dirty="0">
                <a:solidFill>
                  <a:srgbClr val="161615"/>
                </a:solidFill>
              </a:rPr>
              <a:t> </a:t>
            </a:r>
            <a:r>
              <a:rPr sz="4600" spc="190" dirty="0">
                <a:solidFill>
                  <a:srgbClr val="161615"/>
                </a:solidFill>
              </a:rPr>
              <a:t>Effect'</a:t>
            </a:r>
            <a:r>
              <a:rPr sz="4600" spc="-385" dirty="0">
                <a:solidFill>
                  <a:srgbClr val="161615"/>
                </a:solidFill>
              </a:rPr>
              <a:t> </a:t>
            </a:r>
            <a:r>
              <a:rPr sz="4600" spc="185" dirty="0">
                <a:solidFill>
                  <a:srgbClr val="161615"/>
                </a:solidFill>
              </a:rPr>
              <a:t>is</a:t>
            </a:r>
            <a:r>
              <a:rPr sz="4600" spc="-725" dirty="0">
                <a:solidFill>
                  <a:srgbClr val="161615"/>
                </a:solidFill>
              </a:rPr>
              <a:t> </a:t>
            </a:r>
            <a:r>
              <a:rPr sz="4600" spc="200" dirty="0">
                <a:solidFill>
                  <a:srgbClr val="161615"/>
                </a:solidFill>
              </a:rPr>
              <a:t>the </a:t>
            </a:r>
            <a:r>
              <a:rPr sz="4600" spc="140" dirty="0">
                <a:solidFill>
                  <a:srgbClr val="161615"/>
                </a:solidFill>
              </a:rPr>
              <a:t>Primary</a:t>
            </a:r>
            <a:r>
              <a:rPr sz="4600" spc="-320" dirty="0">
                <a:solidFill>
                  <a:srgbClr val="161615"/>
                </a:solidFill>
              </a:rPr>
              <a:t> </a:t>
            </a:r>
            <a:r>
              <a:rPr sz="4600" spc="125" dirty="0">
                <a:solidFill>
                  <a:srgbClr val="161615"/>
                </a:solidFill>
              </a:rPr>
              <a:t>Driver</a:t>
            </a:r>
            <a:r>
              <a:rPr sz="4600" spc="-300" dirty="0">
                <a:solidFill>
                  <a:srgbClr val="161615"/>
                </a:solidFill>
              </a:rPr>
              <a:t> </a:t>
            </a:r>
            <a:r>
              <a:rPr sz="4600" spc="150" dirty="0">
                <a:solidFill>
                  <a:srgbClr val="161615"/>
                </a:solidFill>
              </a:rPr>
              <a:t>of</a:t>
            </a:r>
            <a:r>
              <a:rPr sz="4600" spc="-325" dirty="0">
                <a:solidFill>
                  <a:srgbClr val="161615"/>
                </a:solidFill>
              </a:rPr>
              <a:t> </a:t>
            </a:r>
            <a:r>
              <a:rPr sz="4600" spc="155" dirty="0">
                <a:solidFill>
                  <a:srgbClr val="161615"/>
                </a:solidFill>
              </a:rPr>
              <a:t>Arrest</a:t>
            </a:r>
            <a:r>
              <a:rPr sz="4600" spc="-300" dirty="0">
                <a:solidFill>
                  <a:srgbClr val="161615"/>
                </a:solidFill>
              </a:rPr>
              <a:t> </a:t>
            </a:r>
            <a:r>
              <a:rPr sz="4600" spc="165" dirty="0">
                <a:solidFill>
                  <a:srgbClr val="161615"/>
                </a:solidFill>
              </a:rPr>
              <a:t>Patterns</a:t>
            </a:r>
            <a:endParaRPr sz="4600"/>
          </a:p>
        </p:txBody>
      </p:sp>
      <p:sp>
        <p:nvSpPr>
          <p:cNvPr id="30" name="object 30"/>
          <p:cNvSpPr txBox="1"/>
          <p:nvPr/>
        </p:nvSpPr>
        <p:spPr>
          <a:xfrm>
            <a:off x="3757391" y="2362000"/>
            <a:ext cx="3222625" cy="118745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vert="horz" wrap="square" lIns="0" tIns="208915" rIns="0" bIns="0" rtlCol="0">
            <a:spAutoFit/>
          </a:bodyPr>
          <a:lstStyle/>
          <a:p>
            <a:pPr marL="481965" marR="332105" indent="-191135">
              <a:lnSpc>
                <a:spcPts val="3220"/>
              </a:lnSpc>
              <a:spcBef>
                <a:spcPts val="1645"/>
              </a:spcBef>
            </a:pPr>
            <a:r>
              <a:rPr sz="2950" b="1" spc="-110" dirty="0">
                <a:solidFill>
                  <a:srgbClr val="0F334D"/>
                </a:solidFill>
                <a:latin typeface="Arial"/>
                <a:cs typeface="Arial"/>
              </a:rPr>
              <a:t>High</a:t>
            </a:r>
            <a:r>
              <a:rPr sz="2950" b="1" spc="-445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145" dirty="0">
                <a:solidFill>
                  <a:srgbClr val="0F334D"/>
                </a:solidFill>
                <a:latin typeface="Arial"/>
                <a:cs typeface="Arial"/>
              </a:rPr>
              <a:t>Population </a:t>
            </a:r>
            <a:r>
              <a:rPr sz="2950" b="1" spc="-150" dirty="0">
                <a:solidFill>
                  <a:srgbClr val="0F334D"/>
                </a:solidFill>
                <a:latin typeface="Arial"/>
                <a:cs typeface="Arial"/>
              </a:rPr>
              <a:t>Density</a:t>
            </a:r>
            <a:r>
              <a:rPr sz="2950" b="1" spc="-95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F334D"/>
                </a:solidFill>
                <a:latin typeface="Arial"/>
                <a:cs typeface="Arial"/>
              </a:rPr>
              <a:t>(NYC)</a:t>
            </a:r>
            <a:endParaRPr sz="2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03374" y="3906772"/>
            <a:ext cx="406400" cy="731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00"/>
              </a:lnSpc>
              <a:spcBef>
                <a:spcPts val="110"/>
              </a:spcBef>
            </a:pPr>
            <a:r>
              <a:rPr sz="2200" spc="-50" dirty="0">
                <a:solidFill>
                  <a:srgbClr val="313434"/>
                </a:solidFill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  <a:p>
            <a:pPr marL="208279">
              <a:lnSpc>
                <a:spcPts val="3040"/>
              </a:lnSpc>
            </a:pPr>
            <a:r>
              <a:rPr sz="2650" spc="-1140" dirty="0">
                <a:solidFill>
                  <a:srgbClr val="161615"/>
                </a:solidFill>
                <a:latin typeface="Arial"/>
                <a:cs typeface="Arial"/>
              </a:rPr>
              <a:t>�</a:t>
            </a:r>
            <a:endParaRPr sz="2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26439" y="4289755"/>
            <a:ext cx="91440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-150" dirty="0">
                <a:solidFill>
                  <a:srgbClr val="313434"/>
                </a:solidFill>
                <a:latin typeface="Arial"/>
                <a:cs typeface="Arial"/>
              </a:rPr>
              <a:t>'</a:t>
            </a:r>
            <a:endParaRPr sz="3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68246" y="4066347"/>
            <a:ext cx="187325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195" dirty="0">
                <a:solidFill>
                  <a:srgbClr val="161615"/>
                </a:solidFill>
                <a:latin typeface="Arial"/>
                <a:cs typeface="Arial"/>
              </a:rPr>
              <a:t>,,</a:t>
            </a:r>
            <a:endParaRPr sz="3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74752" y="4302521"/>
            <a:ext cx="85725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-100" dirty="0">
                <a:solidFill>
                  <a:srgbClr val="313434"/>
                </a:solidFill>
                <a:latin typeface="Arial"/>
                <a:cs typeface="Arial"/>
              </a:rPr>
              <a:t>'</a:t>
            </a:r>
            <a:endParaRPr sz="3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1923" y="4845082"/>
            <a:ext cx="2006600" cy="11976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ctr">
              <a:lnSpc>
                <a:spcPts val="3020"/>
              </a:lnSpc>
              <a:spcBef>
                <a:spcPts val="345"/>
              </a:spcBef>
            </a:pPr>
            <a:r>
              <a:rPr sz="2650" spc="-40" dirty="0">
                <a:solidFill>
                  <a:srgbClr val="161615"/>
                </a:solidFill>
                <a:latin typeface="Arial"/>
                <a:cs typeface="Arial"/>
              </a:rPr>
              <a:t>Concentrated </a:t>
            </a:r>
            <a:r>
              <a:rPr sz="3975" spc="-37" baseline="2096" dirty="0">
                <a:solidFill>
                  <a:srgbClr val="161615"/>
                </a:solidFill>
                <a:latin typeface="Arial"/>
                <a:cs typeface="Arial"/>
              </a:rPr>
              <a:t>Opp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ortunities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forCr</a:t>
            </a:r>
            <a:r>
              <a:rPr sz="2650" spc="-10" dirty="0">
                <a:solidFill>
                  <a:srgbClr val="313434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me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859742" y="4647140"/>
          <a:ext cx="4200525" cy="257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9720">
                <a:tc gridSpan="2">
                  <a:txBody>
                    <a:bodyPr/>
                    <a:lstStyle/>
                    <a:p>
                      <a:pPr marL="592455" marR="558800" indent="-3810" algn="ctr">
                        <a:lnSpc>
                          <a:spcPts val="3020"/>
                        </a:lnSpc>
                        <a:spcBef>
                          <a:spcPts val="1805"/>
                        </a:spcBef>
                      </a:pPr>
                      <a:r>
                        <a:rPr sz="2650" spc="-10" dirty="0">
                          <a:solidFill>
                            <a:srgbClr val="161615"/>
                          </a:solidFill>
                          <a:latin typeface="Arial"/>
                          <a:cs typeface="Arial"/>
                        </a:rPr>
                        <a:t>Increased Human </a:t>
                      </a:r>
                      <a:r>
                        <a:rPr sz="2650" spc="-45" dirty="0">
                          <a:latin typeface="Arial"/>
                          <a:cs typeface="Arial"/>
                        </a:rPr>
                        <a:t>Interaction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2292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05">
                <a:tc gridSpan="3">
                  <a:txBody>
                    <a:bodyPr/>
                    <a:lstStyle/>
                    <a:p>
                      <a:pPr marL="3880485" marR="67310">
                        <a:lnSpc>
                          <a:spcPts val="1100"/>
                        </a:lnSpc>
                        <a:spcBef>
                          <a:spcPts val="60"/>
                        </a:spcBef>
                      </a:pPr>
                      <a:r>
                        <a:rPr sz="1950" spc="-50" dirty="0">
                          <a:solidFill>
                            <a:srgbClr val="313434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3926840">
                        <a:lnSpc>
                          <a:spcPts val="2360"/>
                        </a:lnSpc>
                      </a:pPr>
                      <a:r>
                        <a:rPr sz="5550" spc="195" baseline="-24024" dirty="0">
                          <a:solidFill>
                            <a:srgbClr val="313434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sz="1650" b="1" i="1" spc="130" dirty="0">
                          <a:solidFill>
                            <a:srgbClr val="161615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7776377" y="4845082"/>
            <a:ext cx="1504950" cy="11976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3180" marR="5080" indent="-31115" algn="just">
              <a:lnSpc>
                <a:spcPts val="3020"/>
              </a:lnSpc>
              <a:spcBef>
                <a:spcPts val="345"/>
              </a:spcBef>
            </a:pPr>
            <a:r>
              <a:rPr sz="2650" spc="-50" dirty="0">
                <a:latin typeface="Arial"/>
                <a:cs typeface="Arial"/>
              </a:rPr>
              <a:t>Intensified </a:t>
            </a:r>
            <a:r>
              <a:rPr sz="2650" spc="-95" dirty="0">
                <a:solidFill>
                  <a:srgbClr val="161615"/>
                </a:solidFill>
                <a:latin typeface="Arial"/>
                <a:cs typeface="Arial"/>
              </a:rPr>
              <a:t>Policing</a:t>
            </a:r>
            <a:r>
              <a:rPr sz="2650" spc="-6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in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Hotspots</a:t>
            </a:r>
            <a:endParaRPr sz="2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51297" y="2304620"/>
            <a:ext cx="5755640" cy="34956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8890">
              <a:lnSpc>
                <a:spcPts val="3020"/>
              </a:lnSpc>
              <a:spcBef>
                <a:spcPts val="340"/>
              </a:spcBef>
            </a:pPr>
            <a:r>
              <a:rPr sz="2650" spc="-45" dirty="0">
                <a:solidFill>
                  <a:srgbClr val="161615"/>
                </a:solidFill>
                <a:latin typeface="Arial"/>
                <a:cs typeface="Arial"/>
              </a:rPr>
              <a:t>New</a:t>
            </a:r>
            <a:r>
              <a:rPr sz="2650" spc="-19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45" dirty="0">
                <a:solidFill>
                  <a:srgbClr val="161615"/>
                </a:solidFill>
                <a:latin typeface="Arial"/>
                <a:cs typeface="Arial"/>
              </a:rPr>
              <a:t>York</a:t>
            </a:r>
            <a:r>
              <a:rPr sz="2650" spc="-21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40" dirty="0">
                <a:solidFill>
                  <a:srgbClr val="161615"/>
                </a:solidFill>
                <a:latin typeface="Arial"/>
                <a:cs typeface="Arial"/>
              </a:rPr>
              <a:t>City's</a:t>
            </a:r>
            <a:r>
              <a:rPr sz="2650" spc="-26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60" dirty="0">
                <a:solidFill>
                  <a:srgbClr val="161615"/>
                </a:solidFill>
                <a:latin typeface="Arial"/>
                <a:cs typeface="Arial"/>
              </a:rPr>
              <a:t>exceptional</a:t>
            </a:r>
            <a:r>
              <a:rPr sz="2650" spc="-14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45" dirty="0">
                <a:solidFill>
                  <a:srgbClr val="161615"/>
                </a:solidFill>
                <a:latin typeface="Arial"/>
                <a:cs typeface="Arial"/>
              </a:rPr>
              <a:t>density</a:t>
            </a:r>
            <a:r>
              <a:rPr sz="2650" spc="-24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161615"/>
                </a:solidFill>
                <a:latin typeface="Arial"/>
                <a:cs typeface="Arial"/>
              </a:rPr>
              <a:t>acts </a:t>
            </a:r>
            <a:r>
              <a:rPr sz="2650" spc="-35" dirty="0">
                <a:solidFill>
                  <a:srgbClr val="161615"/>
                </a:solidFill>
                <a:latin typeface="Arial"/>
                <a:cs typeface="Arial"/>
              </a:rPr>
              <a:t>as</a:t>
            </a:r>
            <a:r>
              <a:rPr sz="2650" spc="-36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130" dirty="0">
                <a:solidFill>
                  <a:srgbClr val="161615"/>
                </a:solidFill>
                <a:latin typeface="Arial"/>
                <a:cs typeface="Arial"/>
              </a:rPr>
              <a:t>a</a:t>
            </a:r>
            <a:r>
              <a:rPr sz="2650" spc="-45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45" dirty="0">
                <a:solidFill>
                  <a:srgbClr val="161615"/>
                </a:solidFill>
                <a:latin typeface="Arial"/>
                <a:cs typeface="Arial"/>
              </a:rPr>
              <a:t>'crime</a:t>
            </a:r>
            <a:r>
              <a:rPr sz="2650" spc="-34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multiplier</a:t>
            </a:r>
            <a:r>
              <a:rPr sz="2650" spc="-10" dirty="0">
                <a:solidFill>
                  <a:srgbClr val="313434"/>
                </a:solidFill>
                <a:latin typeface="Arial"/>
                <a:cs typeface="Arial"/>
              </a:rPr>
              <a:t>'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.By</a:t>
            </a:r>
            <a:r>
              <a:rPr sz="2650" spc="-39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concentrating </a:t>
            </a:r>
            <a:r>
              <a:rPr sz="2650" spc="-50" dirty="0">
                <a:solidFill>
                  <a:srgbClr val="161615"/>
                </a:solidFill>
                <a:latin typeface="Arial"/>
                <a:cs typeface="Arial"/>
              </a:rPr>
              <a:t>millions</a:t>
            </a:r>
            <a:r>
              <a:rPr sz="2650" spc="-19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of</a:t>
            </a:r>
            <a:r>
              <a:rPr sz="2650" spc="-23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40" dirty="0">
                <a:solidFill>
                  <a:srgbClr val="161615"/>
                </a:solidFill>
                <a:latin typeface="Arial"/>
                <a:cs typeface="Arial"/>
              </a:rPr>
              <a:t>people</a:t>
            </a:r>
            <a:r>
              <a:rPr sz="2650" spc="-30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61615"/>
                </a:solidFill>
                <a:latin typeface="Arial"/>
                <a:cs typeface="Arial"/>
              </a:rPr>
              <a:t>inasmall</a:t>
            </a:r>
            <a:r>
              <a:rPr sz="2650" spc="-24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85" dirty="0">
                <a:solidFill>
                  <a:srgbClr val="161615"/>
                </a:solidFill>
                <a:latin typeface="Arial"/>
                <a:cs typeface="Arial"/>
              </a:rPr>
              <a:t>area,</a:t>
            </a:r>
            <a:r>
              <a:rPr sz="2650" spc="-35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it </a:t>
            </a:r>
            <a:r>
              <a:rPr sz="2650" spc="-40" dirty="0">
                <a:solidFill>
                  <a:srgbClr val="161615"/>
                </a:solidFill>
                <a:latin typeface="Arial"/>
                <a:cs typeface="Arial"/>
              </a:rPr>
              <a:t>naturally</a:t>
            </a:r>
            <a:r>
              <a:rPr sz="2650" spc="-18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45" dirty="0">
                <a:solidFill>
                  <a:srgbClr val="161615"/>
                </a:solidFill>
                <a:latin typeface="Arial"/>
                <a:cs typeface="Arial"/>
              </a:rPr>
              <a:t>increases</a:t>
            </a:r>
            <a:r>
              <a:rPr sz="2650" spc="-12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the</a:t>
            </a:r>
            <a:r>
              <a:rPr sz="2650" spc="-24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35" dirty="0">
                <a:solidFill>
                  <a:srgbClr val="161615"/>
                </a:solidFill>
                <a:latin typeface="Arial"/>
                <a:cs typeface="Arial"/>
              </a:rPr>
              <a:t>frequency</a:t>
            </a:r>
            <a:r>
              <a:rPr sz="2650" spc="-12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of </a:t>
            </a:r>
            <a:r>
              <a:rPr sz="2650" spc="-20" dirty="0">
                <a:solidFill>
                  <a:srgbClr val="161615"/>
                </a:solidFill>
                <a:latin typeface="Arial"/>
                <a:cs typeface="Arial"/>
              </a:rPr>
              <a:t>interactions</a:t>
            </a:r>
            <a:r>
              <a:rPr sz="2650" spc="-17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that</a:t>
            </a:r>
            <a:r>
              <a:rPr sz="2650" spc="-21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can</a:t>
            </a:r>
            <a:r>
              <a:rPr sz="2650" spc="-38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lead</a:t>
            </a:r>
            <a:r>
              <a:rPr sz="2650" spc="-22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95" dirty="0">
                <a:solidFill>
                  <a:srgbClr val="161615"/>
                </a:solidFill>
                <a:latin typeface="Arial"/>
                <a:cs typeface="Arial"/>
              </a:rPr>
              <a:t>to</a:t>
            </a:r>
            <a:r>
              <a:rPr sz="2650" spc="-38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conflict</a:t>
            </a:r>
            <a:r>
              <a:rPr sz="2650" spc="-10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and </a:t>
            </a:r>
            <a:r>
              <a:rPr sz="2650" spc="-35" dirty="0">
                <a:solidFill>
                  <a:srgbClr val="161615"/>
                </a:solidFill>
                <a:latin typeface="Arial"/>
                <a:cs typeface="Arial"/>
              </a:rPr>
              <a:t>criminal</a:t>
            </a:r>
            <a:r>
              <a:rPr sz="2650" spc="-31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30" dirty="0">
                <a:solidFill>
                  <a:srgbClr val="161615"/>
                </a:solidFill>
                <a:latin typeface="Arial"/>
                <a:cs typeface="Arial"/>
              </a:rPr>
              <a:t>activity.</a:t>
            </a:r>
            <a:r>
              <a:rPr sz="2650" spc="-28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161615"/>
                </a:solidFill>
                <a:latin typeface="Arial"/>
                <a:cs typeface="Arial"/>
              </a:rPr>
              <a:t>This</a:t>
            </a:r>
            <a:r>
              <a:rPr sz="2650" spc="-20" dirty="0">
                <a:solidFill>
                  <a:srgbClr val="313434"/>
                </a:solidFill>
                <a:latin typeface="Arial"/>
                <a:cs typeface="Arial"/>
              </a:rPr>
              <a:t>,</a:t>
            </a:r>
            <a:r>
              <a:rPr sz="2650" spc="-20" dirty="0">
                <a:solidFill>
                  <a:srgbClr val="161615"/>
                </a:solidFill>
                <a:latin typeface="Arial"/>
                <a:cs typeface="Arial"/>
              </a:rPr>
              <a:t>combined</a:t>
            </a:r>
            <a:r>
              <a:rPr sz="2650" spc="-11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161615"/>
                </a:solidFill>
                <a:latin typeface="Arial"/>
                <a:cs typeface="Arial"/>
              </a:rPr>
              <a:t>with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concentrated</a:t>
            </a:r>
            <a:r>
              <a:rPr sz="2650" spc="-15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30" dirty="0">
                <a:solidFill>
                  <a:srgbClr val="161615"/>
                </a:solidFill>
                <a:latin typeface="Arial"/>
                <a:cs typeface="Arial"/>
              </a:rPr>
              <a:t>policing</a:t>
            </a:r>
            <a:r>
              <a:rPr sz="2650" spc="-30" dirty="0">
                <a:solidFill>
                  <a:srgbClr val="313434"/>
                </a:solidFill>
                <a:latin typeface="Arial"/>
                <a:cs typeface="Arial"/>
              </a:rPr>
              <a:t>,</a:t>
            </a:r>
            <a:r>
              <a:rPr sz="2650" spc="-30" dirty="0">
                <a:solidFill>
                  <a:srgbClr val="161615"/>
                </a:solidFill>
                <a:latin typeface="Arial"/>
                <a:cs typeface="Arial"/>
              </a:rPr>
              <a:t>explains</a:t>
            </a:r>
            <a:r>
              <a:rPr sz="2650" spc="-12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both</a:t>
            </a:r>
            <a:r>
              <a:rPr sz="2650" spc="-27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the </a:t>
            </a:r>
            <a:r>
              <a:rPr sz="2650" spc="-30" dirty="0">
                <a:solidFill>
                  <a:srgbClr val="161615"/>
                </a:solidFill>
                <a:latin typeface="Arial"/>
                <a:cs typeface="Arial"/>
              </a:rPr>
              <a:t>higher</a:t>
            </a:r>
            <a:r>
              <a:rPr sz="2650" spc="-18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55" dirty="0">
                <a:solidFill>
                  <a:srgbClr val="161615"/>
                </a:solidFill>
                <a:latin typeface="Arial"/>
                <a:cs typeface="Arial"/>
              </a:rPr>
              <a:t>volume</a:t>
            </a:r>
            <a:r>
              <a:rPr sz="2650" spc="-35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of</a:t>
            </a:r>
            <a:r>
              <a:rPr sz="2650" spc="-15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30" dirty="0">
                <a:solidFill>
                  <a:srgbClr val="161615"/>
                </a:solidFill>
                <a:latin typeface="Arial"/>
                <a:cs typeface="Arial"/>
              </a:rPr>
              <a:t>arrests</a:t>
            </a:r>
            <a:r>
              <a:rPr sz="2650" spc="-24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and</a:t>
            </a:r>
            <a:r>
              <a:rPr sz="2650" spc="-38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61615"/>
                </a:solidFill>
                <a:latin typeface="Arial"/>
                <a:cs typeface="Arial"/>
              </a:rPr>
              <a:t>the</a:t>
            </a:r>
            <a:r>
              <a:rPr sz="2650" spc="-45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intense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hotspots</a:t>
            </a:r>
            <a:r>
              <a:rPr sz="2650" spc="-295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161615"/>
                </a:solidFill>
                <a:latin typeface="Arial"/>
                <a:cs typeface="Arial"/>
              </a:rPr>
              <a:t>observed</a:t>
            </a:r>
            <a:r>
              <a:rPr sz="2650" spc="-22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in</a:t>
            </a:r>
            <a:r>
              <a:rPr sz="2650" spc="-39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61615"/>
                </a:solidFill>
                <a:latin typeface="Arial"/>
                <a:cs typeface="Arial"/>
              </a:rPr>
              <a:t>the</a:t>
            </a:r>
            <a:r>
              <a:rPr sz="2650" spc="-29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35" dirty="0">
                <a:solidFill>
                  <a:srgbClr val="161615"/>
                </a:solidFill>
                <a:latin typeface="Arial"/>
                <a:cs typeface="Arial"/>
              </a:rPr>
              <a:t>spatial</a:t>
            </a:r>
            <a:r>
              <a:rPr sz="2650" spc="-26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61615"/>
                </a:solidFill>
                <a:latin typeface="Arial"/>
                <a:cs typeface="Arial"/>
              </a:rPr>
              <a:t>data</a:t>
            </a:r>
            <a:r>
              <a:rPr sz="2650" spc="-10" dirty="0">
                <a:solidFill>
                  <a:srgbClr val="313434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6489" y="7640869"/>
            <a:ext cx="5821045" cy="8991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88340" marR="245745" indent="-455295">
              <a:lnSpc>
                <a:spcPts val="3320"/>
              </a:lnSpc>
              <a:spcBef>
                <a:spcPts val="409"/>
              </a:spcBef>
            </a:pPr>
            <a:r>
              <a:rPr sz="2950" b="1" spc="-120" dirty="0">
                <a:solidFill>
                  <a:srgbClr val="0F334D"/>
                </a:solidFill>
                <a:latin typeface="Arial"/>
                <a:cs typeface="Arial"/>
              </a:rPr>
              <a:t>Higher</a:t>
            </a:r>
            <a:r>
              <a:rPr sz="2950" b="1" spc="-155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110" dirty="0">
                <a:solidFill>
                  <a:srgbClr val="0F334D"/>
                </a:solidFill>
                <a:latin typeface="Arial"/>
                <a:cs typeface="Arial"/>
              </a:rPr>
              <a:t>Arrest</a:t>
            </a:r>
            <a:r>
              <a:rPr sz="2950" b="1" spc="-160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170" dirty="0">
                <a:solidFill>
                  <a:srgbClr val="0F334D"/>
                </a:solidFill>
                <a:latin typeface="Arial"/>
                <a:cs typeface="Arial"/>
              </a:rPr>
              <a:t>Volume</a:t>
            </a:r>
            <a:r>
              <a:rPr sz="2950" b="1" spc="-210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F334D"/>
                </a:solidFill>
                <a:latin typeface="Arial"/>
                <a:cs typeface="Arial"/>
              </a:rPr>
              <a:t>&amp;</a:t>
            </a:r>
            <a:r>
              <a:rPr sz="2950" b="1" spc="-520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55" dirty="0">
                <a:solidFill>
                  <a:srgbClr val="0F334D"/>
                </a:solidFill>
                <a:latin typeface="Arial"/>
                <a:cs typeface="Arial"/>
              </a:rPr>
              <a:t>Extreme </a:t>
            </a:r>
            <a:r>
              <a:rPr sz="2950" b="1" spc="-120" dirty="0">
                <a:solidFill>
                  <a:srgbClr val="0F334D"/>
                </a:solidFill>
                <a:latin typeface="Arial"/>
                <a:cs typeface="Arial"/>
              </a:rPr>
              <a:t>Geographic</a:t>
            </a:r>
            <a:r>
              <a:rPr sz="2950" b="1" spc="-155" dirty="0">
                <a:solidFill>
                  <a:srgbClr val="0F334D"/>
                </a:solidFill>
                <a:latin typeface="Arial"/>
                <a:cs typeface="Arial"/>
              </a:rPr>
              <a:t> </a:t>
            </a:r>
            <a:r>
              <a:rPr sz="2950" b="1" spc="-40" dirty="0">
                <a:solidFill>
                  <a:srgbClr val="0F334D"/>
                </a:solidFill>
                <a:latin typeface="Arial"/>
                <a:cs typeface="Arial"/>
              </a:rPr>
              <a:t>Concentration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47998" y="6332339"/>
            <a:ext cx="5887085" cy="244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145">
              <a:lnSpc>
                <a:spcPct val="100499"/>
              </a:lnSpc>
              <a:spcBef>
                <a:spcPts val="95"/>
              </a:spcBef>
            </a:pPr>
            <a:r>
              <a:rPr sz="2600" i="1" spc="-210" dirty="0">
                <a:solidFill>
                  <a:srgbClr val="575954"/>
                </a:solidFill>
                <a:latin typeface="Arial"/>
                <a:cs typeface="Arial"/>
              </a:rPr>
              <a:t>uThis</a:t>
            </a:r>
            <a:r>
              <a:rPr sz="2600" i="1" spc="-14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80" dirty="0">
                <a:solidFill>
                  <a:srgbClr val="575954"/>
                </a:solidFill>
                <a:latin typeface="Arial"/>
                <a:cs typeface="Arial"/>
              </a:rPr>
              <a:t>finding</a:t>
            </a:r>
            <a:r>
              <a:rPr sz="2600" i="1" spc="-26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5" dirty="0">
                <a:solidFill>
                  <a:srgbClr val="575954"/>
                </a:solidFill>
                <a:latin typeface="Arial"/>
                <a:cs typeface="Arial"/>
              </a:rPr>
              <a:t>aligns</a:t>
            </a:r>
            <a:r>
              <a:rPr sz="2600" i="1" spc="-35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575954"/>
                </a:solidFill>
                <a:latin typeface="Arial"/>
                <a:cs typeface="Arial"/>
              </a:rPr>
              <a:t>with</a:t>
            </a:r>
            <a:r>
              <a:rPr sz="2600" i="1" spc="-44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575954"/>
                </a:solidFill>
                <a:latin typeface="Arial"/>
                <a:cs typeface="Arial"/>
              </a:rPr>
              <a:t>criminological </a:t>
            </a:r>
            <a:r>
              <a:rPr sz="2600" i="1" spc="-75" dirty="0">
                <a:solidFill>
                  <a:srgbClr val="575954"/>
                </a:solidFill>
                <a:latin typeface="Arial"/>
                <a:cs typeface="Arial"/>
              </a:rPr>
              <a:t>research</a:t>
            </a:r>
            <a:r>
              <a:rPr sz="2600" i="1" spc="-27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0" dirty="0">
                <a:solidFill>
                  <a:srgbClr val="575954"/>
                </a:solidFill>
                <a:latin typeface="Arial"/>
                <a:cs typeface="Arial"/>
              </a:rPr>
              <a:t>positing</a:t>
            </a:r>
            <a:r>
              <a:rPr sz="2600" i="1" spc="-13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65" dirty="0">
                <a:solidFill>
                  <a:srgbClr val="575954"/>
                </a:solidFill>
                <a:latin typeface="Arial"/>
                <a:cs typeface="Arial"/>
              </a:rPr>
              <a:t>that</a:t>
            </a:r>
            <a:r>
              <a:rPr sz="2600" i="1" spc="-34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50" dirty="0">
                <a:solidFill>
                  <a:srgbClr val="575954"/>
                </a:solidFill>
                <a:latin typeface="Arial"/>
                <a:cs typeface="Arial"/>
              </a:rPr>
              <a:t>crime</a:t>
            </a:r>
            <a:r>
              <a:rPr sz="2600" i="1" spc="-32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60" dirty="0">
                <a:solidFill>
                  <a:srgbClr val="575954"/>
                </a:solidFill>
                <a:latin typeface="Arial"/>
                <a:cs typeface="Arial"/>
              </a:rPr>
              <a:t>occurs</a:t>
            </a:r>
            <a:r>
              <a:rPr sz="2600" i="1" spc="-19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20" dirty="0">
                <a:solidFill>
                  <a:srgbClr val="575954"/>
                </a:solidFill>
                <a:latin typeface="Arial"/>
                <a:cs typeface="Arial"/>
              </a:rPr>
              <a:t>when </a:t>
            </a:r>
            <a:r>
              <a:rPr sz="2600" i="1" spc="-75" dirty="0">
                <a:solidFill>
                  <a:srgbClr val="575954"/>
                </a:solidFill>
                <a:latin typeface="Arial"/>
                <a:cs typeface="Arial"/>
              </a:rPr>
              <a:t>motivated</a:t>
            </a:r>
            <a:r>
              <a:rPr sz="2600" i="1" spc="-31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0" dirty="0">
                <a:solidFill>
                  <a:srgbClr val="575954"/>
                </a:solidFill>
                <a:latin typeface="Arial"/>
                <a:cs typeface="Arial"/>
              </a:rPr>
              <a:t>offenders</a:t>
            </a:r>
            <a:r>
              <a:rPr sz="2600" i="1" spc="-24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55" dirty="0">
                <a:solidFill>
                  <a:srgbClr val="575954"/>
                </a:solidFill>
                <a:latin typeface="Arial"/>
                <a:cs typeface="Arial"/>
              </a:rPr>
              <a:t>and</a:t>
            </a:r>
            <a:r>
              <a:rPr sz="2600" i="1" spc="-37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0" dirty="0">
                <a:solidFill>
                  <a:srgbClr val="575954"/>
                </a:solidFill>
                <a:latin typeface="Arial"/>
                <a:cs typeface="Arial"/>
              </a:rPr>
              <a:t>suitable</a:t>
            </a:r>
            <a:r>
              <a:rPr sz="2600" i="1" spc="-20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575954"/>
                </a:solidFill>
                <a:latin typeface="Arial"/>
                <a:cs typeface="Arial"/>
              </a:rPr>
              <a:t>targets </a:t>
            </a:r>
            <a:r>
              <a:rPr sz="2600" i="1" spc="-90" dirty="0">
                <a:solidFill>
                  <a:srgbClr val="575954"/>
                </a:solidFill>
                <a:latin typeface="Arial"/>
                <a:cs typeface="Arial"/>
              </a:rPr>
              <a:t>converge</a:t>
            </a:r>
            <a:r>
              <a:rPr sz="2600" i="1" spc="-18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20" dirty="0">
                <a:solidFill>
                  <a:srgbClr val="575954"/>
                </a:solidFill>
                <a:latin typeface="Arial"/>
                <a:cs typeface="Arial"/>
              </a:rPr>
              <a:t>in</a:t>
            </a:r>
            <a:r>
              <a:rPr sz="2600" i="1" spc="-37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45" dirty="0">
                <a:solidFill>
                  <a:srgbClr val="575954"/>
                </a:solidFill>
                <a:latin typeface="Arial"/>
                <a:cs typeface="Arial"/>
              </a:rPr>
              <a:t>the</a:t>
            </a:r>
            <a:r>
              <a:rPr sz="2600" i="1" spc="-41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80" dirty="0">
                <a:solidFill>
                  <a:srgbClr val="575954"/>
                </a:solidFill>
                <a:latin typeface="Arial"/>
                <a:cs typeface="Arial"/>
              </a:rPr>
              <a:t>absence</a:t>
            </a:r>
            <a:r>
              <a:rPr sz="2600" i="1" spc="-25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5" dirty="0">
                <a:solidFill>
                  <a:srgbClr val="575954"/>
                </a:solidFill>
                <a:latin typeface="Arial"/>
                <a:cs typeface="Arial"/>
              </a:rPr>
              <a:t>of</a:t>
            </a:r>
            <a:r>
              <a:rPr sz="2600" i="1" spc="-27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575954"/>
                </a:solidFill>
                <a:latin typeface="Arial"/>
                <a:cs typeface="Arial"/>
              </a:rPr>
              <a:t>capable </a:t>
            </a:r>
            <a:r>
              <a:rPr sz="2600" i="1" spc="55" dirty="0">
                <a:solidFill>
                  <a:srgbClr val="575954"/>
                </a:solidFill>
                <a:latin typeface="Arial"/>
                <a:cs typeface="Arial"/>
              </a:rPr>
              <a:t>guardians-</a:t>
            </a:r>
            <a:r>
              <a:rPr sz="2600" i="1" spc="70" dirty="0">
                <a:solidFill>
                  <a:srgbClr val="575954"/>
                </a:solidFill>
                <a:latin typeface="Arial"/>
                <a:cs typeface="Arial"/>
              </a:rPr>
              <a:t>a</a:t>
            </a:r>
            <a:r>
              <a:rPr sz="2600" i="1" spc="-14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85" dirty="0">
                <a:solidFill>
                  <a:srgbClr val="575954"/>
                </a:solidFill>
                <a:latin typeface="Arial"/>
                <a:cs typeface="Arial"/>
              </a:rPr>
              <a:t>scenario</a:t>
            </a:r>
            <a:r>
              <a:rPr sz="2600" i="1" spc="-12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80" dirty="0">
                <a:solidFill>
                  <a:srgbClr val="575954"/>
                </a:solidFill>
                <a:latin typeface="Arial"/>
                <a:cs typeface="Arial"/>
              </a:rPr>
              <a:t>far</a:t>
            </a:r>
            <a:r>
              <a:rPr sz="2600" i="1" spc="-29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55" dirty="0">
                <a:solidFill>
                  <a:srgbClr val="575954"/>
                </a:solidFill>
                <a:latin typeface="Arial"/>
                <a:cs typeface="Arial"/>
              </a:rPr>
              <a:t>more</a:t>
            </a:r>
            <a:r>
              <a:rPr sz="2600" i="1" spc="-40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95" dirty="0">
                <a:solidFill>
                  <a:srgbClr val="575954"/>
                </a:solidFill>
                <a:latin typeface="Arial"/>
                <a:cs typeface="Arial"/>
              </a:rPr>
              <a:t>common</a:t>
            </a:r>
            <a:r>
              <a:rPr sz="2600" i="1" spc="-9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25" dirty="0">
                <a:solidFill>
                  <a:srgbClr val="575954"/>
                </a:solidFill>
                <a:latin typeface="Arial"/>
                <a:cs typeface="Arial"/>
              </a:rPr>
              <a:t>in </a:t>
            </a:r>
            <a:r>
              <a:rPr sz="2800" spc="-100" dirty="0">
                <a:solidFill>
                  <a:srgbClr val="575954"/>
                </a:solidFill>
                <a:latin typeface="Arial"/>
                <a:cs typeface="Arial"/>
              </a:rPr>
              <a:t>a</a:t>
            </a:r>
            <a:r>
              <a:rPr sz="2800" spc="-484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75" dirty="0">
                <a:solidFill>
                  <a:srgbClr val="575954"/>
                </a:solidFill>
                <a:latin typeface="Arial"/>
                <a:cs typeface="Arial"/>
              </a:rPr>
              <a:t>dense</a:t>
            </a:r>
            <a:r>
              <a:rPr sz="2600" i="1" spc="-360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65" dirty="0">
                <a:solidFill>
                  <a:srgbClr val="575954"/>
                </a:solidFill>
                <a:latin typeface="Arial"/>
                <a:cs typeface="Arial"/>
              </a:rPr>
              <a:t>urban</a:t>
            </a:r>
            <a:r>
              <a:rPr sz="2600" i="1" spc="-375" dirty="0">
                <a:solidFill>
                  <a:srgbClr val="5759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575954"/>
                </a:solidFill>
                <a:latin typeface="Arial"/>
                <a:cs typeface="Arial"/>
              </a:rPr>
              <a:t>core."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636" y="4902464"/>
            <a:ext cx="1299165" cy="13021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72479" y="7251435"/>
            <a:ext cx="1267460" cy="1225550"/>
            <a:chOff x="872479" y="7251435"/>
            <a:chExt cx="1267460" cy="12255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058" y="7251435"/>
              <a:ext cx="1222744" cy="12255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8847" y="7276965"/>
              <a:ext cx="0" cy="408940"/>
            </a:xfrm>
            <a:custGeom>
              <a:avLst/>
              <a:gdLst/>
              <a:ahLst/>
              <a:cxnLst/>
              <a:rect l="l" t="t" r="r" b="b"/>
              <a:pathLst>
                <a:path h="408940">
                  <a:moveTo>
                    <a:pt x="0" y="408516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628" rIns="0" bIns="0" rtlCol="0">
            <a:spAutoFit/>
          </a:bodyPr>
          <a:lstStyle/>
          <a:p>
            <a:pPr marL="358140" marR="5080" indent="5080">
              <a:lnSpc>
                <a:spcPts val="6030"/>
              </a:lnSpc>
              <a:spcBef>
                <a:spcPts val="1405"/>
              </a:spcBef>
            </a:pPr>
            <a:r>
              <a:rPr sz="6100" spc="-95" dirty="0">
                <a:solidFill>
                  <a:srgbClr val="0F0F0C"/>
                </a:solidFill>
              </a:rPr>
              <a:t>How</a:t>
            </a:r>
            <a:r>
              <a:rPr sz="6100" spc="-520" dirty="0">
                <a:solidFill>
                  <a:srgbClr val="0F0F0C"/>
                </a:solidFill>
              </a:rPr>
              <a:t> </a:t>
            </a:r>
            <a:r>
              <a:rPr sz="6100" spc="55" dirty="0">
                <a:solidFill>
                  <a:srgbClr val="0F0F0C"/>
                </a:solidFill>
              </a:rPr>
              <a:t>the</a:t>
            </a:r>
            <a:r>
              <a:rPr sz="6100" spc="-855" dirty="0">
                <a:solidFill>
                  <a:srgbClr val="0F0F0C"/>
                </a:solidFill>
              </a:rPr>
              <a:t> </a:t>
            </a:r>
            <a:r>
              <a:rPr sz="6100" spc="-110" dirty="0">
                <a:solidFill>
                  <a:srgbClr val="0F0F0C"/>
                </a:solidFill>
              </a:rPr>
              <a:t>Evidence</a:t>
            </a:r>
            <a:r>
              <a:rPr sz="6100" spc="-490" dirty="0">
                <a:solidFill>
                  <a:srgbClr val="0F0F0C"/>
                </a:solidFill>
              </a:rPr>
              <a:t> </a:t>
            </a:r>
            <a:r>
              <a:rPr sz="6100" spc="-200" dirty="0">
                <a:solidFill>
                  <a:srgbClr val="0F0F0C"/>
                </a:solidFill>
              </a:rPr>
              <a:t>Aligns</a:t>
            </a:r>
            <a:r>
              <a:rPr sz="6100" spc="-605" dirty="0">
                <a:solidFill>
                  <a:srgbClr val="0F0F0C"/>
                </a:solidFill>
              </a:rPr>
              <a:t> </a:t>
            </a:r>
            <a:r>
              <a:rPr sz="6100" spc="-20" dirty="0">
                <a:solidFill>
                  <a:srgbClr val="0F0F0C"/>
                </a:solidFill>
              </a:rPr>
              <a:t>with </a:t>
            </a:r>
            <a:r>
              <a:rPr sz="6100" spc="-105" dirty="0">
                <a:solidFill>
                  <a:srgbClr val="0F0F0C"/>
                </a:solidFill>
              </a:rPr>
              <a:t>Criminological</a:t>
            </a:r>
            <a:r>
              <a:rPr sz="6100" spc="-844" dirty="0">
                <a:solidFill>
                  <a:srgbClr val="0F0F0C"/>
                </a:solidFill>
              </a:rPr>
              <a:t> </a:t>
            </a:r>
            <a:r>
              <a:rPr sz="6100" spc="-10" dirty="0">
                <a:solidFill>
                  <a:srgbClr val="0F0F0C"/>
                </a:solidFill>
              </a:rPr>
              <a:t>Theory</a:t>
            </a:r>
            <a:endParaRPr sz="6100"/>
          </a:p>
        </p:txBody>
      </p:sp>
      <p:sp>
        <p:nvSpPr>
          <p:cNvPr id="7" name="object 7"/>
          <p:cNvSpPr txBox="1"/>
          <p:nvPr/>
        </p:nvSpPr>
        <p:spPr>
          <a:xfrm>
            <a:off x="907720" y="2655689"/>
            <a:ext cx="116586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-2330" dirty="0">
                <a:solidFill>
                  <a:srgbClr val="313434"/>
                </a:solidFill>
                <a:latin typeface="Arial"/>
                <a:cs typeface="Arial"/>
              </a:rPr>
              <a:t>6A�</a:t>
            </a:r>
            <a:endParaRPr sz="7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693" y="3568468"/>
            <a:ext cx="137033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765" dirty="0">
                <a:solidFill>
                  <a:srgbClr val="313434"/>
                </a:solidFill>
                <a:latin typeface="Arial"/>
                <a:cs typeface="Arial"/>
              </a:rPr>
              <a:t>�'-</a:t>
            </a:r>
            <a:r>
              <a:rPr sz="1850" spc="360" dirty="0">
                <a:solidFill>
                  <a:srgbClr val="313434"/>
                </a:solidFill>
                <a:latin typeface="Arial"/>
                <a:cs typeface="Arial"/>
              </a:rPr>
              <a:t>._/�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9491" y="2591857"/>
            <a:ext cx="4857750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b="1" spc="-140" dirty="0">
                <a:solidFill>
                  <a:srgbClr val="0F0F0C"/>
                </a:solidFill>
                <a:latin typeface="Arial"/>
                <a:cs typeface="Arial"/>
              </a:rPr>
              <a:t>Routine</a:t>
            </a:r>
            <a:r>
              <a:rPr sz="3400" b="1" spc="-17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3400" b="1" spc="-105" dirty="0">
                <a:solidFill>
                  <a:srgbClr val="0F0F0C"/>
                </a:solidFill>
                <a:latin typeface="Arial"/>
                <a:cs typeface="Arial"/>
              </a:rPr>
              <a:t>Activities</a:t>
            </a:r>
            <a:r>
              <a:rPr sz="3400" b="1" spc="-35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3400" b="1" spc="-65" dirty="0">
                <a:solidFill>
                  <a:srgbClr val="0F0F0C"/>
                </a:solidFill>
                <a:latin typeface="Arial"/>
                <a:cs typeface="Arial"/>
              </a:rPr>
              <a:t>Theory</a:t>
            </a:r>
            <a:endParaRPr sz="3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2217" y="3166334"/>
            <a:ext cx="13127990" cy="8375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2860" marR="5080" indent="-10795">
              <a:lnSpc>
                <a:spcPts val="3020"/>
              </a:lnSpc>
              <a:spcBef>
                <a:spcPts val="495"/>
              </a:spcBef>
            </a:pPr>
            <a:r>
              <a:rPr sz="2800" spc="-100" dirty="0">
                <a:solidFill>
                  <a:srgbClr val="0F0F0C"/>
                </a:solidFill>
                <a:latin typeface="Arial"/>
                <a:cs typeface="Arial"/>
              </a:rPr>
              <a:t>High-</a:t>
            </a:r>
            <a:r>
              <a:rPr sz="2800" spc="-95" dirty="0">
                <a:solidFill>
                  <a:srgbClr val="0F0F0C"/>
                </a:solidFill>
                <a:latin typeface="Arial"/>
                <a:cs typeface="Arial"/>
              </a:rPr>
              <a:t>density</a:t>
            </a:r>
            <a:r>
              <a:rPr sz="2800" spc="-7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0F0C"/>
                </a:solidFill>
                <a:latin typeface="Arial"/>
                <a:cs typeface="Arial"/>
              </a:rPr>
              <a:t>environments</a:t>
            </a:r>
            <a:r>
              <a:rPr sz="2800" spc="-9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0F0C"/>
                </a:solidFill>
                <a:latin typeface="Arial"/>
                <a:cs typeface="Arial"/>
              </a:rPr>
              <a:t>like</a:t>
            </a:r>
            <a:r>
              <a:rPr sz="2800" spc="-27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320" dirty="0">
                <a:solidFill>
                  <a:srgbClr val="0F0F0C"/>
                </a:solidFill>
                <a:latin typeface="Arial"/>
                <a:cs typeface="Arial"/>
              </a:rPr>
              <a:t>NYC</a:t>
            </a:r>
            <a:r>
              <a:rPr sz="2800" spc="-28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F0F0C"/>
                </a:solidFill>
                <a:latin typeface="Arial"/>
                <a:cs typeface="Arial"/>
              </a:rPr>
              <a:t>drastically</a:t>
            </a:r>
            <a:r>
              <a:rPr sz="2800" spc="-17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0F0C"/>
                </a:solidFill>
                <a:latin typeface="Arial"/>
                <a:cs typeface="Arial"/>
              </a:rPr>
              <a:t>increase</a:t>
            </a:r>
            <a:r>
              <a:rPr sz="2800" spc="-21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0F0C"/>
                </a:solidFill>
                <a:latin typeface="Arial"/>
                <a:cs typeface="Arial"/>
              </a:rPr>
              <a:t>the</a:t>
            </a:r>
            <a:r>
              <a:rPr sz="2800" spc="-409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0F0C"/>
                </a:solidFill>
                <a:latin typeface="Arial"/>
                <a:cs typeface="Arial"/>
              </a:rPr>
              <a:t>convergence</a:t>
            </a:r>
            <a:r>
              <a:rPr sz="2800" spc="-4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0F0C"/>
                </a:solidFill>
                <a:latin typeface="Arial"/>
                <a:cs typeface="Arial"/>
              </a:rPr>
              <a:t>of</a:t>
            </a:r>
            <a:r>
              <a:rPr sz="2800" spc="-29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0F0C"/>
                </a:solidFill>
                <a:latin typeface="Arial"/>
                <a:cs typeface="Arial"/>
              </a:rPr>
              <a:t>offenders</a:t>
            </a:r>
            <a:r>
              <a:rPr sz="2800" spc="-21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0F0C"/>
                </a:solidFill>
                <a:latin typeface="Arial"/>
                <a:cs typeface="Arial"/>
              </a:rPr>
              <a:t>and </a:t>
            </a:r>
            <a:r>
              <a:rPr sz="2800" spc="-70" dirty="0">
                <a:solidFill>
                  <a:srgbClr val="0F0F0C"/>
                </a:solidFill>
                <a:latin typeface="Arial"/>
                <a:cs typeface="Arial"/>
              </a:rPr>
              <a:t>targets</a:t>
            </a:r>
            <a:r>
              <a:rPr sz="2800" spc="-70" dirty="0">
                <a:solidFill>
                  <a:srgbClr val="313434"/>
                </a:solidFill>
                <a:latin typeface="Arial"/>
                <a:cs typeface="Arial"/>
              </a:rPr>
              <a:t>,</a:t>
            </a:r>
            <a:r>
              <a:rPr sz="2800" spc="-70" dirty="0">
                <a:solidFill>
                  <a:srgbClr val="0F0F0C"/>
                </a:solidFill>
                <a:latin typeface="Arial"/>
                <a:cs typeface="Arial"/>
              </a:rPr>
              <a:t>creating</a:t>
            </a:r>
            <a:r>
              <a:rPr sz="2800" spc="-15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0F0F0C"/>
                </a:solidFill>
                <a:latin typeface="Arial"/>
                <a:cs typeface="Arial"/>
              </a:rPr>
              <a:t>more</a:t>
            </a:r>
            <a:r>
              <a:rPr sz="2800" spc="-27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0F0C"/>
                </a:solidFill>
                <a:latin typeface="Arial"/>
                <a:cs typeface="Arial"/>
              </a:rPr>
              <a:t>opportunities</a:t>
            </a:r>
            <a:r>
              <a:rPr sz="2800" spc="-18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0F0C"/>
                </a:solidFill>
                <a:latin typeface="Arial"/>
                <a:cs typeface="Arial"/>
              </a:rPr>
              <a:t>for</a:t>
            </a:r>
            <a:r>
              <a:rPr sz="2800" spc="-24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F0F0C"/>
                </a:solidFill>
                <a:latin typeface="Arial"/>
                <a:cs typeface="Arial"/>
              </a:rPr>
              <a:t>crime</a:t>
            </a:r>
            <a:r>
              <a:rPr sz="2800" spc="-33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F0F0C"/>
                </a:solidFill>
                <a:latin typeface="Arial"/>
                <a:cs typeface="Arial"/>
              </a:rPr>
              <a:t>compared</a:t>
            </a:r>
            <a:r>
              <a:rPr sz="2800" spc="-26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0F0C"/>
                </a:solidFill>
                <a:latin typeface="Arial"/>
                <a:cs typeface="Arial"/>
              </a:rPr>
              <a:t>to</a:t>
            </a:r>
            <a:r>
              <a:rPr sz="2800" spc="-28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F0F0C"/>
                </a:solidFill>
                <a:latin typeface="Arial"/>
                <a:cs typeface="Arial"/>
              </a:rPr>
              <a:t>dispersed</a:t>
            </a:r>
            <a:r>
              <a:rPr sz="2800" spc="-22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0F0C"/>
                </a:solidFill>
                <a:latin typeface="Arial"/>
                <a:cs typeface="Arial"/>
              </a:rPr>
              <a:t>environments</a:t>
            </a:r>
            <a:r>
              <a:rPr sz="2800" spc="35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0F0C"/>
                </a:solidFill>
                <a:latin typeface="Arial"/>
                <a:cs typeface="Arial"/>
              </a:rPr>
              <a:t>like</a:t>
            </a:r>
            <a:r>
              <a:rPr sz="2800" spc="-370" dirty="0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0F0C"/>
                </a:solidFill>
                <a:latin typeface="Arial"/>
                <a:cs typeface="Arial"/>
              </a:rPr>
              <a:t>LA.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505"/>
              </a:spcBef>
            </a:pPr>
            <a:r>
              <a:rPr spc="-30" dirty="0"/>
              <a:t>The</a:t>
            </a:r>
            <a:r>
              <a:rPr spc="-600" dirty="0"/>
              <a:t> </a:t>
            </a:r>
            <a:r>
              <a:rPr spc="-100" dirty="0"/>
              <a:t>Law</a:t>
            </a:r>
            <a:r>
              <a:rPr spc="-430" dirty="0"/>
              <a:t> </a:t>
            </a:r>
            <a:r>
              <a:rPr spc="-70" dirty="0"/>
              <a:t>of</a:t>
            </a:r>
            <a:r>
              <a:rPr spc="-420" dirty="0"/>
              <a:t> </a:t>
            </a:r>
            <a:r>
              <a:rPr spc="-90" dirty="0"/>
              <a:t>Crime</a:t>
            </a:r>
            <a:r>
              <a:rPr spc="-470" dirty="0"/>
              <a:t> </a:t>
            </a:r>
            <a:r>
              <a:rPr spc="-50" dirty="0"/>
              <a:t>Concentration</a:t>
            </a:r>
          </a:p>
          <a:p>
            <a:pPr marL="31115" marR="160655" indent="-3175">
              <a:lnSpc>
                <a:spcPct val="91200"/>
              </a:lnSpc>
              <a:spcBef>
                <a:spcPts val="635"/>
              </a:spcBef>
            </a:pPr>
            <a:r>
              <a:rPr sz="2800" b="0" spc="-165" dirty="0">
                <a:latin typeface="Arial"/>
                <a:cs typeface="Arial"/>
              </a:rPr>
              <a:t>Our</a:t>
            </a:r>
            <a:r>
              <a:rPr sz="2800" b="0" spc="-285" dirty="0">
                <a:latin typeface="Arial"/>
                <a:cs typeface="Arial"/>
              </a:rPr>
              <a:t> </a:t>
            </a:r>
            <a:r>
              <a:rPr sz="2800" b="0" spc="-110" dirty="0">
                <a:latin typeface="Arial"/>
                <a:cs typeface="Arial"/>
              </a:rPr>
              <a:t>maps</a:t>
            </a:r>
            <a:r>
              <a:rPr sz="2800" b="0" spc="-285" dirty="0">
                <a:latin typeface="Arial"/>
                <a:cs typeface="Arial"/>
              </a:rPr>
              <a:t> </a:t>
            </a:r>
            <a:r>
              <a:rPr sz="2800" b="0" spc="-135" dirty="0">
                <a:latin typeface="Arial"/>
                <a:cs typeface="Arial"/>
              </a:rPr>
              <a:t>are</a:t>
            </a:r>
            <a:r>
              <a:rPr sz="2800" b="0" spc="-365" dirty="0">
                <a:latin typeface="Arial"/>
                <a:cs typeface="Arial"/>
              </a:rPr>
              <a:t> </a:t>
            </a:r>
            <a:r>
              <a:rPr sz="2800" b="0" spc="-100" dirty="0">
                <a:latin typeface="Arial"/>
                <a:cs typeface="Arial"/>
              </a:rPr>
              <a:t>a</a:t>
            </a:r>
            <a:r>
              <a:rPr sz="2800" b="0" spc="-365" dirty="0">
                <a:latin typeface="Arial"/>
                <a:cs typeface="Arial"/>
              </a:rPr>
              <a:t> </a:t>
            </a:r>
            <a:r>
              <a:rPr sz="2800" b="0" spc="-75" dirty="0">
                <a:latin typeface="Arial"/>
                <a:cs typeface="Arial"/>
              </a:rPr>
              <a:t>textbook</a:t>
            </a:r>
            <a:r>
              <a:rPr sz="2800" b="0" spc="-225" dirty="0">
                <a:latin typeface="Arial"/>
                <a:cs typeface="Arial"/>
              </a:rPr>
              <a:t> </a:t>
            </a:r>
            <a:r>
              <a:rPr sz="2800" b="0" spc="-85" dirty="0">
                <a:latin typeface="Arial"/>
                <a:cs typeface="Arial"/>
              </a:rPr>
              <a:t>illustration</a:t>
            </a:r>
            <a:r>
              <a:rPr sz="2800" b="0" spc="-15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of</a:t>
            </a:r>
            <a:r>
              <a:rPr sz="2800" b="0" spc="-350" dirty="0">
                <a:latin typeface="Arial"/>
                <a:cs typeface="Arial"/>
              </a:rPr>
              <a:t> </a:t>
            </a:r>
            <a:r>
              <a:rPr sz="2800" b="0" spc="-30" dirty="0">
                <a:latin typeface="Arial"/>
                <a:cs typeface="Arial"/>
              </a:rPr>
              <a:t>this</a:t>
            </a:r>
            <a:r>
              <a:rPr sz="2800" b="0" spc="-345" dirty="0">
                <a:latin typeface="Arial"/>
                <a:cs typeface="Arial"/>
              </a:rPr>
              <a:t> </a:t>
            </a:r>
            <a:r>
              <a:rPr sz="2800" b="0" spc="-114" dirty="0">
                <a:latin typeface="Arial"/>
                <a:cs typeface="Arial"/>
              </a:rPr>
              <a:t>law</a:t>
            </a:r>
            <a:r>
              <a:rPr sz="2800" b="0" spc="-114" dirty="0">
                <a:solidFill>
                  <a:srgbClr val="313434"/>
                </a:solidFill>
                <a:latin typeface="Arial"/>
                <a:cs typeface="Arial"/>
              </a:rPr>
              <a:t>.</a:t>
            </a:r>
            <a:r>
              <a:rPr sz="2800" b="0" spc="-114" dirty="0">
                <a:latin typeface="Arial"/>
                <a:cs typeface="Arial"/>
              </a:rPr>
              <a:t>The</a:t>
            </a:r>
            <a:r>
              <a:rPr sz="2800" b="0" spc="-254" dirty="0">
                <a:latin typeface="Arial"/>
                <a:cs typeface="Arial"/>
              </a:rPr>
              <a:t> </a:t>
            </a:r>
            <a:r>
              <a:rPr sz="2800" b="0" spc="-35" dirty="0">
                <a:latin typeface="Arial"/>
                <a:cs typeface="Arial"/>
              </a:rPr>
              <a:t>effect</a:t>
            </a:r>
            <a:r>
              <a:rPr sz="2800" b="0" spc="-32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is</a:t>
            </a:r>
            <a:r>
              <a:rPr sz="2800" b="0" spc="-430" dirty="0">
                <a:latin typeface="Arial"/>
                <a:cs typeface="Arial"/>
              </a:rPr>
              <a:t> </a:t>
            </a:r>
            <a:r>
              <a:rPr sz="2800" b="0" spc="-100" dirty="0">
                <a:latin typeface="Arial"/>
                <a:cs typeface="Arial"/>
              </a:rPr>
              <a:t>amplified</a:t>
            </a:r>
            <a:r>
              <a:rPr sz="2800" b="0" spc="-229" dirty="0">
                <a:latin typeface="Arial"/>
                <a:cs typeface="Arial"/>
              </a:rPr>
              <a:t> </a:t>
            </a:r>
            <a:r>
              <a:rPr sz="2800" b="0" spc="-135" dirty="0">
                <a:latin typeface="Arial"/>
                <a:cs typeface="Arial"/>
              </a:rPr>
              <a:t>inNYC,</a:t>
            </a:r>
            <a:r>
              <a:rPr sz="2800" b="0" spc="-310" dirty="0">
                <a:latin typeface="Arial"/>
                <a:cs typeface="Arial"/>
              </a:rPr>
              <a:t> </a:t>
            </a:r>
            <a:r>
              <a:rPr sz="2800" b="0" spc="-165" dirty="0">
                <a:latin typeface="Arial"/>
                <a:cs typeface="Arial"/>
              </a:rPr>
              <a:t>where</a:t>
            </a:r>
            <a:r>
              <a:rPr sz="2800" b="0" spc="-27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crime </a:t>
            </a:r>
            <a:r>
              <a:rPr sz="2800" b="0" spc="-90" dirty="0">
                <a:latin typeface="Arial"/>
                <a:cs typeface="Arial"/>
              </a:rPr>
              <a:t>clusters</a:t>
            </a:r>
            <a:r>
              <a:rPr sz="2800" b="0" spc="-155" dirty="0">
                <a:latin typeface="Arial"/>
                <a:cs typeface="Arial"/>
              </a:rPr>
              <a:t> </a:t>
            </a:r>
            <a:r>
              <a:rPr sz="2800" b="0" spc="-105" dirty="0">
                <a:latin typeface="Arial"/>
                <a:cs typeface="Arial"/>
              </a:rPr>
              <a:t>intensely</a:t>
            </a:r>
            <a:r>
              <a:rPr sz="2800" b="0" spc="-175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in</a:t>
            </a:r>
            <a:r>
              <a:rPr sz="2800" b="0" spc="-400" dirty="0">
                <a:latin typeface="Arial"/>
                <a:cs typeface="Arial"/>
              </a:rPr>
              <a:t> </a:t>
            </a:r>
            <a:r>
              <a:rPr sz="2800" b="0" spc="-85" dirty="0">
                <a:latin typeface="Arial"/>
                <a:cs typeface="Arial"/>
              </a:rPr>
              <a:t>specific</a:t>
            </a:r>
            <a:r>
              <a:rPr sz="2800" b="0" spc="-80" dirty="0">
                <a:latin typeface="Arial"/>
                <a:cs typeface="Arial"/>
              </a:rPr>
              <a:t> </a:t>
            </a:r>
            <a:r>
              <a:rPr sz="2800" b="0" spc="-85" dirty="0">
                <a:latin typeface="Arial"/>
                <a:cs typeface="Arial"/>
              </a:rPr>
              <a:t>micro-</a:t>
            </a:r>
            <a:r>
              <a:rPr sz="2800" b="0" spc="-70" dirty="0">
                <a:latin typeface="Arial"/>
                <a:cs typeface="Arial"/>
              </a:rPr>
              <a:t>geographiclocations</a:t>
            </a:r>
            <a:r>
              <a:rPr sz="2800" b="0" spc="-195" dirty="0">
                <a:latin typeface="Arial"/>
                <a:cs typeface="Arial"/>
              </a:rPr>
              <a:t> </a:t>
            </a:r>
            <a:r>
              <a:rPr sz="2800" b="0" spc="-85" dirty="0">
                <a:latin typeface="Arial"/>
                <a:cs typeface="Arial"/>
              </a:rPr>
              <a:t>like</a:t>
            </a:r>
            <a:r>
              <a:rPr sz="2800" b="0" spc="-409" dirty="0">
                <a:latin typeface="Arial"/>
                <a:cs typeface="Arial"/>
              </a:rPr>
              <a:t> </a:t>
            </a:r>
            <a:r>
              <a:rPr sz="2800" b="0" spc="-55" dirty="0">
                <a:latin typeface="Arial"/>
                <a:cs typeface="Arial"/>
              </a:rPr>
              <a:t>transit</a:t>
            </a:r>
            <a:r>
              <a:rPr sz="2800" b="0" spc="-265" dirty="0">
                <a:latin typeface="Arial"/>
                <a:cs typeface="Arial"/>
              </a:rPr>
              <a:t> </a:t>
            </a:r>
            <a:r>
              <a:rPr sz="2800" b="0" spc="-114" dirty="0">
                <a:latin typeface="Arial"/>
                <a:cs typeface="Arial"/>
              </a:rPr>
              <a:t>hubs</a:t>
            </a:r>
            <a:r>
              <a:rPr sz="2800" b="0" spc="-280" dirty="0">
                <a:latin typeface="Arial"/>
                <a:cs typeface="Arial"/>
              </a:rPr>
              <a:t> </a:t>
            </a:r>
            <a:r>
              <a:rPr sz="2800" b="0" spc="-120" dirty="0">
                <a:latin typeface="Arial"/>
                <a:cs typeface="Arial"/>
              </a:rPr>
              <a:t>and</a:t>
            </a:r>
            <a:r>
              <a:rPr sz="2800" b="0" spc="-29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business districts.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pc="-90" dirty="0"/>
              <a:t>Crime</a:t>
            </a:r>
            <a:r>
              <a:rPr spc="-450" dirty="0"/>
              <a:t> </a:t>
            </a:r>
            <a:r>
              <a:rPr spc="-60" dirty="0"/>
              <a:t>Pattern</a:t>
            </a:r>
            <a:r>
              <a:rPr spc="-375" dirty="0"/>
              <a:t> </a:t>
            </a:r>
            <a:r>
              <a:rPr spc="-10" dirty="0"/>
              <a:t>Theory</a:t>
            </a:r>
          </a:p>
          <a:p>
            <a:pPr marL="34290" marR="5080" indent="-10160">
              <a:lnSpc>
                <a:spcPts val="3020"/>
              </a:lnSpc>
              <a:spcBef>
                <a:spcPts val="825"/>
              </a:spcBef>
            </a:pPr>
            <a:r>
              <a:rPr sz="2800" b="0" spc="-125" dirty="0">
                <a:latin typeface="Arial"/>
                <a:cs typeface="Arial"/>
              </a:rPr>
              <a:t>The</a:t>
            </a:r>
            <a:r>
              <a:rPr sz="2800" b="0" spc="-350" dirty="0">
                <a:latin typeface="Arial"/>
                <a:cs typeface="Arial"/>
              </a:rPr>
              <a:t> </a:t>
            </a:r>
            <a:r>
              <a:rPr sz="2800" b="0" spc="-130" dirty="0">
                <a:latin typeface="Arial"/>
                <a:cs typeface="Arial"/>
              </a:rPr>
              <a:t>analysis</a:t>
            </a:r>
            <a:r>
              <a:rPr sz="2800" b="0" spc="-90" dirty="0">
                <a:latin typeface="Arial"/>
                <a:cs typeface="Arial"/>
              </a:rPr>
              <a:t> </a:t>
            </a:r>
            <a:r>
              <a:rPr sz="2800" b="0" spc="-135" dirty="0">
                <a:latin typeface="Arial"/>
                <a:cs typeface="Arial"/>
              </a:rPr>
              <a:t>shows</a:t>
            </a:r>
            <a:r>
              <a:rPr sz="2800" b="0" spc="-210" dirty="0">
                <a:latin typeface="Arial"/>
                <a:cs typeface="Arial"/>
              </a:rPr>
              <a:t> </a:t>
            </a:r>
            <a:r>
              <a:rPr sz="2800" b="0" spc="-130" dirty="0">
                <a:latin typeface="Arial"/>
                <a:cs typeface="Arial"/>
              </a:rPr>
              <a:t>how</a:t>
            </a:r>
            <a:r>
              <a:rPr sz="2800" b="0" spc="-295" dirty="0">
                <a:latin typeface="Arial"/>
                <a:cs typeface="Arial"/>
              </a:rPr>
              <a:t> </a:t>
            </a:r>
            <a:r>
              <a:rPr sz="2800" b="0" spc="-140" dirty="0">
                <a:latin typeface="Arial"/>
                <a:cs typeface="Arial"/>
              </a:rPr>
              <a:t>urban</a:t>
            </a:r>
            <a:r>
              <a:rPr sz="2800" b="0" spc="-204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structures-</a:t>
            </a:r>
            <a:r>
              <a:rPr sz="2800" b="0" spc="-20" dirty="0">
                <a:latin typeface="Arial"/>
                <a:cs typeface="Arial"/>
              </a:rPr>
              <a:t>'nodes,paths,</a:t>
            </a:r>
            <a:r>
              <a:rPr sz="2800" b="0" spc="-325" dirty="0">
                <a:latin typeface="Arial"/>
                <a:cs typeface="Arial"/>
              </a:rPr>
              <a:t> </a:t>
            </a:r>
            <a:r>
              <a:rPr sz="2800" b="0" spc="-120" dirty="0">
                <a:latin typeface="Arial"/>
                <a:cs typeface="Arial"/>
              </a:rPr>
              <a:t>and</a:t>
            </a:r>
            <a:r>
              <a:rPr sz="2800" b="0" spc="-32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edges'-shape</a:t>
            </a:r>
            <a:r>
              <a:rPr sz="2800" b="0" spc="-95" dirty="0">
                <a:latin typeface="Arial"/>
                <a:cs typeface="Arial"/>
              </a:rPr>
              <a:t> </a:t>
            </a:r>
            <a:r>
              <a:rPr sz="2800" b="0" spc="-100" dirty="0">
                <a:latin typeface="Arial"/>
                <a:cs typeface="Arial"/>
              </a:rPr>
              <a:t>crime.</a:t>
            </a:r>
            <a:r>
              <a:rPr sz="2800" b="0" spc="-415" dirty="0">
                <a:latin typeface="Arial"/>
                <a:cs typeface="Arial"/>
              </a:rPr>
              <a:t> </a:t>
            </a:r>
            <a:r>
              <a:rPr sz="2800" b="0" spc="-100" dirty="0">
                <a:latin typeface="Arial"/>
                <a:cs typeface="Arial"/>
              </a:rPr>
              <a:t>NYC's </a:t>
            </a:r>
            <a:r>
              <a:rPr sz="2800" b="0" spc="-135" dirty="0">
                <a:latin typeface="Arial"/>
                <a:cs typeface="Arial"/>
              </a:rPr>
              <a:t>subway</a:t>
            </a:r>
            <a:r>
              <a:rPr sz="2800" b="0" spc="-170" dirty="0">
                <a:latin typeface="Arial"/>
                <a:cs typeface="Arial"/>
              </a:rPr>
              <a:t> </a:t>
            </a:r>
            <a:r>
              <a:rPr sz="2800" b="0" spc="-95" dirty="0">
                <a:latin typeface="Arial"/>
                <a:cs typeface="Arial"/>
              </a:rPr>
              <a:t>system</a:t>
            </a:r>
            <a:r>
              <a:rPr sz="2800" b="0" spc="-190" dirty="0">
                <a:latin typeface="Arial"/>
                <a:cs typeface="Arial"/>
              </a:rPr>
              <a:t> </a:t>
            </a:r>
            <a:r>
              <a:rPr sz="2800" b="0" spc="-75" dirty="0">
                <a:latin typeface="Arial"/>
                <a:cs typeface="Arial"/>
              </a:rPr>
              <a:t>creates</a:t>
            </a:r>
            <a:r>
              <a:rPr sz="2800" b="0" spc="-235" dirty="0">
                <a:latin typeface="Arial"/>
                <a:cs typeface="Arial"/>
              </a:rPr>
              <a:t> </a:t>
            </a:r>
            <a:r>
              <a:rPr sz="2800" b="0" spc="-45" dirty="0">
                <a:latin typeface="Arial"/>
                <a:cs typeface="Arial"/>
              </a:rPr>
              <a:t>high-</a:t>
            </a:r>
            <a:r>
              <a:rPr sz="2800" b="0" spc="-30" dirty="0">
                <a:latin typeface="Arial"/>
                <a:cs typeface="Arial"/>
              </a:rPr>
              <a:t>traffic</a:t>
            </a:r>
            <a:r>
              <a:rPr sz="2800" b="0" spc="-105" dirty="0">
                <a:latin typeface="Arial"/>
                <a:cs typeface="Arial"/>
              </a:rPr>
              <a:t> </a:t>
            </a:r>
            <a:r>
              <a:rPr sz="2800" b="0" spc="-60" dirty="0">
                <a:latin typeface="Arial"/>
                <a:cs typeface="Arial"/>
              </a:rPr>
              <a:t>paths</a:t>
            </a:r>
            <a:r>
              <a:rPr sz="2800" b="0" spc="-275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that</a:t>
            </a:r>
            <a:r>
              <a:rPr sz="2800" b="0" spc="-270" dirty="0">
                <a:latin typeface="Arial"/>
                <a:cs typeface="Arial"/>
              </a:rPr>
              <a:t> </a:t>
            </a:r>
            <a:r>
              <a:rPr sz="2800" b="0" spc="-75" dirty="0">
                <a:latin typeface="Arial"/>
                <a:cs typeface="Arial"/>
              </a:rPr>
              <a:t>concentrate</a:t>
            </a:r>
            <a:r>
              <a:rPr sz="2800" b="0" spc="-125" dirty="0">
                <a:latin typeface="Arial"/>
                <a:cs typeface="Arial"/>
              </a:rPr>
              <a:t> </a:t>
            </a:r>
            <a:r>
              <a:rPr sz="2800" b="0" spc="-45" dirty="0">
                <a:latin typeface="Arial"/>
                <a:cs typeface="Arial"/>
              </a:rPr>
              <a:t>crime</a:t>
            </a:r>
            <a:r>
              <a:rPr sz="2800" b="0" spc="-45" dirty="0">
                <a:solidFill>
                  <a:srgbClr val="313434"/>
                </a:solidFill>
                <a:latin typeface="Arial"/>
                <a:cs typeface="Arial"/>
              </a:rPr>
              <a:t>,</a:t>
            </a:r>
            <a:r>
              <a:rPr sz="2800" b="0" spc="-45" dirty="0">
                <a:latin typeface="Arial"/>
                <a:cs typeface="Arial"/>
              </a:rPr>
              <a:t>while</a:t>
            </a:r>
            <a:r>
              <a:rPr sz="2800" b="0" spc="-340" dirty="0">
                <a:latin typeface="Arial"/>
                <a:cs typeface="Arial"/>
              </a:rPr>
              <a:t> </a:t>
            </a:r>
            <a:r>
              <a:rPr sz="2800" b="0" spc="-20" dirty="0">
                <a:latin typeface="Arial"/>
                <a:cs typeface="Arial"/>
              </a:rPr>
              <a:t>LA's</a:t>
            </a:r>
            <a:endParaRPr sz="2800">
              <a:latin typeface="Arial"/>
              <a:cs typeface="Arial"/>
            </a:endParaRPr>
          </a:p>
          <a:p>
            <a:pPr marL="22225">
              <a:lnSpc>
                <a:spcPts val="2965"/>
              </a:lnSpc>
            </a:pPr>
            <a:r>
              <a:rPr sz="2800" b="0" spc="-140" dirty="0">
                <a:latin typeface="Arial"/>
                <a:cs typeface="Arial"/>
              </a:rPr>
              <a:t>highways </a:t>
            </a:r>
            <a:r>
              <a:rPr sz="2800" b="0" spc="-120" dirty="0">
                <a:latin typeface="Arial"/>
                <a:cs typeface="Arial"/>
              </a:rPr>
              <a:t>disperse</a:t>
            </a:r>
            <a:r>
              <a:rPr sz="2800" b="0" spc="-135" dirty="0">
                <a:latin typeface="Arial"/>
                <a:cs typeface="Arial"/>
              </a:rPr>
              <a:t> </a:t>
            </a:r>
            <a:r>
              <a:rPr sz="2800" b="0" spc="-25" dirty="0">
                <a:latin typeface="Arial"/>
                <a:cs typeface="Arial"/>
              </a:rPr>
              <a:t>it.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1598" y="2527961"/>
            <a:ext cx="2114550" cy="1659889"/>
            <a:chOff x="3311598" y="2527961"/>
            <a:chExt cx="2114550" cy="16598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1598" y="2527961"/>
              <a:ext cx="2114329" cy="16085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2660" y="3983301"/>
              <a:ext cx="458529" cy="20425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63226" y="2476896"/>
            <a:ext cx="3082334" cy="173619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209703" y="7991869"/>
            <a:ext cx="0" cy="1123950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4980" y="2885412"/>
            <a:ext cx="0" cy="1276985"/>
          </a:xfrm>
          <a:custGeom>
            <a:avLst/>
            <a:gdLst/>
            <a:ahLst/>
            <a:cxnLst/>
            <a:rect l="l" t="t" r="r" b="b"/>
            <a:pathLst>
              <a:path h="1276985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50263" y="2476896"/>
            <a:ext cx="0" cy="5030470"/>
          </a:xfrm>
          <a:custGeom>
            <a:avLst/>
            <a:gdLst/>
            <a:ahLst/>
            <a:cxnLst/>
            <a:rect l="l" t="t" r="r" b="b"/>
            <a:pathLst>
              <a:path h="5030470">
                <a:moveTo>
                  <a:pt x="0" y="50298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84229" y="7991869"/>
            <a:ext cx="11132185" cy="1123950"/>
          </a:xfrm>
          <a:custGeom>
            <a:avLst/>
            <a:gdLst/>
            <a:ahLst/>
            <a:cxnLst/>
            <a:rect l="l" t="t" r="r" b="b"/>
            <a:pathLst>
              <a:path w="11132185" h="1123950">
                <a:moveTo>
                  <a:pt x="11106593" y="1123420"/>
                </a:moveTo>
                <a:lnTo>
                  <a:pt x="11106593" y="0"/>
                </a:lnTo>
              </a:path>
              <a:path w="11132185" h="1123950">
                <a:moveTo>
                  <a:pt x="0" y="12766"/>
                </a:moveTo>
                <a:lnTo>
                  <a:pt x="11132067" y="12766"/>
                </a:lnTo>
              </a:path>
              <a:path w="11132185" h="1123950">
                <a:moveTo>
                  <a:pt x="0" y="1097888"/>
                </a:moveTo>
                <a:lnTo>
                  <a:pt x="458529" y="1097888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24176" y="498210"/>
            <a:ext cx="11830050" cy="1524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indent="8255">
              <a:lnSpc>
                <a:spcPts val="5530"/>
              </a:lnSpc>
              <a:spcBef>
                <a:spcPts val="900"/>
              </a:spcBef>
            </a:pPr>
            <a:r>
              <a:rPr sz="5200" spc="-260" dirty="0">
                <a:solidFill>
                  <a:srgbClr val="1C1A18"/>
                </a:solidFill>
              </a:rPr>
              <a:t>Policing</a:t>
            </a:r>
            <a:r>
              <a:rPr sz="5200" spc="-105" dirty="0">
                <a:solidFill>
                  <a:srgbClr val="1C1A18"/>
                </a:solidFill>
              </a:rPr>
              <a:t> </a:t>
            </a:r>
            <a:r>
              <a:rPr sz="5200" spc="-180" dirty="0">
                <a:solidFill>
                  <a:srgbClr val="1C1A18"/>
                </a:solidFill>
              </a:rPr>
              <a:t>Strategies</a:t>
            </a:r>
            <a:r>
              <a:rPr sz="5200" spc="-90" dirty="0">
                <a:solidFill>
                  <a:srgbClr val="1C1A18"/>
                </a:solidFill>
              </a:rPr>
              <a:t> </a:t>
            </a:r>
            <a:r>
              <a:rPr sz="5200" spc="-130" dirty="0">
                <a:solidFill>
                  <a:srgbClr val="1C1A18"/>
                </a:solidFill>
              </a:rPr>
              <a:t>Must</a:t>
            </a:r>
            <a:r>
              <a:rPr sz="5200" spc="-280" dirty="0">
                <a:solidFill>
                  <a:srgbClr val="1C1A18"/>
                </a:solidFill>
              </a:rPr>
              <a:t> </a:t>
            </a:r>
            <a:r>
              <a:rPr sz="5200" spc="-175" dirty="0">
                <a:solidFill>
                  <a:srgbClr val="1C1A18"/>
                </a:solidFill>
              </a:rPr>
              <a:t>Be</a:t>
            </a:r>
            <a:r>
              <a:rPr sz="5200" spc="-380" dirty="0">
                <a:solidFill>
                  <a:srgbClr val="1C1A18"/>
                </a:solidFill>
              </a:rPr>
              <a:t> </a:t>
            </a:r>
            <a:r>
              <a:rPr sz="5200" spc="-260" dirty="0">
                <a:solidFill>
                  <a:srgbClr val="1C1A18"/>
                </a:solidFill>
              </a:rPr>
              <a:t>Tailored</a:t>
            </a:r>
            <a:r>
              <a:rPr sz="5200" spc="-65" dirty="0">
                <a:solidFill>
                  <a:srgbClr val="1C1A18"/>
                </a:solidFill>
              </a:rPr>
              <a:t> </a:t>
            </a:r>
            <a:r>
              <a:rPr sz="5200" spc="-85" dirty="0">
                <a:solidFill>
                  <a:srgbClr val="1C1A18"/>
                </a:solidFill>
              </a:rPr>
              <a:t>to</a:t>
            </a:r>
            <a:r>
              <a:rPr sz="5200" spc="-395" dirty="0">
                <a:solidFill>
                  <a:srgbClr val="1C1A18"/>
                </a:solidFill>
              </a:rPr>
              <a:t> </a:t>
            </a:r>
            <a:r>
              <a:rPr sz="5200" spc="-50" dirty="0">
                <a:solidFill>
                  <a:srgbClr val="1C1A18"/>
                </a:solidFill>
              </a:rPr>
              <a:t>a </a:t>
            </a:r>
            <a:r>
              <a:rPr sz="5200" spc="-200" dirty="0">
                <a:solidFill>
                  <a:srgbClr val="1C1A18"/>
                </a:solidFill>
              </a:rPr>
              <a:t>City's</a:t>
            </a:r>
            <a:r>
              <a:rPr sz="5200" spc="-470" dirty="0">
                <a:solidFill>
                  <a:srgbClr val="1C1A18"/>
                </a:solidFill>
              </a:rPr>
              <a:t> </a:t>
            </a:r>
            <a:r>
              <a:rPr sz="5200" spc="-160" dirty="0">
                <a:solidFill>
                  <a:srgbClr val="1C1A18"/>
                </a:solidFill>
              </a:rPr>
              <a:t>Urban</a:t>
            </a:r>
            <a:r>
              <a:rPr sz="5200" spc="-325" dirty="0">
                <a:solidFill>
                  <a:srgbClr val="1C1A18"/>
                </a:solidFill>
              </a:rPr>
              <a:t> </a:t>
            </a:r>
            <a:r>
              <a:rPr sz="5200" spc="-130" dirty="0">
                <a:solidFill>
                  <a:srgbClr val="1C1A18"/>
                </a:solidFill>
              </a:rPr>
              <a:t>Geography</a:t>
            </a:r>
            <a:endParaRPr sz="5200"/>
          </a:p>
        </p:txBody>
      </p:sp>
      <p:sp>
        <p:nvSpPr>
          <p:cNvPr id="11" name="object 11"/>
          <p:cNvSpPr txBox="1"/>
          <p:nvPr/>
        </p:nvSpPr>
        <p:spPr>
          <a:xfrm>
            <a:off x="3852401" y="2655688"/>
            <a:ext cx="148463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296035" algn="l"/>
              </a:tabLst>
            </a:pPr>
            <a:r>
              <a:rPr sz="2400" spc="295" dirty="0">
                <a:solidFill>
                  <a:srgbClr val="1A3144"/>
                </a:solidFill>
                <a:latin typeface="Arial"/>
                <a:cs typeface="Arial"/>
              </a:rPr>
              <a:t>.</a:t>
            </a:r>
            <a:r>
              <a:rPr sz="2400" spc="-300" dirty="0">
                <a:solidFill>
                  <a:srgbClr val="445460"/>
                </a:solidFill>
                <a:latin typeface="Arial"/>
                <a:cs typeface="Arial"/>
              </a:rPr>
              <a:t>.</a:t>
            </a:r>
            <a:r>
              <a:rPr sz="4425" spc="434" baseline="-3766" dirty="0">
                <a:solidFill>
                  <a:srgbClr val="445460"/>
                </a:solidFill>
                <a:latin typeface="Arial"/>
                <a:cs typeface="Arial"/>
              </a:rPr>
              <a:t>.</a:t>
            </a:r>
            <a:r>
              <a:rPr sz="4425" spc="450" baseline="-3766" dirty="0">
                <a:solidFill>
                  <a:srgbClr val="445460"/>
                </a:solidFill>
                <a:latin typeface="Arial"/>
                <a:cs typeface="Arial"/>
              </a:rPr>
              <a:t>.</a:t>
            </a:r>
            <a:r>
              <a:rPr sz="4425" spc="-434" baseline="-3766" dirty="0">
                <a:solidFill>
                  <a:srgbClr val="445460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1A3144"/>
                </a:solidFill>
                <a:latin typeface="Arial"/>
                <a:cs typeface="Arial"/>
              </a:rPr>
              <a:t>ru</a:t>
            </a:r>
            <a:r>
              <a:rPr sz="2400" spc="-320" dirty="0">
                <a:solidFill>
                  <a:srgbClr val="1A3144"/>
                </a:solidFill>
                <a:latin typeface="Arial"/>
                <a:cs typeface="Arial"/>
              </a:rPr>
              <a:t> </a:t>
            </a:r>
            <a:r>
              <a:rPr sz="2400" spc="-455" dirty="0">
                <a:solidFill>
                  <a:srgbClr val="1A3144"/>
                </a:solidFill>
                <a:latin typeface="Arial"/>
                <a:cs typeface="Arial"/>
              </a:rPr>
              <a:t>:</a:t>
            </a:r>
            <a:r>
              <a:rPr sz="2400" spc="114" dirty="0">
                <a:solidFill>
                  <a:srgbClr val="1A3144"/>
                </a:solidFill>
                <a:latin typeface="Arial"/>
                <a:cs typeface="Arial"/>
              </a:rPr>
              <a:t> </a:t>
            </a:r>
            <a:r>
              <a:rPr sz="5475" spc="-1147" baseline="-13698" dirty="0">
                <a:solidFill>
                  <a:srgbClr val="1A3144"/>
                </a:solidFill>
                <a:latin typeface="Times New Roman"/>
                <a:cs typeface="Times New Roman"/>
              </a:rPr>
              <a:t>.</a:t>
            </a:r>
            <a:r>
              <a:rPr sz="2325" spc="-52" baseline="-7168" dirty="0">
                <a:solidFill>
                  <a:srgbClr val="2D414F"/>
                </a:solidFill>
                <a:latin typeface="Arial"/>
                <a:cs typeface="Arial"/>
              </a:rPr>
              <a:t>'</a:t>
            </a:r>
            <a:r>
              <a:rPr sz="2325" baseline="-7168" dirty="0">
                <a:solidFill>
                  <a:srgbClr val="2D414F"/>
                </a:solidFill>
                <a:latin typeface="Arial"/>
                <a:cs typeface="Arial"/>
              </a:rPr>
              <a:t>	</a:t>
            </a:r>
            <a:r>
              <a:rPr sz="3100" spc="-1825" dirty="0">
                <a:solidFill>
                  <a:srgbClr val="1A3144"/>
                </a:solidFill>
                <a:latin typeface="Arial"/>
                <a:cs typeface="Arial"/>
              </a:rPr>
              <a:t>=</a:t>
            </a:r>
            <a:r>
              <a:rPr sz="6150" spc="-1972" baseline="-2710" dirty="0">
                <a:solidFill>
                  <a:srgbClr val="1A3144"/>
                </a:solidFill>
                <a:latin typeface="Times New Roman"/>
                <a:cs typeface="Times New Roman"/>
              </a:rPr>
              <a:t>-</a:t>
            </a:r>
            <a:r>
              <a:rPr sz="5025" spc="-75" baseline="-14925" dirty="0">
                <a:solidFill>
                  <a:srgbClr val="1A3144"/>
                </a:solidFill>
                <a:latin typeface="Arial"/>
                <a:cs typeface="Arial"/>
              </a:rPr>
              <a:t>-</a:t>
            </a:r>
            <a:endParaRPr sz="5025" baseline="-1492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9833" y="2942926"/>
            <a:ext cx="34290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025" spc="-922" baseline="-18242" dirty="0">
                <a:solidFill>
                  <a:srgbClr val="445460"/>
                </a:solidFill>
                <a:latin typeface="Arial"/>
                <a:cs typeface="Arial"/>
              </a:rPr>
              <a:t>.</a:t>
            </a:r>
            <a:r>
              <a:rPr sz="550" spc="-5" dirty="0">
                <a:solidFill>
                  <a:srgbClr val="2D414F"/>
                </a:solidFill>
                <a:latin typeface="Arial"/>
                <a:cs typeface="Arial"/>
              </a:rPr>
              <a:t>••</a:t>
            </a:r>
            <a:r>
              <a:rPr sz="550" spc="-60" dirty="0">
                <a:solidFill>
                  <a:srgbClr val="2D414F"/>
                </a:solidFill>
                <a:latin typeface="Arial"/>
                <a:cs typeface="Arial"/>
              </a:rPr>
              <a:t>•</a:t>
            </a:r>
            <a:r>
              <a:rPr sz="5025" spc="-509" baseline="-18242" dirty="0">
                <a:solidFill>
                  <a:srgbClr val="445460"/>
                </a:solidFill>
                <a:latin typeface="Arial"/>
                <a:cs typeface="Arial"/>
              </a:rPr>
              <a:t>.</a:t>
            </a:r>
            <a:r>
              <a:rPr sz="5025" baseline="-18242" dirty="0">
                <a:solidFill>
                  <a:srgbClr val="2D414F"/>
                </a:solidFill>
                <a:latin typeface="Arial"/>
                <a:cs typeface="Arial"/>
              </a:rPr>
              <a:t>.</a:t>
            </a:r>
            <a:endParaRPr sz="5025" baseline="-18242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4392" y="2993992"/>
            <a:ext cx="56705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00" spc="-295" dirty="0">
                <a:solidFill>
                  <a:srgbClr val="70797C"/>
                </a:solidFill>
                <a:latin typeface="Arial"/>
                <a:cs typeface="Arial"/>
              </a:rPr>
              <a:t>,</a:t>
            </a:r>
            <a:r>
              <a:rPr sz="5025" spc="-1200" baseline="-11608" dirty="0">
                <a:solidFill>
                  <a:srgbClr val="1A3144"/>
                </a:solidFill>
                <a:latin typeface="Arial"/>
                <a:cs typeface="Arial"/>
              </a:rPr>
              <a:t>.</a:t>
            </a:r>
            <a:r>
              <a:rPr sz="825" spc="-7" baseline="40404" dirty="0">
                <a:solidFill>
                  <a:srgbClr val="2D414F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1A3144"/>
                </a:solidFill>
                <a:latin typeface="Arial"/>
                <a:cs typeface="Arial"/>
              </a:rPr>
              <a:t>,</a:t>
            </a:r>
            <a:r>
              <a:rPr sz="1400" spc="45" dirty="0">
                <a:solidFill>
                  <a:srgbClr val="1A3144"/>
                </a:solidFill>
                <a:latin typeface="Arial"/>
                <a:cs typeface="Arial"/>
              </a:rPr>
              <a:t> </a:t>
            </a:r>
            <a:r>
              <a:rPr sz="5025" spc="-217" baseline="-11608" dirty="0">
                <a:solidFill>
                  <a:srgbClr val="1A3144"/>
                </a:solidFill>
                <a:latin typeface="Arial"/>
                <a:cs typeface="Arial"/>
              </a:rPr>
              <a:t>.</a:t>
            </a:r>
            <a:r>
              <a:rPr sz="5025" spc="-757" baseline="-11608" dirty="0">
                <a:solidFill>
                  <a:srgbClr val="1A3144"/>
                </a:solidFill>
                <a:latin typeface="Arial"/>
                <a:cs typeface="Arial"/>
              </a:rPr>
              <a:t> </a:t>
            </a:r>
            <a:r>
              <a:rPr sz="825" spc="-15" baseline="40404" dirty="0">
                <a:solidFill>
                  <a:srgbClr val="1A3144"/>
                </a:solidFill>
                <a:latin typeface="Arial"/>
                <a:cs typeface="Arial"/>
              </a:rPr>
              <a:t>-</a:t>
            </a:r>
            <a:r>
              <a:rPr sz="825" spc="-97" baseline="40404" dirty="0">
                <a:solidFill>
                  <a:srgbClr val="1A3144"/>
                </a:solidFill>
                <a:latin typeface="Arial"/>
                <a:cs typeface="Arial"/>
              </a:rPr>
              <a:t> </a:t>
            </a:r>
            <a:r>
              <a:rPr sz="5025" spc="-1635" baseline="-11608" dirty="0">
                <a:solidFill>
                  <a:srgbClr val="1A3144"/>
                </a:solidFill>
                <a:latin typeface="Times New Roman"/>
                <a:cs typeface="Times New Roman"/>
              </a:rPr>
              <a:t>-</a:t>
            </a:r>
            <a:r>
              <a:rPr sz="3350" spc="-50" dirty="0">
                <a:solidFill>
                  <a:srgbClr val="1A3144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8544" y="3179100"/>
            <a:ext cx="20891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7050" spc="-2227" baseline="-10638" dirty="0">
                <a:solidFill>
                  <a:srgbClr val="1A3144"/>
                </a:solidFill>
                <a:latin typeface="Times New Roman"/>
                <a:cs typeface="Times New Roman"/>
              </a:rPr>
              <a:t>-</a:t>
            </a:r>
            <a:r>
              <a:rPr sz="3350" spc="-50" dirty="0">
                <a:solidFill>
                  <a:srgbClr val="1A3144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4951" y="3549319"/>
            <a:ext cx="25654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-55" dirty="0">
                <a:solidFill>
                  <a:srgbClr val="1A3144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1218" y="3868472"/>
            <a:ext cx="7645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" algn="ctr">
              <a:lnSpc>
                <a:spcPts val="780"/>
              </a:lnSpc>
              <a:spcBef>
                <a:spcPts val="105"/>
              </a:spcBef>
              <a:tabLst>
                <a:tab pos="457200" algn="l"/>
              </a:tabLst>
            </a:pPr>
            <a:r>
              <a:rPr sz="800" spc="-25" dirty="0">
                <a:solidFill>
                  <a:srgbClr val="2D414F"/>
                </a:solidFill>
                <a:latin typeface="Arial"/>
                <a:cs typeface="Arial"/>
              </a:rPr>
              <a:t>:::</a:t>
            </a:r>
            <a:r>
              <a:rPr sz="800" dirty="0">
                <a:solidFill>
                  <a:srgbClr val="2D414F"/>
                </a:solidFill>
                <a:latin typeface="Arial"/>
                <a:cs typeface="Arial"/>
              </a:rPr>
              <a:t>	</a:t>
            </a:r>
            <a:r>
              <a:rPr sz="800" b="1" spc="-25" dirty="0">
                <a:solidFill>
                  <a:srgbClr val="1A3144"/>
                </a:solidFill>
                <a:latin typeface="Arial"/>
                <a:cs typeface="Arial"/>
              </a:rPr>
              <a:t>ti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00"/>
              </a:lnSpc>
              <a:tabLst>
                <a:tab pos="158750" algn="l"/>
                <a:tab pos="570230" algn="l"/>
                <a:tab pos="738505" algn="l"/>
              </a:tabLst>
            </a:pPr>
            <a:r>
              <a:rPr sz="900" u="heavy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•</a:t>
            </a:r>
            <a:r>
              <a:rPr sz="900" u="heavy" spc="55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heavy" dirty="0">
                <a:solidFill>
                  <a:srgbClr val="44546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900" u="heavy" spc="60" dirty="0">
                <a:solidFill>
                  <a:srgbClr val="44546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heavy" spc="-50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900" u="heavy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00" u="heavy" spc="-50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900" u="heavy" dirty="0">
                <a:solidFill>
                  <a:srgbClr val="1A314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0025" y="4163689"/>
            <a:ext cx="6979920" cy="3021330"/>
          </a:xfrm>
          <a:prstGeom prst="rect">
            <a:avLst/>
          </a:prstGeom>
        </p:spPr>
        <p:txBody>
          <a:bodyPr vert="horz" wrap="square" lIns="0" tIns="294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sz="3500" b="1" spc="-160" dirty="0">
                <a:solidFill>
                  <a:srgbClr val="1C1A18"/>
                </a:solidFill>
                <a:latin typeface="Arial"/>
                <a:cs typeface="Arial"/>
              </a:rPr>
              <a:t>For </a:t>
            </a:r>
            <a:r>
              <a:rPr sz="3500" b="1" spc="-140" dirty="0">
                <a:solidFill>
                  <a:srgbClr val="1C1A18"/>
                </a:solidFill>
                <a:latin typeface="Arial"/>
                <a:cs typeface="Arial"/>
              </a:rPr>
              <a:t>High-</a:t>
            </a:r>
            <a:r>
              <a:rPr sz="3500" b="1" spc="-110" dirty="0">
                <a:solidFill>
                  <a:srgbClr val="1C1A18"/>
                </a:solidFill>
                <a:latin typeface="Arial"/>
                <a:cs typeface="Arial"/>
              </a:rPr>
              <a:t>Density</a:t>
            </a:r>
            <a:r>
              <a:rPr sz="3500" b="1" spc="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105" dirty="0">
                <a:solidFill>
                  <a:srgbClr val="1C1A18"/>
                </a:solidFill>
                <a:latin typeface="Arial"/>
                <a:cs typeface="Arial"/>
              </a:rPr>
              <a:t>Cities</a:t>
            </a:r>
            <a:r>
              <a:rPr sz="3500" b="1" spc="-2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135" dirty="0">
                <a:solidFill>
                  <a:srgbClr val="1C1A18"/>
                </a:solidFill>
                <a:latin typeface="Arial"/>
                <a:cs typeface="Arial"/>
              </a:rPr>
              <a:t>(like</a:t>
            </a:r>
            <a:r>
              <a:rPr sz="3500" b="1" spc="-3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20" dirty="0">
                <a:solidFill>
                  <a:srgbClr val="1C1A18"/>
                </a:solidFill>
                <a:latin typeface="Arial"/>
                <a:cs typeface="Arial"/>
              </a:rPr>
              <a:t>NYC)</a:t>
            </a:r>
            <a:endParaRPr sz="3500">
              <a:latin typeface="Arial"/>
              <a:cs typeface="Arial"/>
            </a:endParaRPr>
          </a:p>
          <a:p>
            <a:pPr marL="352425" marR="5080" indent="-298450">
              <a:lnSpc>
                <a:spcPct val="96000"/>
              </a:lnSpc>
              <a:spcBef>
                <a:spcPts val="1639"/>
              </a:spcBef>
              <a:buChar char="•"/>
              <a:tabLst>
                <a:tab pos="352425" algn="l"/>
                <a:tab pos="356235" algn="l"/>
              </a:tabLst>
            </a:pP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	</a:t>
            </a:r>
            <a:r>
              <a:rPr sz="2400" spc="-65" dirty="0">
                <a:solidFill>
                  <a:srgbClr val="1C1A18"/>
                </a:solidFill>
                <a:latin typeface="Arial"/>
                <a:cs typeface="Arial"/>
              </a:rPr>
              <a:t>The</a:t>
            </a:r>
            <a:r>
              <a:rPr sz="2400" spc="-1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data</a:t>
            </a:r>
            <a:r>
              <a:rPr sz="2400" spc="-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supports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strategies</a:t>
            </a:r>
            <a:r>
              <a:rPr sz="2400" spc="-1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involving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targeted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interventions</a:t>
            </a:r>
            <a:r>
              <a:rPr sz="2400" spc="-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1C1A18"/>
                </a:solidFill>
                <a:latin typeface="Arial"/>
                <a:cs typeface="Arial"/>
              </a:rPr>
              <a:t>at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high</a:t>
            </a:r>
            <a:r>
              <a:rPr sz="2400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traffic</a:t>
            </a:r>
            <a:r>
              <a:rPr sz="2400" spc="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"micro</a:t>
            </a:r>
            <a:r>
              <a:rPr sz="2400" spc="-10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hotspots"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such 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as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major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transit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stations</a:t>
            </a:r>
            <a:r>
              <a:rPr sz="2400" spc="-1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400" spc="-1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commercial</a:t>
            </a:r>
            <a:r>
              <a:rPr sz="2400" spc="-114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centres.</a:t>
            </a:r>
            <a:endParaRPr sz="2400">
              <a:latin typeface="Arial"/>
              <a:cs typeface="Arial"/>
            </a:endParaRPr>
          </a:p>
          <a:p>
            <a:pPr marL="352425" marR="301625" indent="-298450">
              <a:lnSpc>
                <a:spcPts val="2710"/>
              </a:lnSpc>
              <a:spcBef>
                <a:spcPts val="1875"/>
              </a:spcBef>
              <a:buChar char="•"/>
              <a:tabLst>
                <a:tab pos="352425" algn="l"/>
              </a:tabLst>
            </a:pPr>
            <a:r>
              <a:rPr sz="2400" spc="-70" dirty="0">
                <a:solidFill>
                  <a:srgbClr val="1C1A18"/>
                </a:solidFill>
                <a:latin typeface="Arial"/>
                <a:cs typeface="Arial"/>
              </a:rPr>
              <a:t>Resource</a:t>
            </a:r>
            <a:r>
              <a:rPr sz="2400" spc="-1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allocation can</a:t>
            </a:r>
            <a:r>
              <a:rPr sz="2400" spc="-2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75" dirty="0">
                <a:solidFill>
                  <a:srgbClr val="1C1A18"/>
                </a:solidFill>
                <a:latin typeface="Arial"/>
                <a:cs typeface="Arial"/>
              </a:rPr>
              <a:t>be</a:t>
            </a:r>
            <a:r>
              <a:rPr sz="2400" spc="-2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highly</a:t>
            </a:r>
            <a:r>
              <a:rPr sz="2400" spc="-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concentrated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400" spc="-1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focused</a:t>
            </a:r>
            <a:r>
              <a:rPr sz="2400" spc="-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1C1A18"/>
                </a:solidFill>
                <a:latin typeface="Arial"/>
                <a:cs typeface="Arial"/>
              </a:rPr>
              <a:t>on</a:t>
            </a:r>
            <a:r>
              <a:rPr sz="2400" spc="-2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C1A18"/>
                </a:solidFill>
                <a:latin typeface="Arial"/>
                <a:cs typeface="Arial"/>
              </a:rPr>
              <a:t>pedestrian</a:t>
            </a:r>
            <a:r>
              <a:rPr sz="2400" spc="-25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2400" spc="-30" dirty="0">
                <a:solidFill>
                  <a:srgbClr val="1C1A18"/>
                </a:solidFill>
                <a:latin typeface="Arial"/>
                <a:cs typeface="Arial"/>
              </a:rPr>
              <a:t>heavy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zones.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02105" y="4163689"/>
            <a:ext cx="6756400" cy="3378835"/>
          </a:xfrm>
          <a:prstGeom prst="rect">
            <a:avLst/>
          </a:prstGeom>
        </p:spPr>
        <p:txBody>
          <a:bodyPr vert="horz" wrap="square" lIns="0" tIns="29400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315"/>
              </a:spcBef>
            </a:pPr>
            <a:r>
              <a:rPr sz="3500" b="1" spc="-200" dirty="0">
                <a:solidFill>
                  <a:srgbClr val="1C1A18"/>
                </a:solidFill>
                <a:latin typeface="Arial"/>
                <a:cs typeface="Arial"/>
              </a:rPr>
              <a:t>For</a:t>
            </a:r>
            <a:r>
              <a:rPr sz="3500" b="1" spc="-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160" dirty="0">
                <a:solidFill>
                  <a:srgbClr val="1C1A18"/>
                </a:solidFill>
                <a:latin typeface="Arial"/>
                <a:cs typeface="Arial"/>
              </a:rPr>
              <a:t>Sprawling</a:t>
            </a:r>
            <a:r>
              <a:rPr sz="3500" b="1" spc="-4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105" dirty="0">
                <a:solidFill>
                  <a:srgbClr val="1C1A18"/>
                </a:solidFill>
                <a:latin typeface="Arial"/>
                <a:cs typeface="Arial"/>
              </a:rPr>
              <a:t>Cities</a:t>
            </a:r>
            <a:r>
              <a:rPr sz="3500" b="1" spc="-2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135" dirty="0">
                <a:solidFill>
                  <a:srgbClr val="1C1A18"/>
                </a:solidFill>
                <a:latin typeface="Arial"/>
                <a:cs typeface="Arial"/>
              </a:rPr>
              <a:t>(like</a:t>
            </a:r>
            <a:r>
              <a:rPr sz="3500" b="1" spc="-30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3500" b="1" spc="-25" dirty="0">
                <a:solidFill>
                  <a:srgbClr val="1C1A18"/>
                </a:solidFill>
                <a:latin typeface="Arial"/>
                <a:cs typeface="Arial"/>
              </a:rPr>
              <a:t>LA)</a:t>
            </a:r>
            <a:endParaRPr sz="3500">
              <a:latin typeface="Arial"/>
              <a:cs typeface="Arial"/>
            </a:endParaRPr>
          </a:p>
          <a:p>
            <a:pPr marL="310515" marR="5080" indent="-298450">
              <a:lnSpc>
                <a:spcPct val="96000"/>
              </a:lnSpc>
              <a:spcBef>
                <a:spcPts val="1639"/>
              </a:spcBef>
              <a:buChar char="•"/>
              <a:tabLst>
                <a:tab pos="310515" algn="l"/>
              </a:tabLst>
            </a:pP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Effective</a:t>
            </a:r>
            <a:r>
              <a:rPr sz="2400" spc="-114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strategies</a:t>
            </a:r>
            <a:r>
              <a:rPr sz="2400" spc="-10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C1A18"/>
                </a:solidFill>
                <a:latin typeface="Arial"/>
                <a:cs typeface="Arial"/>
              </a:rPr>
              <a:t>likely</a:t>
            </a:r>
            <a:r>
              <a:rPr sz="2400" spc="-10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require</a:t>
            </a:r>
            <a:r>
              <a:rPr sz="2400" spc="-1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more</a:t>
            </a:r>
            <a:r>
              <a:rPr sz="2400" spc="-1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dispersed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400" spc="-2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mobile</a:t>
            </a:r>
            <a:r>
              <a:rPr sz="2400" spc="-114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enforcement</a:t>
            </a:r>
            <a:r>
              <a:rPr sz="2400" spc="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to</a:t>
            </a:r>
            <a:r>
              <a:rPr sz="2400" spc="-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cover</a:t>
            </a:r>
            <a:r>
              <a:rPr sz="2400" spc="-1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400" spc="-1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wider,</a:t>
            </a:r>
            <a:r>
              <a:rPr sz="2400" spc="-8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less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pred</a:t>
            </a:r>
            <a:r>
              <a:rPr sz="2400" dirty="0">
                <a:solidFill>
                  <a:srgbClr val="343431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ctable</a:t>
            </a:r>
            <a:r>
              <a:rPr sz="2400" spc="-1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geographic</a:t>
            </a:r>
            <a:r>
              <a:rPr sz="2400" spc="1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area.</a:t>
            </a:r>
            <a:endParaRPr sz="2400">
              <a:latin typeface="Arial"/>
              <a:cs typeface="Arial"/>
            </a:endParaRPr>
          </a:p>
          <a:p>
            <a:pPr marL="314325" marR="33020" indent="-302260" algn="just">
              <a:lnSpc>
                <a:spcPct val="96000"/>
              </a:lnSpc>
              <a:spcBef>
                <a:spcPts val="1760"/>
              </a:spcBef>
              <a:buChar char="•"/>
              <a:tabLst>
                <a:tab pos="314325" algn="l"/>
                <a:tab pos="320040" algn="l"/>
              </a:tabLst>
            </a:pP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	</a:t>
            </a:r>
            <a:r>
              <a:rPr sz="2400" spc="-100" dirty="0">
                <a:solidFill>
                  <a:srgbClr val="1C1A18"/>
                </a:solidFill>
                <a:latin typeface="Arial"/>
                <a:cs typeface="Arial"/>
              </a:rPr>
              <a:t>An</a:t>
            </a:r>
            <a:r>
              <a:rPr sz="2400" spc="-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understand</a:t>
            </a:r>
            <a:r>
              <a:rPr sz="2400" dirty="0">
                <a:solidFill>
                  <a:srgbClr val="343431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ng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75" dirty="0">
                <a:solidFill>
                  <a:srgbClr val="1C1A18"/>
                </a:solidFill>
                <a:latin typeface="Arial"/>
                <a:cs typeface="Arial"/>
              </a:rPr>
              <a:t>of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arterial</a:t>
            </a:r>
            <a:r>
              <a:rPr sz="2400" spc="-1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routes</a:t>
            </a:r>
            <a:r>
              <a:rPr sz="2400" spc="-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highway networks</a:t>
            </a:r>
            <a:r>
              <a:rPr sz="2400" spc="-1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C1A18"/>
                </a:solidFill>
                <a:latin typeface="Arial"/>
                <a:cs typeface="Arial"/>
              </a:rPr>
              <a:t>is</a:t>
            </a:r>
            <a:r>
              <a:rPr sz="2400" spc="-1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more</a:t>
            </a:r>
            <a:r>
              <a:rPr sz="2400" spc="-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crit</a:t>
            </a:r>
            <a:r>
              <a:rPr sz="2400" dirty="0">
                <a:solidFill>
                  <a:srgbClr val="343431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cal</a:t>
            </a:r>
            <a:r>
              <a:rPr sz="2400" spc="-114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than</a:t>
            </a:r>
            <a:r>
              <a:rPr sz="2400" spc="-4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focusing</a:t>
            </a:r>
            <a:r>
              <a:rPr sz="2400" spc="1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1C1A18"/>
                </a:solidFill>
                <a:latin typeface="Arial"/>
                <a:cs typeface="Arial"/>
              </a:rPr>
              <a:t>on</a:t>
            </a:r>
            <a:r>
              <a:rPr sz="2400" spc="-1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single nodes.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6072" y="8145132"/>
            <a:ext cx="11068685" cy="7505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839469" marR="288925" indent="-524510">
              <a:lnSpc>
                <a:spcPts val="2810"/>
              </a:lnSpc>
              <a:spcBef>
                <a:spcPts val="265"/>
              </a:spcBef>
            </a:pPr>
            <a:r>
              <a:rPr sz="2400" spc="-160" dirty="0">
                <a:solidFill>
                  <a:srgbClr val="1C1A18"/>
                </a:solidFill>
                <a:latin typeface="Arial"/>
                <a:cs typeface="Arial"/>
              </a:rPr>
              <a:t>Key</a:t>
            </a:r>
            <a:r>
              <a:rPr sz="2400" spc="-24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C1A18"/>
                </a:solidFill>
                <a:latin typeface="Arial"/>
                <a:cs typeface="Arial"/>
              </a:rPr>
              <a:t>Ins</a:t>
            </a:r>
            <a:r>
              <a:rPr sz="2400" spc="-30" dirty="0">
                <a:solidFill>
                  <a:srgbClr val="343431"/>
                </a:solidFill>
                <a:latin typeface="Arial"/>
                <a:cs typeface="Arial"/>
              </a:rPr>
              <a:t>i</a:t>
            </a:r>
            <a:r>
              <a:rPr sz="2400" spc="-30" dirty="0">
                <a:solidFill>
                  <a:srgbClr val="1C1A18"/>
                </a:solidFill>
                <a:latin typeface="Arial"/>
                <a:cs typeface="Arial"/>
              </a:rPr>
              <a:t>ght:</a:t>
            </a:r>
            <a:r>
              <a:rPr sz="2400" spc="-1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'one</a:t>
            </a:r>
            <a:r>
              <a:rPr sz="2400" spc="-60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size-</a:t>
            </a:r>
            <a:r>
              <a:rPr sz="2400" spc="-45" dirty="0">
                <a:solidFill>
                  <a:srgbClr val="1C1A18"/>
                </a:solidFill>
                <a:latin typeface="Arial"/>
                <a:cs typeface="Arial"/>
              </a:rPr>
              <a:t>fits</a:t>
            </a:r>
            <a:r>
              <a:rPr sz="2400" spc="-45" dirty="0">
                <a:solidFill>
                  <a:srgbClr val="343431"/>
                </a:solidFill>
                <a:latin typeface="Arial"/>
                <a:cs typeface="Arial"/>
              </a:rPr>
              <a:t>-</a:t>
            </a:r>
            <a:r>
              <a:rPr sz="2400" spc="-40" dirty="0">
                <a:solidFill>
                  <a:srgbClr val="1C1A18"/>
                </a:solidFill>
                <a:latin typeface="Arial"/>
                <a:cs typeface="Arial"/>
              </a:rPr>
              <a:t>all'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approach</a:t>
            </a:r>
            <a:r>
              <a:rPr sz="2400" spc="-4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to</a:t>
            </a:r>
            <a:r>
              <a:rPr sz="2400" spc="10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urban</a:t>
            </a:r>
            <a:r>
              <a:rPr sz="2400" spc="-1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policing</a:t>
            </a:r>
            <a:r>
              <a:rPr sz="2400" spc="-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1C1A18"/>
                </a:solidFill>
                <a:latin typeface="Arial"/>
                <a:cs typeface="Arial"/>
              </a:rPr>
              <a:t>is</a:t>
            </a:r>
            <a:r>
              <a:rPr sz="2400" spc="-2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ineffective.</a:t>
            </a:r>
            <a:r>
              <a:rPr sz="2400" spc="1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400" spc="-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city's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physical</a:t>
            </a:r>
            <a:r>
              <a:rPr sz="2400" spc="-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1C1A18"/>
                </a:solidFill>
                <a:latin typeface="Arial"/>
                <a:cs typeface="Arial"/>
              </a:rPr>
              <a:t>form</a:t>
            </a:r>
            <a:r>
              <a:rPr sz="2400" spc="-18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1C1A18"/>
                </a:solidFill>
                <a:latin typeface="Arial"/>
                <a:cs typeface="Arial"/>
              </a:rPr>
              <a:t>is</a:t>
            </a:r>
            <a:r>
              <a:rPr sz="2400" spc="-2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400" spc="-24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1C1A18"/>
                </a:solidFill>
                <a:latin typeface="Arial"/>
                <a:cs typeface="Arial"/>
              </a:rPr>
              <a:t>critical</a:t>
            </a:r>
            <a:r>
              <a:rPr sz="2400" spc="-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variable</a:t>
            </a:r>
            <a:r>
              <a:rPr sz="2400" spc="-18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343431"/>
                </a:solidFill>
                <a:latin typeface="Arial"/>
                <a:cs typeface="Arial"/>
              </a:rPr>
              <a:t>i</a:t>
            </a:r>
            <a:r>
              <a:rPr sz="2400" spc="90" dirty="0">
                <a:solidFill>
                  <a:srgbClr val="1C1A18"/>
                </a:solidFill>
                <a:latin typeface="Arial"/>
                <a:cs typeface="Arial"/>
              </a:rPr>
              <a:t>n</a:t>
            </a:r>
            <a:r>
              <a:rPr sz="2400" spc="-1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designing</a:t>
            </a:r>
            <a:r>
              <a:rPr sz="2400" spc="-1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1C1A18"/>
                </a:solidFill>
                <a:latin typeface="Arial"/>
                <a:cs typeface="Arial"/>
              </a:rPr>
              <a:t>public</a:t>
            </a:r>
            <a:r>
              <a:rPr sz="2400" spc="-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C1A18"/>
                </a:solidFill>
                <a:latin typeface="Arial"/>
                <a:cs typeface="Arial"/>
              </a:rPr>
              <a:t>safety</a:t>
            </a:r>
            <a:r>
              <a:rPr sz="2400" spc="-10" dirty="0">
                <a:solidFill>
                  <a:srgbClr val="1C1A18"/>
                </a:solidFill>
                <a:latin typeface="Arial"/>
                <a:cs typeface="Arial"/>
              </a:rPr>
              <a:t> initiatives.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337" y="3166268"/>
            <a:ext cx="1986959" cy="25787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5192" y="3115204"/>
            <a:ext cx="1961485" cy="27064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6365" y="3268398"/>
            <a:ext cx="3158755" cy="2527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31232" y="3166268"/>
            <a:ext cx="1248217" cy="257876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6822" rIns="0" bIns="0" rtlCol="0">
            <a:spAutoFit/>
          </a:bodyPr>
          <a:lstStyle/>
          <a:p>
            <a:pPr marL="424180" marR="5080" indent="-10795">
              <a:lnSpc>
                <a:spcPts val="5530"/>
              </a:lnSpc>
              <a:spcBef>
                <a:spcPts val="950"/>
              </a:spcBef>
            </a:pPr>
            <a:r>
              <a:rPr sz="5250" spc="-95" dirty="0">
                <a:solidFill>
                  <a:srgbClr val="181813"/>
                </a:solidFill>
              </a:rPr>
              <a:t>Comparing</a:t>
            </a:r>
            <a:r>
              <a:rPr sz="5250" spc="-215" dirty="0">
                <a:solidFill>
                  <a:srgbClr val="181813"/>
                </a:solidFill>
              </a:rPr>
              <a:t> </a:t>
            </a:r>
            <a:r>
              <a:rPr sz="5250" spc="-40" dirty="0">
                <a:solidFill>
                  <a:srgbClr val="181813"/>
                </a:solidFill>
              </a:rPr>
              <a:t>Crime</a:t>
            </a:r>
            <a:r>
              <a:rPr sz="5250" spc="-425" dirty="0">
                <a:solidFill>
                  <a:srgbClr val="181813"/>
                </a:solidFill>
              </a:rPr>
              <a:t> </a:t>
            </a:r>
            <a:r>
              <a:rPr sz="5250" spc="-125" dirty="0">
                <a:solidFill>
                  <a:srgbClr val="181813"/>
                </a:solidFill>
              </a:rPr>
              <a:t>Rates</a:t>
            </a:r>
            <a:r>
              <a:rPr sz="5250" spc="-315" dirty="0">
                <a:solidFill>
                  <a:srgbClr val="181813"/>
                </a:solidFill>
              </a:rPr>
              <a:t> </a:t>
            </a:r>
            <a:r>
              <a:rPr sz="5250" spc="-75" dirty="0">
                <a:solidFill>
                  <a:srgbClr val="181813"/>
                </a:solidFill>
              </a:rPr>
              <a:t>Without</a:t>
            </a:r>
            <a:r>
              <a:rPr sz="5250" spc="-185" dirty="0">
                <a:solidFill>
                  <a:srgbClr val="181813"/>
                </a:solidFill>
              </a:rPr>
              <a:t> </a:t>
            </a:r>
            <a:r>
              <a:rPr sz="5250" spc="-135" dirty="0">
                <a:solidFill>
                  <a:srgbClr val="181813"/>
                </a:solidFill>
              </a:rPr>
              <a:t>Accounting </a:t>
            </a:r>
            <a:r>
              <a:rPr sz="5250" spc="-80" dirty="0">
                <a:solidFill>
                  <a:srgbClr val="181813"/>
                </a:solidFill>
              </a:rPr>
              <a:t>for</a:t>
            </a:r>
            <a:r>
              <a:rPr sz="5250" spc="-365" dirty="0">
                <a:solidFill>
                  <a:srgbClr val="181813"/>
                </a:solidFill>
              </a:rPr>
              <a:t> </a:t>
            </a:r>
            <a:r>
              <a:rPr sz="5250" spc="-120" dirty="0">
                <a:solidFill>
                  <a:srgbClr val="181813"/>
                </a:solidFill>
              </a:rPr>
              <a:t>Density</a:t>
            </a:r>
            <a:r>
              <a:rPr sz="5250" spc="-254" dirty="0">
                <a:solidFill>
                  <a:srgbClr val="181813"/>
                </a:solidFill>
              </a:rPr>
              <a:t> </a:t>
            </a:r>
            <a:r>
              <a:rPr sz="5250" spc="-10" dirty="0">
                <a:solidFill>
                  <a:srgbClr val="181813"/>
                </a:solidFill>
              </a:rPr>
              <a:t>is</a:t>
            </a:r>
            <a:r>
              <a:rPr sz="5250" spc="-740" dirty="0">
                <a:solidFill>
                  <a:srgbClr val="181813"/>
                </a:solidFill>
              </a:rPr>
              <a:t> </a:t>
            </a:r>
            <a:r>
              <a:rPr sz="5250" spc="-114" dirty="0">
                <a:solidFill>
                  <a:srgbClr val="181813"/>
                </a:solidFill>
              </a:rPr>
              <a:t>Fundamentally</a:t>
            </a:r>
            <a:r>
              <a:rPr sz="5250" spc="-165" dirty="0">
                <a:solidFill>
                  <a:srgbClr val="181813"/>
                </a:solidFill>
              </a:rPr>
              <a:t> </a:t>
            </a:r>
            <a:r>
              <a:rPr sz="5250" spc="-10" dirty="0">
                <a:solidFill>
                  <a:srgbClr val="181813"/>
                </a:solidFill>
              </a:rPr>
              <a:t>Misleading</a:t>
            </a:r>
            <a:endParaRPr sz="5250"/>
          </a:p>
        </p:txBody>
      </p:sp>
      <p:sp>
        <p:nvSpPr>
          <p:cNvPr id="7" name="object 7"/>
          <p:cNvSpPr txBox="1"/>
          <p:nvPr/>
        </p:nvSpPr>
        <p:spPr>
          <a:xfrm>
            <a:off x="2233034" y="6613194"/>
            <a:ext cx="13087985" cy="20821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445" algn="ctr">
              <a:lnSpc>
                <a:spcPts val="3100"/>
              </a:lnSpc>
              <a:spcBef>
                <a:spcPts val="115"/>
              </a:spcBef>
            </a:pPr>
            <a:r>
              <a:rPr sz="2550" spc="-110" dirty="0">
                <a:solidFill>
                  <a:srgbClr val="181813"/>
                </a:solidFill>
                <a:latin typeface="Arial"/>
                <a:cs typeface="Arial"/>
              </a:rPr>
              <a:t>When</a:t>
            </a:r>
            <a:r>
              <a:rPr sz="2550" spc="-1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95" dirty="0">
                <a:solidFill>
                  <a:srgbClr val="181813"/>
                </a:solidFill>
                <a:latin typeface="Arial"/>
                <a:cs typeface="Arial"/>
              </a:rPr>
              <a:t>measured</a:t>
            </a:r>
            <a:r>
              <a:rPr sz="2550" spc="-15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181813"/>
                </a:solidFill>
                <a:latin typeface="Arial"/>
                <a:cs typeface="Arial"/>
              </a:rPr>
              <a:t>per</a:t>
            </a:r>
            <a:r>
              <a:rPr sz="2550" spc="-25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90" dirty="0">
                <a:solidFill>
                  <a:srgbClr val="181813"/>
                </a:solidFill>
                <a:latin typeface="Arial"/>
                <a:cs typeface="Arial"/>
              </a:rPr>
              <a:t>square</a:t>
            </a:r>
            <a:r>
              <a:rPr sz="2550" spc="-21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5" dirty="0">
                <a:solidFill>
                  <a:srgbClr val="181813"/>
                </a:solidFill>
                <a:latin typeface="Arial"/>
                <a:cs typeface="Arial"/>
              </a:rPr>
              <a:t>mile,</a:t>
            </a:r>
            <a:r>
              <a:rPr sz="2550" spc="-33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81813"/>
                </a:solidFill>
                <a:latin typeface="Arial"/>
                <a:cs typeface="Arial"/>
              </a:rPr>
              <a:t>the</a:t>
            </a:r>
            <a:r>
              <a:rPr sz="2550" spc="-33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70" dirty="0">
                <a:solidFill>
                  <a:srgbClr val="181813"/>
                </a:solidFill>
                <a:latin typeface="Arial"/>
                <a:cs typeface="Arial"/>
              </a:rPr>
              <a:t>NYPD</a:t>
            </a:r>
            <a:r>
              <a:rPr sz="2550" spc="-21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5" dirty="0">
                <a:solidFill>
                  <a:srgbClr val="181813"/>
                </a:solidFill>
                <a:latin typeface="Arial"/>
                <a:cs typeface="Arial"/>
              </a:rPr>
              <a:t>makes</a:t>
            </a:r>
            <a:r>
              <a:rPr sz="2550" spc="-25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5" dirty="0">
                <a:solidFill>
                  <a:srgbClr val="181813"/>
                </a:solidFill>
                <a:latin typeface="Arial"/>
                <a:cs typeface="Arial"/>
              </a:rPr>
              <a:t>approximately</a:t>
            </a:r>
            <a:r>
              <a:rPr sz="2550" spc="-9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4B4F4F"/>
                </a:solidFill>
                <a:latin typeface="Times New Roman"/>
                <a:cs typeface="Times New Roman"/>
              </a:rPr>
              <a:t>40</a:t>
            </a:r>
            <a:r>
              <a:rPr sz="2700" b="1" spc="245" dirty="0">
                <a:solidFill>
                  <a:srgbClr val="4B4F4F"/>
                </a:solidFill>
                <a:latin typeface="Times New Roman"/>
                <a:cs typeface="Times New Roman"/>
              </a:rPr>
              <a:t> </a:t>
            </a:r>
            <a:r>
              <a:rPr sz="2550" b="1" spc="-80" dirty="0">
                <a:solidFill>
                  <a:srgbClr val="4B4F4F"/>
                </a:solidFill>
                <a:latin typeface="Arial"/>
                <a:cs typeface="Arial"/>
              </a:rPr>
              <a:t>times</a:t>
            </a:r>
            <a:r>
              <a:rPr sz="2550" b="1" spc="-345" dirty="0">
                <a:solidFill>
                  <a:srgbClr val="4B4F4F"/>
                </a:solidFill>
                <a:latin typeface="Arial"/>
                <a:cs typeface="Arial"/>
              </a:rPr>
              <a:t> </a:t>
            </a:r>
            <a:r>
              <a:rPr sz="2550" b="1" spc="-90" dirty="0">
                <a:solidFill>
                  <a:srgbClr val="4B4F4F"/>
                </a:solidFill>
                <a:latin typeface="Arial"/>
                <a:cs typeface="Arial"/>
              </a:rPr>
              <a:t>more</a:t>
            </a:r>
            <a:r>
              <a:rPr sz="2550" b="1" spc="-250" dirty="0">
                <a:solidFill>
                  <a:srgbClr val="4B4F4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4B4F4F"/>
                </a:solidFill>
                <a:latin typeface="Arial"/>
                <a:cs typeface="Arial"/>
              </a:rPr>
              <a:t>arrests</a:t>
            </a:r>
            <a:endParaRPr sz="2550">
              <a:latin typeface="Arial"/>
              <a:cs typeface="Arial"/>
            </a:endParaRPr>
          </a:p>
          <a:p>
            <a:pPr marL="12700" marR="5080" indent="-27305" algn="ctr">
              <a:lnSpc>
                <a:spcPts val="2810"/>
              </a:lnSpc>
              <a:spcBef>
                <a:spcPts val="160"/>
              </a:spcBef>
            </a:pPr>
            <a:r>
              <a:rPr sz="2550" spc="-25" dirty="0">
                <a:solidFill>
                  <a:srgbClr val="181813"/>
                </a:solidFill>
                <a:latin typeface="Arial"/>
                <a:cs typeface="Arial"/>
              </a:rPr>
              <a:t>than</a:t>
            </a:r>
            <a:r>
              <a:rPr sz="2550" spc="-2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81813"/>
                </a:solidFill>
                <a:latin typeface="Arial"/>
                <a:cs typeface="Arial"/>
              </a:rPr>
              <a:t>the</a:t>
            </a:r>
            <a:r>
              <a:rPr sz="2550" spc="-20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45" dirty="0">
                <a:solidFill>
                  <a:srgbClr val="181813"/>
                </a:solidFill>
                <a:latin typeface="Arial"/>
                <a:cs typeface="Arial"/>
              </a:rPr>
              <a:t>LAPD.</a:t>
            </a:r>
            <a:r>
              <a:rPr sz="2550" spc="-25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0" dirty="0">
                <a:solidFill>
                  <a:srgbClr val="181813"/>
                </a:solidFill>
                <a:latin typeface="Arial"/>
                <a:cs typeface="Arial"/>
              </a:rPr>
              <a:t>This</a:t>
            </a:r>
            <a:r>
              <a:rPr sz="2550" spc="-17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81813"/>
                </a:solidFill>
                <a:latin typeface="Arial"/>
                <a:cs typeface="Arial"/>
              </a:rPr>
              <a:t>statistic</a:t>
            </a:r>
            <a:r>
              <a:rPr sz="2550" spc="-12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81813"/>
                </a:solidFill>
                <a:latin typeface="Arial"/>
                <a:cs typeface="Arial"/>
              </a:rPr>
              <a:t>doesn't</a:t>
            </a:r>
            <a:r>
              <a:rPr sz="2550" spc="-23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5" dirty="0">
                <a:solidFill>
                  <a:srgbClr val="181813"/>
                </a:solidFill>
                <a:latin typeface="Arial"/>
                <a:cs typeface="Arial"/>
              </a:rPr>
              <a:t>mean</a:t>
            </a:r>
            <a:r>
              <a:rPr sz="2550" spc="-229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25" dirty="0">
                <a:solidFill>
                  <a:srgbClr val="181813"/>
                </a:solidFill>
                <a:latin typeface="Arial"/>
                <a:cs typeface="Arial"/>
              </a:rPr>
              <a:t>NYC</a:t>
            </a:r>
            <a:r>
              <a:rPr sz="2550" spc="-19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181813"/>
                </a:solidFill>
                <a:latin typeface="Arial"/>
                <a:cs typeface="Arial"/>
              </a:rPr>
              <a:t>is</a:t>
            </a:r>
            <a:r>
              <a:rPr sz="2550" spc="-40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181813"/>
                </a:solidFill>
                <a:latin typeface="Arial"/>
                <a:cs typeface="Arial"/>
              </a:rPr>
              <a:t>40</a:t>
            </a:r>
            <a:r>
              <a:rPr sz="2550" spc="-30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181813"/>
                </a:solidFill>
                <a:latin typeface="Arial"/>
                <a:cs typeface="Arial"/>
              </a:rPr>
              <a:t>times</a:t>
            </a:r>
            <a:r>
              <a:rPr sz="2550" spc="-21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5" dirty="0">
                <a:solidFill>
                  <a:srgbClr val="181813"/>
                </a:solidFill>
                <a:latin typeface="Arial"/>
                <a:cs typeface="Arial"/>
              </a:rPr>
              <a:t>more</a:t>
            </a:r>
            <a:r>
              <a:rPr sz="2550" spc="-229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90" dirty="0">
                <a:solidFill>
                  <a:srgbClr val="181813"/>
                </a:solidFill>
                <a:latin typeface="Arial"/>
                <a:cs typeface="Arial"/>
              </a:rPr>
              <a:t>dangerous.</a:t>
            </a:r>
            <a:r>
              <a:rPr sz="2550" spc="-21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181813"/>
                </a:solidFill>
                <a:latin typeface="Arial"/>
                <a:cs typeface="Arial"/>
              </a:rPr>
              <a:t>It</a:t>
            </a:r>
            <a:r>
              <a:rPr sz="2550" spc="-4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81813"/>
                </a:solidFill>
                <a:latin typeface="Arial"/>
                <a:cs typeface="Arial"/>
              </a:rPr>
              <a:t>demonstrates </a:t>
            </a:r>
            <a:r>
              <a:rPr sz="2550" spc="-40" dirty="0">
                <a:solidFill>
                  <a:srgbClr val="181813"/>
                </a:solidFill>
                <a:latin typeface="Arial"/>
                <a:cs typeface="Arial"/>
              </a:rPr>
              <a:t>how</a:t>
            </a:r>
            <a:r>
              <a:rPr sz="2550" spc="-26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1813"/>
                </a:solidFill>
                <a:latin typeface="Arial"/>
                <a:cs typeface="Arial"/>
              </a:rPr>
              <a:t>profoundly</a:t>
            </a:r>
            <a:r>
              <a:rPr sz="2550" spc="-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181813"/>
                </a:solidFill>
                <a:latin typeface="Arial"/>
                <a:cs typeface="Arial"/>
              </a:rPr>
              <a:t>population</a:t>
            </a:r>
            <a:r>
              <a:rPr sz="2550" spc="-9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1813"/>
                </a:solidFill>
                <a:latin typeface="Arial"/>
                <a:cs typeface="Arial"/>
              </a:rPr>
              <a:t>density</a:t>
            </a:r>
            <a:r>
              <a:rPr sz="2550" spc="-12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90" dirty="0">
                <a:solidFill>
                  <a:srgbClr val="181813"/>
                </a:solidFill>
                <a:latin typeface="Arial"/>
                <a:cs typeface="Arial"/>
              </a:rPr>
              <a:t>shapes</a:t>
            </a:r>
            <a:r>
              <a:rPr sz="2550" spc="-16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81813"/>
                </a:solidFill>
                <a:latin typeface="Arial"/>
                <a:cs typeface="Arial"/>
              </a:rPr>
              <a:t>the</a:t>
            </a:r>
            <a:r>
              <a:rPr sz="2550" spc="-28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181813"/>
                </a:solidFill>
                <a:latin typeface="Arial"/>
                <a:cs typeface="Arial"/>
              </a:rPr>
              <a:t>metrics</a:t>
            </a:r>
            <a:r>
              <a:rPr sz="2550" spc="-24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81813"/>
                </a:solidFill>
                <a:latin typeface="Arial"/>
                <a:cs typeface="Arial"/>
              </a:rPr>
              <a:t>we</a:t>
            </a:r>
            <a:r>
              <a:rPr sz="2550" spc="-40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1813"/>
                </a:solidFill>
                <a:latin typeface="Arial"/>
                <a:cs typeface="Arial"/>
              </a:rPr>
              <a:t>use</a:t>
            </a:r>
            <a:r>
              <a:rPr sz="2550" spc="-24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181813"/>
                </a:solidFill>
                <a:latin typeface="Arial"/>
                <a:cs typeface="Arial"/>
              </a:rPr>
              <a:t>to</a:t>
            </a:r>
            <a:r>
              <a:rPr sz="2550" spc="-32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10" dirty="0">
                <a:solidFill>
                  <a:srgbClr val="181813"/>
                </a:solidFill>
                <a:latin typeface="Arial"/>
                <a:cs typeface="Arial"/>
              </a:rPr>
              <a:t>measure</a:t>
            </a:r>
            <a:r>
              <a:rPr sz="2550" spc="-11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81813"/>
                </a:solidFill>
                <a:latin typeface="Arial"/>
                <a:cs typeface="Arial"/>
              </a:rPr>
              <a:t>and</a:t>
            </a:r>
            <a:r>
              <a:rPr sz="2550" spc="-37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65" dirty="0">
                <a:solidFill>
                  <a:srgbClr val="181813"/>
                </a:solidFill>
                <a:latin typeface="Arial"/>
                <a:cs typeface="Arial"/>
              </a:rPr>
              <a:t>understand</a:t>
            </a:r>
            <a:r>
              <a:rPr sz="2550" spc="-15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81813"/>
                </a:solidFill>
                <a:latin typeface="Arial"/>
                <a:cs typeface="Arial"/>
              </a:rPr>
              <a:t>crime.</a:t>
            </a:r>
            <a:endParaRPr sz="2550">
              <a:latin typeface="Arial"/>
              <a:cs typeface="Arial"/>
            </a:endParaRPr>
          </a:p>
          <a:p>
            <a:pPr marL="981075" marR="488950" indent="-488315">
              <a:lnSpc>
                <a:spcPts val="2920"/>
              </a:lnSpc>
              <a:spcBef>
                <a:spcPts val="1530"/>
              </a:spcBef>
            </a:pPr>
            <a:r>
              <a:rPr sz="2550" spc="-45" dirty="0">
                <a:solidFill>
                  <a:srgbClr val="181813"/>
                </a:solidFill>
                <a:latin typeface="Arial"/>
                <a:cs typeface="Arial"/>
              </a:rPr>
              <a:t>Direct</a:t>
            </a:r>
            <a:r>
              <a:rPr sz="2550" spc="-14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0" dirty="0">
                <a:solidFill>
                  <a:srgbClr val="181813"/>
                </a:solidFill>
                <a:latin typeface="Arial"/>
                <a:cs typeface="Arial"/>
              </a:rPr>
              <a:t>comparisons</a:t>
            </a:r>
            <a:r>
              <a:rPr sz="2550" spc="-10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181813"/>
                </a:solidFill>
                <a:latin typeface="Arial"/>
                <a:cs typeface="Arial"/>
              </a:rPr>
              <a:t>of</a:t>
            </a:r>
            <a:r>
              <a:rPr sz="2550" spc="-26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81813"/>
                </a:solidFill>
                <a:latin typeface="Arial"/>
                <a:cs typeface="Arial"/>
              </a:rPr>
              <a:t>crime</a:t>
            </a:r>
            <a:r>
              <a:rPr sz="2550" spc="-28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1813"/>
                </a:solidFill>
                <a:latin typeface="Arial"/>
                <a:cs typeface="Arial"/>
              </a:rPr>
              <a:t>data</a:t>
            </a:r>
            <a:r>
              <a:rPr sz="2550" spc="-18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65" dirty="0">
                <a:solidFill>
                  <a:srgbClr val="181813"/>
                </a:solidFill>
                <a:latin typeface="Arial"/>
                <a:cs typeface="Arial"/>
              </a:rPr>
              <a:t>between</a:t>
            </a:r>
            <a:r>
              <a:rPr sz="2550" spc="-28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81813"/>
                </a:solidFill>
                <a:latin typeface="Arial"/>
                <a:cs typeface="Arial"/>
              </a:rPr>
              <a:t>cities</a:t>
            </a:r>
            <a:r>
              <a:rPr sz="2550" spc="-20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81813"/>
                </a:solidFill>
                <a:latin typeface="Arial"/>
                <a:cs typeface="Arial"/>
              </a:rPr>
              <a:t>with</a:t>
            </a:r>
            <a:r>
              <a:rPr sz="2550" spc="-1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5" dirty="0">
                <a:solidFill>
                  <a:srgbClr val="181813"/>
                </a:solidFill>
                <a:latin typeface="Arial"/>
                <a:cs typeface="Arial"/>
              </a:rPr>
              <a:t>vastly</a:t>
            </a:r>
            <a:r>
              <a:rPr sz="2550" spc="-17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81813"/>
                </a:solidFill>
                <a:latin typeface="Arial"/>
                <a:cs typeface="Arial"/>
              </a:rPr>
              <a:t>different</a:t>
            </a:r>
            <a:r>
              <a:rPr sz="2550" spc="-8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75" dirty="0">
                <a:solidFill>
                  <a:srgbClr val="181813"/>
                </a:solidFill>
                <a:latin typeface="Arial"/>
                <a:cs typeface="Arial"/>
              </a:rPr>
              <a:t>urban</a:t>
            </a:r>
            <a:r>
              <a:rPr sz="2550" spc="-1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40" dirty="0">
                <a:solidFill>
                  <a:srgbClr val="181813"/>
                </a:solidFill>
                <a:latin typeface="Arial"/>
                <a:cs typeface="Arial"/>
              </a:rPr>
              <a:t>structures</a:t>
            </a:r>
            <a:r>
              <a:rPr sz="2550" spc="-5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81813"/>
                </a:solidFill>
                <a:latin typeface="Arial"/>
                <a:cs typeface="Arial"/>
              </a:rPr>
              <a:t>can </a:t>
            </a:r>
            <a:r>
              <a:rPr sz="2550" spc="-60" dirty="0">
                <a:solidFill>
                  <a:srgbClr val="181813"/>
                </a:solidFill>
                <a:latin typeface="Arial"/>
                <a:cs typeface="Arial"/>
              </a:rPr>
              <a:t>lead</a:t>
            </a:r>
            <a:r>
              <a:rPr sz="2550" spc="-30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181813"/>
                </a:solidFill>
                <a:latin typeface="Arial"/>
                <a:cs typeface="Arial"/>
              </a:rPr>
              <a:t>to</a:t>
            </a:r>
            <a:r>
              <a:rPr sz="2550" spc="-39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1813"/>
                </a:solidFill>
                <a:latin typeface="Arial"/>
                <a:cs typeface="Arial"/>
              </a:rPr>
              <a:t>flawed</a:t>
            </a:r>
            <a:r>
              <a:rPr sz="2550" spc="-21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55" dirty="0">
                <a:solidFill>
                  <a:srgbClr val="181813"/>
                </a:solidFill>
                <a:latin typeface="Arial"/>
                <a:cs typeface="Arial"/>
              </a:rPr>
              <a:t>conclusions</a:t>
            </a:r>
            <a:r>
              <a:rPr sz="2550" spc="-24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81813"/>
                </a:solidFill>
                <a:latin typeface="Arial"/>
                <a:cs typeface="Arial"/>
              </a:rPr>
              <a:t>if</a:t>
            </a:r>
            <a:r>
              <a:rPr sz="2550" spc="-1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40" dirty="0">
                <a:solidFill>
                  <a:srgbClr val="181813"/>
                </a:solidFill>
                <a:latin typeface="Arial"/>
                <a:cs typeface="Arial"/>
              </a:rPr>
              <a:t>density</a:t>
            </a:r>
            <a:r>
              <a:rPr sz="2550" spc="-204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181813"/>
                </a:solidFill>
                <a:latin typeface="Arial"/>
                <a:cs typeface="Arial"/>
              </a:rPr>
              <a:t>is</a:t>
            </a:r>
            <a:r>
              <a:rPr sz="2550" spc="-34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81813"/>
                </a:solidFill>
                <a:latin typeface="Arial"/>
                <a:cs typeface="Arial"/>
              </a:rPr>
              <a:t>not</a:t>
            </a:r>
            <a:r>
              <a:rPr sz="2550" spc="-22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60" dirty="0">
                <a:solidFill>
                  <a:srgbClr val="181813"/>
                </a:solidFill>
                <a:latin typeface="Arial"/>
                <a:cs typeface="Arial"/>
              </a:rPr>
              <a:t>considered</a:t>
            </a:r>
            <a:r>
              <a:rPr sz="2550" spc="-25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81813"/>
                </a:solidFill>
                <a:latin typeface="Arial"/>
                <a:cs typeface="Arial"/>
              </a:rPr>
              <a:t>as</a:t>
            </a:r>
            <a:r>
              <a:rPr sz="2550" spc="-33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181813"/>
                </a:solidFill>
                <a:latin typeface="Arial"/>
                <a:cs typeface="Arial"/>
              </a:rPr>
              <a:t>a</a:t>
            </a:r>
            <a:r>
              <a:rPr sz="2550" spc="-36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181813"/>
                </a:solidFill>
                <a:latin typeface="Arial"/>
                <a:cs typeface="Arial"/>
              </a:rPr>
              <a:t>primary</a:t>
            </a:r>
            <a:r>
              <a:rPr sz="2550" spc="-16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60" dirty="0">
                <a:solidFill>
                  <a:srgbClr val="181813"/>
                </a:solidFill>
                <a:latin typeface="Arial"/>
                <a:cs typeface="Arial"/>
              </a:rPr>
              <a:t>contextual</a:t>
            </a:r>
            <a:r>
              <a:rPr sz="2550" spc="-4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81813"/>
                </a:solidFill>
                <a:latin typeface="Arial"/>
                <a:cs typeface="Arial"/>
              </a:rPr>
              <a:t>factor</a:t>
            </a:r>
            <a:r>
              <a:rPr sz="2550" spc="-10" dirty="0">
                <a:solidFill>
                  <a:srgbClr val="31312F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3267" y="3108535"/>
            <a:ext cx="7591425" cy="5547360"/>
            <a:chOff x="713267" y="3108535"/>
            <a:chExt cx="7591425" cy="5547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267" y="3242864"/>
              <a:ext cx="7591202" cy="54128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9095" y="6791854"/>
              <a:ext cx="484002" cy="4085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9095" y="7328032"/>
              <a:ext cx="993479" cy="3063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2462" y="7787613"/>
              <a:ext cx="636845" cy="5361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39271" y="4672672"/>
              <a:ext cx="0" cy="587375"/>
            </a:xfrm>
            <a:custGeom>
              <a:avLst/>
              <a:gdLst/>
              <a:ahLst/>
              <a:cxnLst/>
              <a:rect l="l" t="t" r="r" b="b"/>
              <a:pathLst>
                <a:path h="587375">
                  <a:moveTo>
                    <a:pt x="0" y="58724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3183" y="3651381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08869" y="3115203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45942" y="6664190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09">
                  <a:moveTo>
                    <a:pt x="0" y="663839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93" rIns="0" bIns="0" rtlCol="0">
            <a:spAutoFit/>
          </a:bodyPr>
          <a:lstStyle/>
          <a:p>
            <a:pPr marL="193040" marR="5080" indent="10160">
              <a:lnSpc>
                <a:spcPts val="5630"/>
              </a:lnSpc>
              <a:spcBef>
                <a:spcPts val="660"/>
              </a:spcBef>
            </a:pPr>
            <a:r>
              <a:rPr spc="-75" dirty="0"/>
              <a:t>As</a:t>
            </a:r>
            <a:r>
              <a:rPr spc="-835" dirty="0"/>
              <a:t> </a:t>
            </a:r>
            <a:r>
              <a:rPr spc="-80" dirty="0"/>
              <a:t>Cities</a:t>
            </a:r>
            <a:r>
              <a:rPr spc="-625" dirty="0"/>
              <a:t> </a:t>
            </a:r>
            <a:r>
              <a:rPr spc="-165" dirty="0"/>
              <a:t>Evolve,</a:t>
            </a:r>
            <a:r>
              <a:rPr spc="-565" dirty="0"/>
              <a:t> </a:t>
            </a:r>
            <a:r>
              <a:rPr dirty="0"/>
              <a:t>the</a:t>
            </a:r>
            <a:r>
              <a:rPr spc="-725" dirty="0"/>
              <a:t> </a:t>
            </a:r>
            <a:r>
              <a:rPr spc="-114" dirty="0"/>
              <a:t>Link</a:t>
            </a:r>
            <a:r>
              <a:rPr spc="-600" dirty="0"/>
              <a:t> </a:t>
            </a:r>
            <a:r>
              <a:rPr spc="-40" dirty="0"/>
              <a:t>Between</a:t>
            </a:r>
            <a:r>
              <a:rPr spc="-590" dirty="0"/>
              <a:t> </a:t>
            </a:r>
            <a:r>
              <a:rPr spc="-100" dirty="0"/>
              <a:t>Urban</a:t>
            </a:r>
            <a:r>
              <a:rPr spc="-595" dirty="0"/>
              <a:t> </a:t>
            </a:r>
            <a:r>
              <a:rPr spc="-105" dirty="0"/>
              <a:t>Design </a:t>
            </a:r>
            <a:r>
              <a:rPr spc="-70" dirty="0"/>
              <a:t>and</a:t>
            </a:r>
            <a:r>
              <a:rPr spc="-640" dirty="0"/>
              <a:t> </a:t>
            </a:r>
            <a:r>
              <a:rPr spc="-140" dirty="0"/>
              <a:t>Public</a:t>
            </a:r>
            <a:r>
              <a:rPr spc="-445" dirty="0"/>
              <a:t> </a:t>
            </a:r>
            <a:r>
              <a:rPr spc="-35" dirty="0"/>
              <a:t>Safety</a:t>
            </a:r>
            <a:r>
              <a:rPr spc="-440" dirty="0"/>
              <a:t> </a:t>
            </a:r>
            <a:r>
              <a:rPr spc="-140" dirty="0"/>
              <a:t>Becomes</a:t>
            </a:r>
            <a:r>
              <a:rPr spc="-400" dirty="0"/>
              <a:t> </a:t>
            </a:r>
            <a:r>
              <a:rPr spc="-150" dirty="0"/>
              <a:t>Ever</a:t>
            </a:r>
            <a:r>
              <a:rPr spc="-335" dirty="0"/>
              <a:t> </a:t>
            </a:r>
            <a:r>
              <a:rPr dirty="0"/>
              <a:t>More</a:t>
            </a:r>
            <a:r>
              <a:rPr spc="-725" dirty="0"/>
              <a:t> </a:t>
            </a:r>
            <a:r>
              <a:rPr spc="-10" dirty="0"/>
              <a:t>Critical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34058" y="4034432"/>
            <a:ext cx="615315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00380" algn="l"/>
              </a:tabLst>
            </a:pPr>
            <a:r>
              <a:rPr sz="2700" spc="-370" dirty="0">
                <a:solidFill>
                  <a:srgbClr val="697279"/>
                </a:solidFill>
                <a:latin typeface="Arial"/>
                <a:cs typeface="Arial"/>
              </a:rPr>
              <a:t>:::::</a:t>
            </a:r>
            <a:r>
              <a:rPr sz="2700" dirty="0">
                <a:solidFill>
                  <a:srgbClr val="697279"/>
                </a:solidFill>
                <a:latin typeface="Arial"/>
                <a:cs typeface="Arial"/>
              </a:rPr>
              <a:t>	</a:t>
            </a:r>
            <a:r>
              <a:rPr sz="2700" spc="-765" dirty="0">
                <a:solidFill>
                  <a:srgbClr val="697279"/>
                </a:solidFill>
                <a:latin typeface="Arial"/>
                <a:cs typeface="Arial"/>
              </a:rPr>
              <a:t>8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1387" y="4232308"/>
            <a:ext cx="276225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495" dirty="0">
                <a:solidFill>
                  <a:srgbClr val="697279"/>
                </a:solidFill>
                <a:latin typeface="Arial"/>
                <a:cs typeface="Arial"/>
              </a:rPr>
              <a:t>--</a:t>
            </a:r>
            <a:r>
              <a:rPr sz="3450" spc="-545" dirty="0">
                <a:solidFill>
                  <a:srgbClr val="697279"/>
                </a:solidFill>
                <a:latin typeface="Arial"/>
                <a:cs typeface="Arial"/>
              </a:rPr>
              <a:t>-</a:t>
            </a:r>
            <a:endParaRPr sz="3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6144" y="5236474"/>
            <a:ext cx="102235" cy="148590"/>
          </a:xfrm>
          <a:custGeom>
            <a:avLst/>
            <a:gdLst/>
            <a:ahLst/>
            <a:cxnLst/>
            <a:rect l="l" t="t" r="r" b="b"/>
            <a:pathLst>
              <a:path w="102234" h="148589">
                <a:moveTo>
                  <a:pt x="101895" y="148038"/>
                </a:moveTo>
                <a:lnTo>
                  <a:pt x="0" y="148038"/>
                </a:lnTo>
                <a:lnTo>
                  <a:pt x="0" y="0"/>
                </a:lnTo>
                <a:lnTo>
                  <a:pt x="101895" y="0"/>
                </a:lnTo>
                <a:lnTo>
                  <a:pt x="101895" y="148038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3444" y="5228066"/>
            <a:ext cx="6032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50" dirty="0">
                <a:solidFill>
                  <a:srgbClr val="BCBCBC"/>
                </a:solidFill>
                <a:latin typeface="Arial"/>
                <a:cs typeface="Arial"/>
              </a:rPr>
              <a:t>0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34895" y="4716668"/>
            <a:ext cx="229870" cy="243840"/>
          </a:xfrm>
          <a:custGeom>
            <a:avLst/>
            <a:gdLst/>
            <a:ahLst/>
            <a:cxnLst/>
            <a:rect l="l" t="t" r="r" b="b"/>
            <a:pathLst>
              <a:path w="229869" h="243839">
                <a:moveTo>
                  <a:pt x="229264" y="243828"/>
                </a:moveTo>
                <a:lnTo>
                  <a:pt x="0" y="243828"/>
                </a:lnTo>
                <a:lnTo>
                  <a:pt x="0" y="0"/>
                </a:lnTo>
                <a:lnTo>
                  <a:pt x="229264" y="0"/>
                </a:lnTo>
                <a:lnTo>
                  <a:pt x="229264" y="243828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22196" y="4711038"/>
            <a:ext cx="4152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919" dirty="0">
                <a:solidFill>
                  <a:srgbClr val="BCBCBC"/>
                </a:solidFill>
                <a:latin typeface="Arial"/>
                <a:cs typeface="Arial"/>
              </a:rPr>
              <a:t>_</a:t>
            </a:r>
            <a:r>
              <a:rPr sz="1400" spc="919" dirty="0">
                <a:solidFill>
                  <a:srgbClr val="7E8082"/>
                </a:solidFill>
                <a:latin typeface="Arial"/>
                <a:cs typeface="Arial"/>
              </a:rPr>
              <a:t>,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5040" y="7039600"/>
            <a:ext cx="38735" cy="261620"/>
          </a:xfrm>
          <a:custGeom>
            <a:avLst/>
            <a:gdLst/>
            <a:ahLst/>
            <a:cxnLst/>
            <a:rect l="l" t="t" r="r" b="b"/>
            <a:pathLst>
              <a:path w="38734" h="261620">
                <a:moveTo>
                  <a:pt x="38210" y="261244"/>
                </a:moveTo>
                <a:lnTo>
                  <a:pt x="0" y="261244"/>
                </a:lnTo>
                <a:lnTo>
                  <a:pt x="0" y="0"/>
                </a:lnTo>
                <a:lnTo>
                  <a:pt x="38210" y="0"/>
                </a:lnTo>
                <a:lnTo>
                  <a:pt x="38210" y="261244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2339" y="7034477"/>
            <a:ext cx="1841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5" dirty="0">
                <a:solidFill>
                  <a:srgbClr val="BCBCBC"/>
                </a:solidFill>
                <a:latin typeface="Arial"/>
                <a:cs typeface="Arial"/>
              </a:rPr>
              <a:t>.</a:t>
            </a:r>
            <a:r>
              <a:rPr sz="1500" spc="-25" dirty="0">
                <a:solidFill>
                  <a:srgbClr val="939595"/>
                </a:solidFill>
                <a:latin typeface="Arial"/>
                <a:cs typeface="Arial"/>
              </a:rPr>
              <a:t>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26535" y="5655733"/>
            <a:ext cx="6292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40" dirty="0">
                <a:solidFill>
                  <a:srgbClr val="AA9587"/>
                </a:solidFill>
                <a:latin typeface="Arial"/>
                <a:cs typeface="Arial"/>
              </a:rPr>
              <a:t>!:?I</a:t>
            </a:r>
            <a:r>
              <a:rPr sz="1600" b="1" spc="-140" dirty="0">
                <a:solidFill>
                  <a:srgbClr val="AA9587"/>
                </a:solidFill>
                <a:latin typeface="Arial"/>
                <a:cs typeface="Arial"/>
              </a:rPr>
              <a:t>tll</a:t>
            </a:r>
            <a:r>
              <a:rPr sz="1600" b="1" spc="-175" dirty="0">
                <a:solidFill>
                  <a:srgbClr val="AA9587"/>
                </a:solidFill>
                <a:latin typeface="Arial"/>
                <a:cs typeface="Arial"/>
              </a:rPr>
              <a:t> </a:t>
            </a:r>
            <a:r>
              <a:rPr sz="1600" i="1" spc="-315" dirty="0">
                <a:solidFill>
                  <a:srgbClr val="566470"/>
                </a:solidFill>
                <a:latin typeface="Times New Roman"/>
                <a:cs typeface="Times New Roman"/>
              </a:rPr>
              <a:t>O</a:t>
            </a:r>
            <a:r>
              <a:rPr sz="1600" spc="-315" dirty="0">
                <a:solidFill>
                  <a:srgbClr val="566470"/>
                </a:solidFill>
                <a:latin typeface="Arial"/>
                <a:cs typeface="Arial"/>
              </a:rPr>
              <a:t>Cl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97434" y="5655733"/>
            <a:ext cx="6597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50" dirty="0">
                <a:solidFill>
                  <a:srgbClr val="33414B"/>
                </a:solidFill>
                <a:latin typeface="Arial"/>
                <a:cs typeface="Arial"/>
              </a:rPr>
              <a:t>1</a:t>
            </a:r>
            <a:r>
              <a:rPr sz="1600" spc="-150" dirty="0">
                <a:solidFill>
                  <a:srgbClr val="566470"/>
                </a:solidFill>
                <a:latin typeface="Arial"/>
                <a:cs typeface="Arial"/>
              </a:rPr>
              <a:t>1:</a:t>
            </a:r>
            <a:r>
              <a:rPr sz="1600" spc="-125" dirty="0">
                <a:solidFill>
                  <a:srgbClr val="566470"/>
                </a:solidFill>
                <a:latin typeface="Arial"/>
                <a:cs typeface="Arial"/>
              </a:rPr>
              <a:t> </a:t>
            </a:r>
            <a:r>
              <a:rPr sz="1600" spc="-305" dirty="0">
                <a:solidFill>
                  <a:srgbClr val="566470"/>
                </a:solidFill>
                <a:latin typeface="Arial"/>
                <a:cs typeface="Arial"/>
              </a:rPr>
              <a:t>1-</a:t>
            </a:r>
            <a:r>
              <a:rPr sz="1600" spc="-204" dirty="0">
                <a:solidFill>
                  <a:srgbClr val="566470"/>
                </a:solidFill>
                <a:latin typeface="Arial"/>
                <a:cs typeface="Arial"/>
              </a:rPr>
              <a:t>.....J.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39741" y="5796160"/>
            <a:ext cx="50419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8460" algn="l"/>
              </a:tabLst>
            </a:pPr>
            <a:r>
              <a:rPr sz="1350" spc="-135" dirty="0">
                <a:solidFill>
                  <a:srgbClr val="AA9587"/>
                </a:solidFill>
                <a:latin typeface="Arial"/>
                <a:cs typeface="Arial"/>
              </a:rPr>
              <a:t>t:i</a:t>
            </a:r>
            <a:r>
              <a:rPr sz="1350" spc="45" dirty="0">
                <a:solidFill>
                  <a:srgbClr val="AA9587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939595"/>
                </a:solidFill>
                <a:latin typeface="Arial"/>
                <a:cs typeface="Arial"/>
              </a:rPr>
              <a:t>Ill</a:t>
            </a:r>
            <a:r>
              <a:rPr sz="1500" dirty="0">
                <a:solidFill>
                  <a:srgbClr val="939595"/>
                </a:solidFill>
                <a:latin typeface="Arial"/>
                <a:cs typeface="Arial"/>
              </a:rPr>
              <a:t>	</a:t>
            </a:r>
            <a:r>
              <a:rPr sz="1500" spc="-200" dirty="0">
                <a:solidFill>
                  <a:srgbClr val="566470"/>
                </a:solidFill>
                <a:latin typeface="Arial"/>
                <a:cs typeface="Arial"/>
              </a:rPr>
              <a:t>oil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1308" y="5828076"/>
            <a:ext cx="191008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spc="-235" dirty="0">
                <a:solidFill>
                  <a:srgbClr val="566470"/>
                </a:solidFill>
                <a:latin typeface="Times New Roman"/>
                <a:cs typeface="Times New Roman"/>
              </a:rPr>
              <a:t>:tt::f:t:l::tf::::f-</a:t>
            </a:r>
            <a:r>
              <a:rPr sz="2750" spc="-210" dirty="0">
                <a:solidFill>
                  <a:srgbClr val="566470"/>
                </a:solidFill>
                <a:latin typeface="Times New Roman"/>
                <a:cs typeface="Times New Roman"/>
              </a:rPr>
              <a:t>i</a:t>
            </a:r>
            <a:r>
              <a:rPr sz="2750" spc="-240" dirty="0">
                <a:solidFill>
                  <a:srgbClr val="939595"/>
                </a:solidFill>
                <a:latin typeface="Times New Roman"/>
                <a:cs typeface="Times New Roman"/>
              </a:rPr>
              <a:t>t</a:t>
            </a:r>
            <a:r>
              <a:rPr sz="2750" spc="-220" dirty="0">
                <a:solidFill>
                  <a:srgbClr val="939595"/>
                </a:solidFill>
                <a:latin typeface="Times New Roman"/>
                <a:cs typeface="Times New Roman"/>
              </a:rPr>
              <a:t>i</a:t>
            </a:r>
            <a:r>
              <a:rPr sz="2750" spc="-229" dirty="0">
                <a:solidFill>
                  <a:srgbClr val="939595"/>
                </a:solidFill>
                <a:latin typeface="Times New Roman"/>
                <a:cs typeface="Times New Roman"/>
              </a:rPr>
              <a:t>r</a:t>
            </a:r>
            <a:r>
              <a:rPr sz="2750" spc="-1050" dirty="0">
                <a:solidFill>
                  <a:srgbClr val="939595"/>
                </a:solidFill>
                <a:latin typeface="Times New Roman"/>
                <a:cs typeface="Times New Roman"/>
              </a:rPr>
              <a:t>o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04105" y="5994036"/>
            <a:ext cx="116014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0" dirty="0">
                <a:solidFill>
                  <a:srgbClr val="566470"/>
                </a:solidFill>
                <a:latin typeface="Arial"/>
                <a:cs typeface="Arial"/>
              </a:rPr>
              <a:t>00"'1-</a:t>
            </a:r>
            <a:r>
              <a:rPr sz="1450" spc="-90" dirty="0">
                <a:solidFill>
                  <a:srgbClr val="566470"/>
                </a:solidFill>
                <a:latin typeface="Arial"/>
                <a:cs typeface="Arial"/>
              </a:rPr>
              <a:t>r_;.1.-</a:t>
            </a:r>
            <a:r>
              <a:rPr sz="1450" spc="-80" dirty="0">
                <a:solidFill>
                  <a:srgbClr val="566470"/>
                </a:solidFill>
                <a:latin typeface="Arial"/>
                <a:cs typeface="Arial"/>
              </a:rPr>
              <a:t>-</a:t>
            </a:r>
            <a:r>
              <a:rPr sz="1450" spc="-45" dirty="0">
                <a:solidFill>
                  <a:srgbClr val="566470"/>
                </a:solidFill>
                <a:latin typeface="Arial"/>
                <a:cs typeface="Arial"/>
              </a:rPr>
              <a:t>:..::.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39434" y="6140847"/>
            <a:ext cx="200215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solidFill>
                  <a:srgbClr val="939595"/>
                </a:solidFill>
                <a:latin typeface="Arial"/>
                <a:cs typeface="Arial"/>
              </a:rPr>
              <a:t>ti</a:t>
            </a:r>
            <a:r>
              <a:rPr sz="1500" spc="70" dirty="0">
                <a:solidFill>
                  <a:srgbClr val="939595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7E8082"/>
                </a:solidFill>
                <a:latin typeface="Times New Roman"/>
                <a:cs typeface="Times New Roman"/>
              </a:rPr>
              <a:t>to</a:t>
            </a:r>
            <a:r>
              <a:rPr sz="1300" b="1" spc="350" dirty="0">
                <a:solidFill>
                  <a:srgbClr val="7E8082"/>
                </a:solidFill>
                <a:latin typeface="Times New Roman"/>
                <a:cs typeface="Times New Roman"/>
              </a:rPr>
              <a:t> </a:t>
            </a:r>
            <a:r>
              <a:rPr sz="1150" spc="-204" dirty="0">
                <a:solidFill>
                  <a:srgbClr val="566470"/>
                </a:solidFill>
                <a:latin typeface="Arial"/>
                <a:cs typeface="Arial"/>
              </a:rPr>
              <a:t>CJ</a:t>
            </a:r>
            <a:r>
              <a:rPr sz="1350" spc="-204" dirty="0">
                <a:solidFill>
                  <a:srgbClr val="566470"/>
                </a:solidFill>
                <a:latin typeface="Times New Roman"/>
                <a:cs typeface="Times New Roman"/>
              </a:rPr>
              <a:t>ll</a:t>
            </a:r>
            <a:r>
              <a:rPr sz="1350" spc="-50" dirty="0">
                <a:solidFill>
                  <a:srgbClr val="566470"/>
                </a:solidFill>
                <a:latin typeface="Times New Roman"/>
                <a:cs typeface="Times New Roman"/>
              </a:rPr>
              <a:t> </a:t>
            </a:r>
            <a:r>
              <a:rPr sz="1350" spc="919" dirty="0">
                <a:solidFill>
                  <a:srgbClr val="697279"/>
                </a:solidFill>
                <a:latin typeface="Times New Roman"/>
                <a:cs typeface="Times New Roman"/>
              </a:rPr>
              <a:t>�;-</a:t>
            </a:r>
            <a:r>
              <a:rPr sz="1350" spc="434" dirty="0">
                <a:solidFill>
                  <a:srgbClr val="697279"/>
                </a:solidFill>
                <a:latin typeface="Times New Roman"/>
                <a:cs typeface="Times New Roman"/>
              </a:rPr>
              <a:t>('.</a:t>
            </a:r>
            <a:r>
              <a:rPr sz="1350" spc="484" dirty="0">
                <a:solidFill>
                  <a:srgbClr val="697279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697279"/>
                </a:solidFill>
                <a:latin typeface="Times New Roman"/>
                <a:cs typeface="Times New Roman"/>
              </a:rPr>
              <a:t>....</a:t>
            </a:r>
            <a:r>
              <a:rPr sz="1350" u="sng" spc="245" dirty="0">
                <a:solidFill>
                  <a:srgbClr val="697279"/>
                </a:solidFill>
                <a:uFill>
                  <a:solidFill>
                    <a:srgbClr val="687178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350" u="none" spc="-210" dirty="0">
                <a:solidFill>
                  <a:srgbClr val="697279"/>
                </a:solidFill>
                <a:latin typeface="Times New Roman"/>
                <a:cs typeface="Times New Roman"/>
              </a:rPr>
              <a:t>.,,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2122" y="7015327"/>
            <a:ext cx="17018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360" dirty="0">
                <a:solidFill>
                  <a:srgbClr val="697279"/>
                </a:solidFill>
                <a:latin typeface="Times New Roman"/>
                <a:cs typeface="Times New Roman"/>
              </a:rPr>
              <a:t>�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39398" y="7350532"/>
            <a:ext cx="89535" cy="103505"/>
          </a:xfrm>
          <a:custGeom>
            <a:avLst/>
            <a:gdLst/>
            <a:ahLst/>
            <a:cxnLst/>
            <a:rect l="l" t="t" r="r" b="b"/>
            <a:pathLst>
              <a:path w="89534" h="103504">
                <a:moveTo>
                  <a:pt x="89158" y="103114"/>
                </a:moveTo>
                <a:lnTo>
                  <a:pt x="0" y="103114"/>
                </a:lnTo>
                <a:lnTo>
                  <a:pt x="0" y="0"/>
                </a:lnTo>
                <a:lnTo>
                  <a:pt x="89158" y="0"/>
                </a:lnTo>
                <a:lnTo>
                  <a:pt x="89158" y="103114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526697" y="7340865"/>
            <a:ext cx="4572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BCBCBC"/>
                </a:solidFill>
                <a:latin typeface="Times New Roman"/>
                <a:cs typeface="Times New Roman"/>
              </a:rPr>
              <a:t>/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85439" y="7693703"/>
            <a:ext cx="127635" cy="156845"/>
          </a:xfrm>
          <a:custGeom>
            <a:avLst/>
            <a:gdLst/>
            <a:ahLst/>
            <a:cxnLst/>
            <a:rect l="l" t="t" r="r" b="b"/>
            <a:pathLst>
              <a:path w="127635" h="156845">
                <a:moveTo>
                  <a:pt x="127369" y="156746"/>
                </a:moveTo>
                <a:lnTo>
                  <a:pt x="0" y="156746"/>
                </a:lnTo>
                <a:lnTo>
                  <a:pt x="0" y="0"/>
                </a:lnTo>
                <a:lnTo>
                  <a:pt x="127369" y="0"/>
                </a:lnTo>
                <a:lnTo>
                  <a:pt x="127369" y="156746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772739" y="7685550"/>
            <a:ext cx="11811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BCBCBC"/>
                </a:solidFill>
                <a:latin typeface="Arial"/>
                <a:cs typeface="Arial"/>
              </a:rPr>
              <a:t>!&gt;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95929" y="7693703"/>
            <a:ext cx="76835" cy="156845"/>
          </a:xfrm>
          <a:custGeom>
            <a:avLst/>
            <a:gdLst/>
            <a:ahLst/>
            <a:cxnLst/>
            <a:rect l="l" t="t" r="r" b="b"/>
            <a:pathLst>
              <a:path w="76834" h="156845">
                <a:moveTo>
                  <a:pt x="76421" y="156746"/>
                </a:moveTo>
                <a:lnTo>
                  <a:pt x="0" y="156746"/>
                </a:lnTo>
                <a:lnTo>
                  <a:pt x="0" y="0"/>
                </a:lnTo>
                <a:lnTo>
                  <a:pt x="76421" y="0"/>
                </a:lnTo>
                <a:lnTo>
                  <a:pt x="76421" y="156746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583229" y="7685550"/>
            <a:ext cx="61594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50" dirty="0">
                <a:solidFill>
                  <a:srgbClr val="BCBCBC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89602" y="7896192"/>
            <a:ext cx="889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0" dirty="0">
                <a:solidFill>
                  <a:srgbClr val="939595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33499" y="7896192"/>
            <a:ext cx="889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0" dirty="0">
                <a:solidFill>
                  <a:srgbClr val="939595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78469" y="8151514"/>
            <a:ext cx="958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939595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30868" y="2770584"/>
            <a:ext cx="7695565" cy="12947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445">
              <a:lnSpc>
                <a:spcPct val="102400"/>
              </a:lnSpc>
              <a:spcBef>
                <a:spcPts val="35"/>
              </a:spcBef>
            </a:pPr>
            <a:r>
              <a:rPr sz="2700" spc="70" dirty="0">
                <a:solidFill>
                  <a:srgbClr val="0E0E0A"/>
                </a:solidFill>
                <a:latin typeface="Arial"/>
                <a:cs typeface="Arial"/>
              </a:rPr>
              <a:t>The</a:t>
            </a:r>
            <a:r>
              <a:rPr sz="2700" spc="-5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E0E0A"/>
                </a:solidFill>
                <a:latin typeface="Arial"/>
                <a:cs typeface="Arial"/>
              </a:rPr>
              <a:t>"density</a:t>
            </a:r>
            <a:r>
              <a:rPr sz="2700" spc="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1C1C1A"/>
                </a:solidFill>
                <a:latin typeface="Arial"/>
                <a:cs typeface="Arial"/>
              </a:rPr>
              <a:t>effect"</a:t>
            </a:r>
            <a:r>
              <a:rPr sz="2700" spc="1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700" spc="105" dirty="0">
                <a:solidFill>
                  <a:srgbClr val="0E0E0A"/>
                </a:solidFill>
                <a:latin typeface="Arial"/>
                <a:cs typeface="Arial"/>
              </a:rPr>
              <a:t>observed</a:t>
            </a:r>
            <a:r>
              <a:rPr sz="2700" spc="1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E0E0A"/>
                </a:solidFill>
                <a:latin typeface="Arial"/>
                <a:cs typeface="Arial"/>
              </a:rPr>
              <a:t>in</a:t>
            </a:r>
            <a:r>
              <a:rPr sz="2700" spc="17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this</a:t>
            </a:r>
            <a:r>
              <a:rPr sz="2700" spc="-1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E0E0A"/>
                </a:solidFill>
                <a:latin typeface="Arial"/>
                <a:cs typeface="Arial"/>
              </a:rPr>
              <a:t>2010-</a:t>
            </a:r>
            <a:r>
              <a:rPr sz="2700" spc="-20" dirty="0">
                <a:solidFill>
                  <a:srgbClr val="0E0E0A"/>
                </a:solidFill>
                <a:latin typeface="Arial"/>
                <a:cs typeface="Arial"/>
              </a:rPr>
              <a:t>2019 </a:t>
            </a:r>
            <a:r>
              <a:rPr sz="2700" spc="60" dirty="0">
                <a:solidFill>
                  <a:srgbClr val="0E0E0A"/>
                </a:solidFill>
                <a:latin typeface="Arial"/>
                <a:cs typeface="Arial"/>
              </a:rPr>
              <a:t>analysis</a:t>
            </a:r>
            <a:r>
              <a:rPr sz="2700" spc="-6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provides</a:t>
            </a:r>
            <a:r>
              <a:rPr sz="2700" spc="-8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E0E0A"/>
                </a:solidFill>
                <a:latin typeface="Arial"/>
                <a:cs typeface="Arial"/>
              </a:rPr>
              <a:t>a</a:t>
            </a:r>
            <a:r>
              <a:rPr sz="2700" spc="-6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vital</a:t>
            </a:r>
            <a:r>
              <a:rPr sz="2700" spc="-6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E0E0A"/>
                </a:solidFill>
                <a:latin typeface="Arial"/>
                <a:cs typeface="Arial"/>
              </a:rPr>
              <a:t>baseline</a:t>
            </a:r>
            <a:r>
              <a:rPr sz="2700" spc="-4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45" dirty="0">
                <a:solidFill>
                  <a:srgbClr val="0E0E0A"/>
                </a:solidFill>
                <a:latin typeface="Arial"/>
                <a:cs typeface="Arial"/>
              </a:rPr>
              <a:t>for</a:t>
            </a:r>
            <a:endParaRPr sz="27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80"/>
              </a:spcBef>
            </a:pP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understanding</a:t>
            </a:r>
            <a:r>
              <a:rPr sz="2700" spc="5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urban</a:t>
            </a:r>
            <a:r>
              <a:rPr sz="2700" spc="-5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crime.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40522" y="4468481"/>
            <a:ext cx="7432040" cy="171577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85" dirty="0">
                <a:solidFill>
                  <a:srgbClr val="0E0E0A"/>
                </a:solidFill>
                <a:latin typeface="Arial"/>
                <a:cs typeface="Arial"/>
              </a:rPr>
              <a:t>Future</a:t>
            </a:r>
            <a:r>
              <a:rPr sz="2700" spc="-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60" dirty="0">
                <a:solidFill>
                  <a:srgbClr val="0E0E0A"/>
                </a:solidFill>
                <a:latin typeface="Arial"/>
                <a:cs typeface="Arial"/>
              </a:rPr>
              <a:t>research</a:t>
            </a:r>
            <a:r>
              <a:rPr sz="2700" spc="13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0" dirty="0">
                <a:solidFill>
                  <a:srgbClr val="0E0E0A"/>
                </a:solidFill>
                <a:latin typeface="Arial"/>
                <a:cs typeface="Arial"/>
              </a:rPr>
              <a:t>must</a:t>
            </a:r>
            <a:r>
              <a:rPr sz="2700" spc="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05" dirty="0">
                <a:solidFill>
                  <a:srgbClr val="0E0E0A"/>
                </a:solidFill>
                <a:latin typeface="Arial"/>
                <a:cs typeface="Arial"/>
              </a:rPr>
              <a:t>explore</a:t>
            </a:r>
            <a:r>
              <a:rPr sz="2700" spc="-7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how</a:t>
            </a:r>
            <a:r>
              <a:rPr sz="2700" spc="10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E0E0A"/>
                </a:solidFill>
                <a:latin typeface="Arial"/>
                <a:cs typeface="Arial"/>
              </a:rPr>
              <a:t>these</a:t>
            </a:r>
            <a:endParaRPr sz="2700">
              <a:latin typeface="Arial"/>
              <a:cs typeface="Arial"/>
            </a:endParaRPr>
          </a:p>
          <a:p>
            <a:pPr marL="17780" marR="5080" indent="-1905">
              <a:lnSpc>
                <a:spcPct val="102400"/>
              </a:lnSpc>
              <a:spcBef>
                <a:spcPts val="100"/>
              </a:spcBef>
            </a:pP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dynamics</a:t>
            </a:r>
            <a:r>
              <a:rPr sz="2700" spc="-8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are</a:t>
            </a:r>
            <a:r>
              <a:rPr sz="2700" spc="-204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changing</a:t>
            </a:r>
            <a:r>
              <a:rPr sz="2700" spc="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in</a:t>
            </a:r>
            <a:r>
              <a:rPr sz="2700" spc="-3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the</a:t>
            </a:r>
            <a:r>
              <a:rPr sz="2700" spc="7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05" dirty="0">
                <a:solidFill>
                  <a:srgbClr val="0E0E0A"/>
                </a:solidFill>
                <a:latin typeface="Arial"/>
                <a:cs typeface="Arial"/>
              </a:rPr>
              <a:t>post-</a:t>
            </a:r>
            <a:r>
              <a:rPr sz="2700" spc="120" dirty="0">
                <a:solidFill>
                  <a:srgbClr val="0E0E0A"/>
                </a:solidFill>
                <a:latin typeface="Arial"/>
                <a:cs typeface="Arial"/>
              </a:rPr>
              <a:t>pandemic </a:t>
            </a:r>
            <a:r>
              <a:rPr sz="2700" spc="85" dirty="0">
                <a:solidFill>
                  <a:srgbClr val="0E0E0A"/>
                </a:solidFill>
                <a:latin typeface="Arial"/>
                <a:cs typeface="Arial"/>
              </a:rPr>
              <a:t>landscape,</a:t>
            </a:r>
            <a:r>
              <a:rPr sz="2700" spc="7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75" dirty="0">
                <a:solidFill>
                  <a:srgbClr val="0E0E0A"/>
                </a:solidFill>
                <a:latin typeface="Arial"/>
                <a:cs typeface="Arial"/>
              </a:rPr>
              <a:t>with</a:t>
            </a:r>
            <a:r>
              <a:rPr sz="2700" spc="-3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4" dirty="0">
                <a:solidFill>
                  <a:srgbClr val="1C1C1A"/>
                </a:solidFill>
                <a:latin typeface="Arial"/>
                <a:cs typeface="Arial"/>
              </a:rPr>
              <a:t>shifts</a:t>
            </a:r>
            <a:r>
              <a:rPr sz="2700" spc="-13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in</a:t>
            </a:r>
            <a:r>
              <a:rPr sz="2700" spc="3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remote</a:t>
            </a:r>
            <a:r>
              <a:rPr sz="2700" spc="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work,</a:t>
            </a:r>
            <a:r>
              <a:rPr sz="2700" spc="-3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20" dirty="0">
                <a:solidFill>
                  <a:srgbClr val="0E0E0A"/>
                </a:solidFill>
                <a:latin typeface="Arial"/>
                <a:cs typeface="Arial"/>
              </a:rPr>
              <a:t>urban </a:t>
            </a: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migration,</a:t>
            </a:r>
            <a:r>
              <a:rPr sz="2700" spc="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and</a:t>
            </a:r>
            <a:r>
              <a:rPr sz="2700" spc="-7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new</a:t>
            </a:r>
            <a:r>
              <a:rPr sz="2700" spc="6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mobility</a:t>
            </a:r>
            <a:r>
              <a:rPr sz="2700" spc="2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0E0E0A"/>
                </a:solidFill>
                <a:latin typeface="Arial"/>
                <a:cs typeface="Arial"/>
              </a:rPr>
              <a:t>patterns.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33288" y="6600428"/>
            <a:ext cx="8376920" cy="254858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2225" marR="1422400" indent="-3175">
              <a:lnSpc>
                <a:spcPct val="102400"/>
              </a:lnSpc>
              <a:spcBef>
                <a:spcPts val="35"/>
              </a:spcBef>
            </a:pPr>
            <a:r>
              <a:rPr sz="2700" dirty="0">
                <a:solidFill>
                  <a:srgbClr val="0E0E0A"/>
                </a:solidFill>
                <a:latin typeface="Arial"/>
                <a:cs typeface="Arial"/>
              </a:rPr>
              <a:t>For</a:t>
            </a:r>
            <a:r>
              <a:rPr sz="2700" spc="-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urban</a:t>
            </a:r>
            <a:r>
              <a:rPr sz="2700" spc="-2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E0E0A"/>
                </a:solidFill>
                <a:latin typeface="Arial"/>
                <a:cs typeface="Arial"/>
              </a:rPr>
              <a:t>planners,</a:t>
            </a:r>
            <a:r>
              <a:rPr sz="2700" spc="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E0E0A"/>
                </a:solidFill>
                <a:latin typeface="Arial"/>
                <a:cs typeface="Arial"/>
              </a:rPr>
              <a:t>policymakers,</a:t>
            </a:r>
            <a:r>
              <a:rPr sz="2700" spc="6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4" dirty="0">
                <a:solidFill>
                  <a:srgbClr val="0E0E0A"/>
                </a:solidFill>
                <a:latin typeface="Arial"/>
                <a:cs typeface="Arial"/>
              </a:rPr>
              <a:t>and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60" dirty="0">
                <a:solidFill>
                  <a:srgbClr val="0E0E0A"/>
                </a:solidFill>
                <a:latin typeface="Arial"/>
                <a:cs typeface="Arial"/>
              </a:rPr>
              <a:t>law </a:t>
            </a:r>
            <a:r>
              <a:rPr sz="2700" spc="114" dirty="0">
                <a:solidFill>
                  <a:srgbClr val="0E0E0A"/>
                </a:solidFill>
                <a:latin typeface="Arial"/>
                <a:cs typeface="Arial"/>
              </a:rPr>
              <a:t>enforcement</a:t>
            </a:r>
            <a:r>
              <a:rPr sz="2700" spc="2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0E0E0A"/>
                </a:solidFill>
                <a:latin typeface="Arial"/>
                <a:cs typeface="Arial"/>
              </a:rPr>
              <a:t>agencies,</a:t>
            </a:r>
            <a:r>
              <a:rPr sz="2700" spc="4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understanding</a:t>
            </a:r>
            <a:r>
              <a:rPr sz="2700" spc="8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E0E0A"/>
                </a:solidFill>
                <a:latin typeface="Arial"/>
                <a:cs typeface="Arial"/>
              </a:rPr>
              <a:t>the</a:t>
            </a:r>
            <a:endParaRPr sz="2700" dirty="0">
              <a:latin typeface="Arial"/>
              <a:cs typeface="Arial"/>
            </a:endParaRPr>
          </a:p>
          <a:p>
            <a:pPr marL="19050" marR="786765" indent="-6985">
              <a:lnSpc>
                <a:spcPct val="103400"/>
              </a:lnSpc>
              <a:spcBef>
                <a:spcPts val="65"/>
              </a:spcBef>
            </a:pPr>
            <a:r>
              <a:rPr sz="2700" spc="140" dirty="0">
                <a:solidFill>
                  <a:srgbClr val="0E0E0A"/>
                </a:solidFill>
                <a:latin typeface="Arial"/>
                <a:cs typeface="Arial"/>
              </a:rPr>
              <a:t>intricate</a:t>
            </a:r>
            <a:r>
              <a:rPr sz="270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E0E0A"/>
                </a:solidFill>
                <a:latin typeface="Arial"/>
                <a:cs typeface="Arial"/>
              </a:rPr>
              <a:t>relationship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between</a:t>
            </a:r>
            <a:r>
              <a:rPr sz="2700" spc="2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E0E0A"/>
                </a:solidFill>
                <a:latin typeface="Arial"/>
                <a:cs typeface="Arial"/>
              </a:rPr>
              <a:t>a</a:t>
            </a:r>
            <a:r>
              <a:rPr sz="2700" spc="-14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5" dirty="0">
                <a:solidFill>
                  <a:srgbClr val="0E0E0A"/>
                </a:solidFill>
                <a:latin typeface="Arial"/>
                <a:cs typeface="Arial"/>
              </a:rPr>
              <a:t>city's</a:t>
            </a:r>
            <a:r>
              <a:rPr sz="2700" spc="-14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E0E0A"/>
                </a:solidFill>
                <a:latin typeface="Arial"/>
                <a:cs typeface="Arial"/>
              </a:rPr>
              <a:t>physical </a:t>
            </a:r>
            <a:r>
              <a:rPr sz="2700" spc="175" dirty="0">
                <a:solidFill>
                  <a:srgbClr val="0E0E0A"/>
                </a:solidFill>
                <a:latin typeface="Arial"/>
                <a:cs typeface="Arial"/>
              </a:rPr>
              <a:t>form</a:t>
            </a:r>
            <a:r>
              <a:rPr sz="2700" spc="-2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and</a:t>
            </a:r>
            <a:r>
              <a:rPr sz="2700" spc="-8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E0E0A"/>
                </a:solidFill>
                <a:latin typeface="Arial"/>
                <a:cs typeface="Arial"/>
              </a:rPr>
              <a:t>its</a:t>
            </a:r>
            <a:r>
              <a:rPr sz="2700" spc="-2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1C1C1A"/>
                </a:solidFill>
                <a:latin typeface="Arial"/>
                <a:cs typeface="Arial"/>
              </a:rPr>
              <a:t>social</a:t>
            </a:r>
            <a:r>
              <a:rPr sz="2700" spc="-140" dirty="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outcomes</a:t>
            </a:r>
            <a:r>
              <a:rPr sz="2700" spc="-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E0E0A"/>
                </a:solidFill>
                <a:latin typeface="Arial"/>
                <a:cs typeface="Arial"/>
              </a:rPr>
              <a:t>is</a:t>
            </a:r>
            <a:r>
              <a:rPr sz="2700" spc="-1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65" dirty="0">
                <a:solidFill>
                  <a:srgbClr val="0E0E0A"/>
                </a:solidFill>
                <a:latin typeface="Arial"/>
                <a:cs typeface="Arial"/>
              </a:rPr>
              <a:t>essential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35" dirty="0">
                <a:solidFill>
                  <a:srgbClr val="0E0E0A"/>
                </a:solidFill>
                <a:latin typeface="Arial"/>
                <a:cs typeface="Arial"/>
              </a:rPr>
              <a:t>for </a:t>
            </a:r>
            <a:r>
              <a:rPr sz="2700" spc="145" dirty="0">
                <a:solidFill>
                  <a:srgbClr val="0E0E0A"/>
                </a:solidFill>
                <a:latin typeface="Arial"/>
                <a:cs typeface="Arial"/>
              </a:rPr>
              <a:t>building</a:t>
            </a:r>
            <a:r>
              <a:rPr sz="2700" spc="5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E0E0A"/>
                </a:solidFill>
                <a:latin typeface="Arial"/>
                <a:cs typeface="Arial"/>
              </a:rPr>
              <a:t>safer,</a:t>
            </a:r>
            <a:r>
              <a:rPr sz="2700" spc="1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65" dirty="0">
                <a:solidFill>
                  <a:srgbClr val="0E0E0A"/>
                </a:solidFill>
                <a:latin typeface="Arial"/>
                <a:cs typeface="Arial"/>
              </a:rPr>
              <a:t>more</a:t>
            </a:r>
            <a:r>
              <a:rPr sz="2700" spc="-7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14" dirty="0">
                <a:solidFill>
                  <a:srgbClr val="0E0E0A"/>
                </a:solidFill>
                <a:latin typeface="Arial"/>
                <a:cs typeface="Arial"/>
              </a:rPr>
              <a:t>equitable</a:t>
            </a:r>
            <a:r>
              <a:rPr sz="2700" spc="20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cities</a:t>
            </a:r>
            <a:r>
              <a:rPr sz="2700" spc="-9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5" dirty="0">
                <a:solidFill>
                  <a:srgbClr val="0E0E0A"/>
                </a:solidFill>
                <a:latin typeface="Arial"/>
                <a:cs typeface="Arial"/>
              </a:rPr>
              <a:t>for</a:t>
            </a:r>
            <a:r>
              <a:rPr sz="2700" spc="-5" dirty="0">
                <a:solidFill>
                  <a:srgbClr val="0E0E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E0E0A"/>
                </a:solidFill>
                <a:latin typeface="Arial"/>
                <a:cs typeface="Arial"/>
              </a:rPr>
              <a:t>the </a:t>
            </a:r>
            <a:r>
              <a:rPr sz="2700" spc="125" dirty="0">
                <a:solidFill>
                  <a:srgbClr val="0E0E0A"/>
                </a:solidFill>
                <a:latin typeface="Arial"/>
                <a:cs typeface="Arial"/>
              </a:rPr>
              <a:t>future.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1706</Words>
  <Application>Microsoft Office PowerPoint</Application>
  <PresentationFormat>Custom</PresentationFormat>
  <Paragraphs>286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Times New Roman</vt:lpstr>
      <vt:lpstr>Office Theme</vt:lpstr>
      <vt:lpstr>The Los Angeles Paradox</vt:lpstr>
      <vt:lpstr>An Investigation into Two Archetypes of the American City</vt:lpstr>
      <vt:lpstr>Forging the Tools for a Fair Comparison</vt:lpstr>
      <vt:lpstr>PowerPoint Presentation</vt:lpstr>
      <vt:lpstr>A Deeper Look at the Temporal Evidence</vt:lpstr>
      <vt:lpstr>PowerPoint Presentation</vt:lpstr>
      <vt:lpstr>PowerPoint Presentation</vt:lpstr>
      <vt:lpstr>Deconstructing the Geographic Evidence</vt:lpstr>
      <vt:lpstr>The Verdict: The 'Density Effect' is the Primary Driver of Arrest Patterns</vt:lpstr>
      <vt:lpstr>How the Evidence Aligns with Criminological Theory</vt:lpstr>
      <vt:lpstr>Policing Strategies Must Be Tailored to a City's Urban Geography</vt:lpstr>
      <vt:lpstr>Comparing Crime Rates Without Accounting for Density is Fundamentally Misleading</vt:lpstr>
      <vt:lpstr>As Cities Evolve, the Link Between Urban Design and Public Safety Becomes Ever More Critical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Omen</dc:creator>
  <cp:lastModifiedBy>Mark Kuriy</cp:lastModifiedBy>
  <cp:revision>1</cp:revision>
  <dcterms:created xsi:type="dcterms:W3CDTF">2025-12-06T16:49:29Z</dcterms:created>
  <dcterms:modified xsi:type="dcterms:W3CDTF">2025-12-06T17:08:03Z</dcterms:modified>
</cp:coreProperties>
</file>